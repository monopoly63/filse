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96" r:id="rId1"/>
  </p:sldMasterIdLst>
  <p:notesMasterIdLst>
    <p:notesMasterId r:id="rId86"/>
  </p:notesMasterIdLst>
  <p:sldIdLst>
    <p:sldId id="2140756582" r:id="rId2"/>
    <p:sldId id="2140756586" r:id="rId3"/>
    <p:sldId id="2140756587" r:id="rId4"/>
    <p:sldId id="2140756686" r:id="rId5"/>
    <p:sldId id="2140756593" r:id="rId6"/>
    <p:sldId id="2140756594" r:id="rId7"/>
    <p:sldId id="2140756591" r:id="rId8"/>
    <p:sldId id="2140756606" r:id="rId9"/>
    <p:sldId id="2140756605" r:id="rId10"/>
    <p:sldId id="2140756595" r:id="rId11"/>
    <p:sldId id="2140756596" r:id="rId12"/>
    <p:sldId id="2140756597" r:id="rId13"/>
    <p:sldId id="2140756598" r:id="rId14"/>
    <p:sldId id="2140756599" r:id="rId15"/>
    <p:sldId id="2140756601" r:id="rId16"/>
    <p:sldId id="2140756602" r:id="rId17"/>
    <p:sldId id="2140756603" r:id="rId18"/>
    <p:sldId id="2140756607" r:id="rId19"/>
    <p:sldId id="2140756609" r:id="rId20"/>
    <p:sldId id="2140756610" r:id="rId21"/>
    <p:sldId id="2140756613" r:id="rId22"/>
    <p:sldId id="2140756614" r:id="rId23"/>
    <p:sldId id="2140756616" r:id="rId24"/>
    <p:sldId id="2140756617" r:id="rId25"/>
    <p:sldId id="2140756618" r:id="rId26"/>
    <p:sldId id="2140756619" r:id="rId27"/>
    <p:sldId id="2140756620" r:id="rId28"/>
    <p:sldId id="2140756615" r:id="rId29"/>
    <p:sldId id="2140756621" r:id="rId30"/>
    <p:sldId id="2140756622" r:id="rId31"/>
    <p:sldId id="2140756624" r:id="rId32"/>
    <p:sldId id="2140756625" r:id="rId33"/>
    <p:sldId id="2140756626" r:id="rId34"/>
    <p:sldId id="2140756627" r:id="rId35"/>
    <p:sldId id="2140756628" r:id="rId36"/>
    <p:sldId id="2140756630" r:id="rId37"/>
    <p:sldId id="2140756631" r:id="rId38"/>
    <p:sldId id="2140756632" r:id="rId39"/>
    <p:sldId id="2140756633" r:id="rId40"/>
    <p:sldId id="2140756640" r:id="rId41"/>
    <p:sldId id="2140756641" r:id="rId42"/>
    <p:sldId id="2140756642" r:id="rId43"/>
    <p:sldId id="2140756634" r:id="rId44"/>
    <p:sldId id="2140756635" r:id="rId45"/>
    <p:sldId id="2140756636" r:id="rId46"/>
    <p:sldId id="2140756645" r:id="rId47"/>
    <p:sldId id="2140756646" r:id="rId48"/>
    <p:sldId id="2140756647" r:id="rId49"/>
    <p:sldId id="2140756648" r:id="rId50"/>
    <p:sldId id="2140756649" r:id="rId51"/>
    <p:sldId id="2140756650" r:id="rId52"/>
    <p:sldId id="2140756651" r:id="rId53"/>
    <p:sldId id="2140756652" r:id="rId54"/>
    <p:sldId id="2140756653" r:id="rId55"/>
    <p:sldId id="2140756654" r:id="rId56"/>
    <p:sldId id="2140756655" r:id="rId57"/>
    <p:sldId id="2140756656" r:id="rId58"/>
    <p:sldId id="2140756657" r:id="rId59"/>
    <p:sldId id="2140756638" r:id="rId60"/>
    <p:sldId id="2140756658" r:id="rId61"/>
    <p:sldId id="2140756659" r:id="rId62"/>
    <p:sldId id="2140756660" r:id="rId63"/>
    <p:sldId id="2140756666" r:id="rId64"/>
    <p:sldId id="2140756667" r:id="rId65"/>
    <p:sldId id="2140756668" r:id="rId66"/>
    <p:sldId id="2140756669" r:id="rId67"/>
    <p:sldId id="2140756662" r:id="rId68"/>
    <p:sldId id="2140756663" r:id="rId69"/>
    <p:sldId id="2140756664" r:id="rId70"/>
    <p:sldId id="2140756670" r:id="rId71"/>
    <p:sldId id="2140756671" r:id="rId72"/>
    <p:sldId id="2140756672" r:id="rId73"/>
    <p:sldId id="2140756673" r:id="rId74"/>
    <p:sldId id="2140756674" r:id="rId75"/>
    <p:sldId id="2140756675" r:id="rId76"/>
    <p:sldId id="2140756676" r:id="rId77"/>
    <p:sldId id="2140756677" r:id="rId78"/>
    <p:sldId id="2140756678" r:id="rId79"/>
    <p:sldId id="2140756679" r:id="rId80"/>
    <p:sldId id="2140756680" r:id="rId81"/>
    <p:sldId id="2140756681" r:id="rId82"/>
    <p:sldId id="2140756682" r:id="rId83"/>
    <p:sldId id="2140756683" r:id="rId84"/>
    <p:sldId id="2140756684" r:id="rId85"/>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dulaziz Hablas" initials="AH" lastIdx="3" clrIdx="0">
    <p:extLst>
      <p:ext uri="{19B8F6BF-5375-455C-9EA6-DF929625EA0E}">
        <p15:presenceInfo xmlns:p15="http://schemas.microsoft.com/office/powerpoint/2012/main" userId="9e246af47d84ed3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A9A699"/>
    <a:srgbClr val="B3A5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004" autoAdjust="0"/>
    <p:restoredTop sz="93741" autoAdjust="0"/>
  </p:normalViewPr>
  <p:slideViewPr>
    <p:cSldViewPr snapToGrid="0">
      <p:cViewPr varScale="1">
        <p:scale>
          <a:sx n="76" d="100"/>
          <a:sy n="76" d="100"/>
        </p:scale>
        <p:origin x="163"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commentAuthors" Target="commentAuthor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1-02T21:38:41.469" idx="3">
    <p:pos x="5126" y="1689"/>
    <p:text>الشافعي لايحل نكاح كتابية من العرب  لأن العرب لم يكن لهم كتاب قبل الإسلام</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4-11-28T23:45:53.433" idx="2">
    <p:pos x="752" y="4093"/>
    <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1C649E92-9802-4CBB-8678-E6EBF49C5251}" type="datetimeFigureOut">
              <a:rPr lang="ar-SA" smtClean="0"/>
              <a:t>16/04/48</a:t>
            </a:fld>
            <a:endParaRPr lang="ar-SA"/>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3C39C682-581E-4812-943F-ED15B5B7E590}" type="slidenum">
              <a:rPr lang="ar-SA" smtClean="0"/>
              <a:t>‹#›</a:t>
            </a:fld>
            <a:endParaRPr lang="ar-SA"/>
          </a:p>
        </p:txBody>
      </p:sp>
    </p:spTree>
    <p:extLst>
      <p:ext uri="{BB962C8B-B14F-4D97-AF65-F5344CB8AC3E}">
        <p14:creationId xmlns:p14="http://schemas.microsoft.com/office/powerpoint/2010/main" val="2227362827"/>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A" dirty="0"/>
          </a:p>
        </p:txBody>
      </p:sp>
      <p:sp>
        <p:nvSpPr>
          <p:cNvPr id="4" name="عنصر نائب لرقم الشريحة 3"/>
          <p:cNvSpPr>
            <a:spLocks noGrp="1"/>
          </p:cNvSpPr>
          <p:nvPr>
            <p:ph type="sldNum" sz="quarter" idx="5"/>
          </p:nvPr>
        </p:nvSpPr>
        <p:spPr/>
        <p:txBody>
          <a:bodyPr/>
          <a:lstStyle/>
          <a:p>
            <a:fld id="{3C39C682-581E-4812-943F-ED15B5B7E590}" type="slidenum">
              <a:rPr lang="ar-SA" smtClean="0"/>
              <a:t>29</a:t>
            </a:fld>
            <a:endParaRPr lang="ar-SA"/>
          </a:p>
        </p:txBody>
      </p:sp>
    </p:spTree>
    <p:extLst>
      <p:ext uri="{BB962C8B-B14F-4D97-AF65-F5344CB8AC3E}">
        <p14:creationId xmlns:p14="http://schemas.microsoft.com/office/powerpoint/2010/main" val="3760501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A" dirty="0"/>
          </a:p>
        </p:txBody>
      </p:sp>
      <p:sp>
        <p:nvSpPr>
          <p:cNvPr id="4" name="عنصر نائب لرقم الشريحة 3"/>
          <p:cNvSpPr>
            <a:spLocks noGrp="1"/>
          </p:cNvSpPr>
          <p:nvPr>
            <p:ph type="sldNum" sz="quarter" idx="5"/>
          </p:nvPr>
        </p:nvSpPr>
        <p:spPr/>
        <p:txBody>
          <a:bodyPr/>
          <a:lstStyle/>
          <a:p>
            <a:fld id="{3C39C682-581E-4812-943F-ED15B5B7E590}" type="slidenum">
              <a:rPr lang="ar-SA" smtClean="0"/>
              <a:t>41</a:t>
            </a:fld>
            <a:endParaRPr lang="ar-SA"/>
          </a:p>
        </p:txBody>
      </p:sp>
    </p:spTree>
    <p:extLst>
      <p:ext uri="{BB962C8B-B14F-4D97-AF65-F5344CB8AC3E}">
        <p14:creationId xmlns:p14="http://schemas.microsoft.com/office/powerpoint/2010/main" val="2708737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51424-9062-75EF-2469-76FCF9042B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6DBC91-9D90-1110-1528-4B71474FD2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AFB84C-4F86-F75C-54D1-694A9EE6C992}"/>
              </a:ext>
            </a:extLst>
          </p:cNvPr>
          <p:cNvSpPr>
            <a:spLocks noGrp="1"/>
          </p:cNvSpPr>
          <p:nvPr>
            <p:ph type="dt" sz="half" idx="10"/>
          </p:nvPr>
        </p:nvSpPr>
        <p:spPr/>
        <p:txBody>
          <a:bodyPr/>
          <a:lstStyle/>
          <a:p>
            <a:fld id="{5A69E14B-AB79-4B6A-8569-8A7F169E78DF}" type="datetimeFigureOut">
              <a:rPr lang="en-US" smtClean="0"/>
              <a:t>9/28/2026</a:t>
            </a:fld>
            <a:endParaRPr lang="en-US"/>
          </a:p>
        </p:txBody>
      </p:sp>
      <p:sp>
        <p:nvSpPr>
          <p:cNvPr id="5" name="Footer Placeholder 4">
            <a:extLst>
              <a:ext uri="{FF2B5EF4-FFF2-40B4-BE49-F238E27FC236}">
                <a16:creationId xmlns:a16="http://schemas.microsoft.com/office/drawing/2014/main" id="{71FC9254-F6D1-18A9-C68A-6A4C22BEA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9628E7-6CDC-CAE9-4230-C271D8D650FA}"/>
              </a:ext>
            </a:extLst>
          </p:cNvPr>
          <p:cNvSpPr>
            <a:spLocks noGrp="1"/>
          </p:cNvSpPr>
          <p:nvPr>
            <p:ph type="sldNum" sz="quarter" idx="12"/>
          </p:nvPr>
        </p:nvSpPr>
        <p:spPr/>
        <p:txBody>
          <a:bodyPr/>
          <a:lstStyle/>
          <a:p>
            <a:fld id="{284E66CC-98B4-4CAC-ABAD-5C442D1312DC}" type="slidenum">
              <a:rPr lang="en-US" smtClean="0"/>
              <a:t>‹#›</a:t>
            </a:fld>
            <a:endParaRPr lang="en-US"/>
          </a:p>
        </p:txBody>
      </p:sp>
    </p:spTree>
    <p:extLst>
      <p:ext uri="{BB962C8B-B14F-4D97-AF65-F5344CB8AC3E}">
        <p14:creationId xmlns:p14="http://schemas.microsoft.com/office/powerpoint/2010/main" val="3768746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A101D-B7DC-97C0-64E4-E1A22375AF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BE549F-8913-3699-F12C-5852EBF2DD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2ECDC4-476B-8CC2-6C3C-954F11895127}"/>
              </a:ext>
            </a:extLst>
          </p:cNvPr>
          <p:cNvSpPr>
            <a:spLocks noGrp="1"/>
          </p:cNvSpPr>
          <p:nvPr>
            <p:ph type="dt" sz="half" idx="10"/>
          </p:nvPr>
        </p:nvSpPr>
        <p:spPr/>
        <p:txBody>
          <a:bodyPr/>
          <a:lstStyle/>
          <a:p>
            <a:fld id="{5A69E14B-AB79-4B6A-8569-8A7F169E78DF}" type="datetimeFigureOut">
              <a:rPr lang="en-US" smtClean="0"/>
              <a:t>9/28/2026</a:t>
            </a:fld>
            <a:endParaRPr lang="en-US"/>
          </a:p>
        </p:txBody>
      </p:sp>
      <p:sp>
        <p:nvSpPr>
          <p:cNvPr id="5" name="Footer Placeholder 4">
            <a:extLst>
              <a:ext uri="{FF2B5EF4-FFF2-40B4-BE49-F238E27FC236}">
                <a16:creationId xmlns:a16="http://schemas.microsoft.com/office/drawing/2014/main" id="{76642B4B-D98B-6EC1-C3F4-F64E2EABBC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E0F8E6-15F9-EED2-CD66-ACFE079778BC}"/>
              </a:ext>
            </a:extLst>
          </p:cNvPr>
          <p:cNvSpPr>
            <a:spLocks noGrp="1"/>
          </p:cNvSpPr>
          <p:nvPr>
            <p:ph type="sldNum" sz="quarter" idx="12"/>
          </p:nvPr>
        </p:nvSpPr>
        <p:spPr/>
        <p:txBody>
          <a:bodyPr/>
          <a:lstStyle/>
          <a:p>
            <a:fld id="{284E66CC-98B4-4CAC-ABAD-5C442D1312DC}" type="slidenum">
              <a:rPr lang="en-US" smtClean="0"/>
              <a:t>‹#›</a:t>
            </a:fld>
            <a:endParaRPr lang="en-US"/>
          </a:p>
        </p:txBody>
      </p:sp>
    </p:spTree>
    <p:extLst>
      <p:ext uri="{BB962C8B-B14F-4D97-AF65-F5344CB8AC3E}">
        <p14:creationId xmlns:p14="http://schemas.microsoft.com/office/powerpoint/2010/main" val="4137924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5A158-1B23-C455-5E58-618FC3D5E1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03E078-0F3E-A514-060D-86CBEC42CF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622EE9-7A08-E3BA-81BF-820F6048028F}"/>
              </a:ext>
            </a:extLst>
          </p:cNvPr>
          <p:cNvSpPr>
            <a:spLocks noGrp="1"/>
          </p:cNvSpPr>
          <p:nvPr>
            <p:ph type="dt" sz="half" idx="10"/>
          </p:nvPr>
        </p:nvSpPr>
        <p:spPr/>
        <p:txBody>
          <a:bodyPr/>
          <a:lstStyle/>
          <a:p>
            <a:fld id="{5A69E14B-AB79-4B6A-8569-8A7F169E78DF}" type="datetimeFigureOut">
              <a:rPr lang="en-US" smtClean="0"/>
              <a:t>9/28/2026</a:t>
            </a:fld>
            <a:endParaRPr lang="en-US"/>
          </a:p>
        </p:txBody>
      </p:sp>
      <p:sp>
        <p:nvSpPr>
          <p:cNvPr id="5" name="Footer Placeholder 4">
            <a:extLst>
              <a:ext uri="{FF2B5EF4-FFF2-40B4-BE49-F238E27FC236}">
                <a16:creationId xmlns:a16="http://schemas.microsoft.com/office/drawing/2014/main" id="{DE023F9D-45DD-B8EF-EDF3-E8CC98A815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CA2AB5-4BC8-D028-0C71-9307AD781430}"/>
              </a:ext>
            </a:extLst>
          </p:cNvPr>
          <p:cNvSpPr>
            <a:spLocks noGrp="1"/>
          </p:cNvSpPr>
          <p:nvPr>
            <p:ph type="sldNum" sz="quarter" idx="12"/>
          </p:nvPr>
        </p:nvSpPr>
        <p:spPr/>
        <p:txBody>
          <a:bodyPr/>
          <a:lstStyle/>
          <a:p>
            <a:fld id="{284E66CC-98B4-4CAC-ABAD-5C442D1312DC}" type="slidenum">
              <a:rPr lang="en-US" smtClean="0"/>
              <a:t>‹#›</a:t>
            </a:fld>
            <a:endParaRPr lang="en-US"/>
          </a:p>
        </p:txBody>
      </p:sp>
    </p:spTree>
    <p:extLst>
      <p:ext uri="{BB962C8B-B14F-4D97-AF65-F5344CB8AC3E}">
        <p14:creationId xmlns:p14="http://schemas.microsoft.com/office/powerpoint/2010/main" val="2187582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7A5D0-05E0-C9C7-4D17-CD14B866BC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8824D6-189D-743D-3D90-47B1AED6B9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99B4E0-E518-16E8-3973-BB7C76B59C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54B4C5-B8C2-7CCC-B94C-840EBD1A3B6D}"/>
              </a:ext>
            </a:extLst>
          </p:cNvPr>
          <p:cNvSpPr>
            <a:spLocks noGrp="1"/>
          </p:cNvSpPr>
          <p:nvPr>
            <p:ph type="dt" sz="half" idx="10"/>
          </p:nvPr>
        </p:nvSpPr>
        <p:spPr/>
        <p:txBody>
          <a:bodyPr/>
          <a:lstStyle/>
          <a:p>
            <a:fld id="{5A69E14B-AB79-4B6A-8569-8A7F169E78DF}" type="datetimeFigureOut">
              <a:rPr lang="en-US" smtClean="0"/>
              <a:t>9/28/2026</a:t>
            </a:fld>
            <a:endParaRPr lang="en-US"/>
          </a:p>
        </p:txBody>
      </p:sp>
      <p:sp>
        <p:nvSpPr>
          <p:cNvPr id="6" name="Footer Placeholder 5">
            <a:extLst>
              <a:ext uri="{FF2B5EF4-FFF2-40B4-BE49-F238E27FC236}">
                <a16:creationId xmlns:a16="http://schemas.microsoft.com/office/drawing/2014/main" id="{E4115FDE-6357-C76B-3F4D-697F7C46BF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0EE187-74FF-ED08-F5F1-E7350FE30BCE}"/>
              </a:ext>
            </a:extLst>
          </p:cNvPr>
          <p:cNvSpPr>
            <a:spLocks noGrp="1"/>
          </p:cNvSpPr>
          <p:nvPr>
            <p:ph type="sldNum" sz="quarter" idx="12"/>
          </p:nvPr>
        </p:nvSpPr>
        <p:spPr/>
        <p:txBody>
          <a:bodyPr/>
          <a:lstStyle/>
          <a:p>
            <a:fld id="{284E66CC-98B4-4CAC-ABAD-5C442D1312DC}" type="slidenum">
              <a:rPr lang="en-US" smtClean="0"/>
              <a:t>‹#›</a:t>
            </a:fld>
            <a:endParaRPr lang="en-US"/>
          </a:p>
        </p:txBody>
      </p:sp>
    </p:spTree>
    <p:extLst>
      <p:ext uri="{BB962C8B-B14F-4D97-AF65-F5344CB8AC3E}">
        <p14:creationId xmlns:p14="http://schemas.microsoft.com/office/powerpoint/2010/main" val="3270484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A3BE9-C7C0-68F1-7D4F-596EA461229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5845F1-E418-3519-03AC-6509FD0D42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2E0EBA-94AC-640D-7291-A181457DFC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6441DB-BD95-4311-8E47-2FA5328BD6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12DEF5-DE95-C351-03A3-B204B2E958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653FD6-4FF4-28D8-2FD1-B21CE31DB294}"/>
              </a:ext>
            </a:extLst>
          </p:cNvPr>
          <p:cNvSpPr>
            <a:spLocks noGrp="1"/>
          </p:cNvSpPr>
          <p:nvPr>
            <p:ph type="dt" sz="half" idx="10"/>
          </p:nvPr>
        </p:nvSpPr>
        <p:spPr/>
        <p:txBody>
          <a:bodyPr/>
          <a:lstStyle/>
          <a:p>
            <a:fld id="{5A69E14B-AB79-4B6A-8569-8A7F169E78DF}" type="datetimeFigureOut">
              <a:rPr lang="en-US" smtClean="0"/>
              <a:t>9/28/2026</a:t>
            </a:fld>
            <a:endParaRPr lang="en-US"/>
          </a:p>
        </p:txBody>
      </p:sp>
      <p:sp>
        <p:nvSpPr>
          <p:cNvPr id="8" name="Footer Placeholder 7">
            <a:extLst>
              <a:ext uri="{FF2B5EF4-FFF2-40B4-BE49-F238E27FC236}">
                <a16:creationId xmlns:a16="http://schemas.microsoft.com/office/drawing/2014/main" id="{19B954D3-C44C-1E2D-CBDE-6D010924DD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2ACBD7-5C19-C9CD-0161-370F25A6332C}"/>
              </a:ext>
            </a:extLst>
          </p:cNvPr>
          <p:cNvSpPr>
            <a:spLocks noGrp="1"/>
          </p:cNvSpPr>
          <p:nvPr>
            <p:ph type="sldNum" sz="quarter" idx="12"/>
          </p:nvPr>
        </p:nvSpPr>
        <p:spPr/>
        <p:txBody>
          <a:bodyPr/>
          <a:lstStyle/>
          <a:p>
            <a:fld id="{284E66CC-98B4-4CAC-ABAD-5C442D1312DC}" type="slidenum">
              <a:rPr lang="en-US" smtClean="0"/>
              <a:t>‹#›</a:t>
            </a:fld>
            <a:endParaRPr lang="en-US"/>
          </a:p>
        </p:txBody>
      </p:sp>
    </p:spTree>
    <p:extLst>
      <p:ext uri="{BB962C8B-B14F-4D97-AF65-F5344CB8AC3E}">
        <p14:creationId xmlns:p14="http://schemas.microsoft.com/office/powerpoint/2010/main" val="3176813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F77DA-1DCF-02F1-4589-7A8062B610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74F371-1046-1EFB-81AE-68FDE092F6B7}"/>
              </a:ext>
            </a:extLst>
          </p:cNvPr>
          <p:cNvSpPr>
            <a:spLocks noGrp="1"/>
          </p:cNvSpPr>
          <p:nvPr>
            <p:ph type="dt" sz="half" idx="10"/>
          </p:nvPr>
        </p:nvSpPr>
        <p:spPr/>
        <p:txBody>
          <a:bodyPr/>
          <a:lstStyle/>
          <a:p>
            <a:fld id="{5A69E14B-AB79-4B6A-8569-8A7F169E78DF}" type="datetimeFigureOut">
              <a:rPr lang="en-US" smtClean="0"/>
              <a:t>9/28/2026</a:t>
            </a:fld>
            <a:endParaRPr lang="en-US"/>
          </a:p>
        </p:txBody>
      </p:sp>
      <p:sp>
        <p:nvSpPr>
          <p:cNvPr id="4" name="Footer Placeholder 3">
            <a:extLst>
              <a:ext uri="{FF2B5EF4-FFF2-40B4-BE49-F238E27FC236}">
                <a16:creationId xmlns:a16="http://schemas.microsoft.com/office/drawing/2014/main" id="{BCE4FDFE-4FD1-69BF-511A-8EBB3DC04E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C358B4-2516-D76C-2A6E-784B5FAB1677}"/>
              </a:ext>
            </a:extLst>
          </p:cNvPr>
          <p:cNvSpPr>
            <a:spLocks noGrp="1"/>
          </p:cNvSpPr>
          <p:nvPr>
            <p:ph type="sldNum" sz="quarter" idx="12"/>
          </p:nvPr>
        </p:nvSpPr>
        <p:spPr/>
        <p:txBody>
          <a:bodyPr/>
          <a:lstStyle/>
          <a:p>
            <a:fld id="{284E66CC-98B4-4CAC-ABAD-5C442D1312DC}" type="slidenum">
              <a:rPr lang="en-US" smtClean="0"/>
              <a:t>‹#›</a:t>
            </a:fld>
            <a:endParaRPr lang="en-US"/>
          </a:p>
        </p:txBody>
      </p:sp>
    </p:spTree>
    <p:extLst>
      <p:ext uri="{BB962C8B-B14F-4D97-AF65-F5344CB8AC3E}">
        <p14:creationId xmlns:p14="http://schemas.microsoft.com/office/powerpoint/2010/main" val="743250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5A0777-0D0B-6575-8B42-447C19168D7E}"/>
              </a:ext>
            </a:extLst>
          </p:cNvPr>
          <p:cNvSpPr>
            <a:spLocks noGrp="1"/>
          </p:cNvSpPr>
          <p:nvPr>
            <p:ph type="dt" sz="half" idx="10"/>
          </p:nvPr>
        </p:nvSpPr>
        <p:spPr/>
        <p:txBody>
          <a:bodyPr/>
          <a:lstStyle/>
          <a:p>
            <a:fld id="{5A69E14B-AB79-4B6A-8569-8A7F169E78DF}" type="datetimeFigureOut">
              <a:rPr lang="en-US" smtClean="0"/>
              <a:t>9/28/2026</a:t>
            </a:fld>
            <a:endParaRPr lang="en-US"/>
          </a:p>
        </p:txBody>
      </p:sp>
      <p:sp>
        <p:nvSpPr>
          <p:cNvPr id="3" name="Footer Placeholder 2">
            <a:extLst>
              <a:ext uri="{FF2B5EF4-FFF2-40B4-BE49-F238E27FC236}">
                <a16:creationId xmlns:a16="http://schemas.microsoft.com/office/drawing/2014/main" id="{1886D2B7-80E2-A686-BD63-E02B3D1AFB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37DAAD-6E62-708A-F6C5-90423995ED4E}"/>
              </a:ext>
            </a:extLst>
          </p:cNvPr>
          <p:cNvSpPr>
            <a:spLocks noGrp="1"/>
          </p:cNvSpPr>
          <p:nvPr>
            <p:ph type="sldNum" sz="quarter" idx="12"/>
          </p:nvPr>
        </p:nvSpPr>
        <p:spPr/>
        <p:txBody>
          <a:bodyPr/>
          <a:lstStyle/>
          <a:p>
            <a:fld id="{284E66CC-98B4-4CAC-ABAD-5C442D1312DC}" type="slidenum">
              <a:rPr lang="en-US" smtClean="0"/>
              <a:t>‹#›</a:t>
            </a:fld>
            <a:endParaRPr lang="en-US"/>
          </a:p>
        </p:txBody>
      </p:sp>
    </p:spTree>
    <p:extLst>
      <p:ext uri="{BB962C8B-B14F-4D97-AF65-F5344CB8AC3E}">
        <p14:creationId xmlns:p14="http://schemas.microsoft.com/office/powerpoint/2010/main" val="78257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DF44B-45F8-C493-5A41-8A7EB7309E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157AF2-5423-87EE-5D8B-29E3ED9EC8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40C38C-3EE5-CA31-3DA4-E72EA8E37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6DD851-5B00-4C40-F931-F31E8CA8A962}"/>
              </a:ext>
            </a:extLst>
          </p:cNvPr>
          <p:cNvSpPr>
            <a:spLocks noGrp="1"/>
          </p:cNvSpPr>
          <p:nvPr>
            <p:ph type="dt" sz="half" idx="10"/>
          </p:nvPr>
        </p:nvSpPr>
        <p:spPr/>
        <p:txBody>
          <a:bodyPr/>
          <a:lstStyle/>
          <a:p>
            <a:fld id="{5A69E14B-AB79-4B6A-8569-8A7F169E78DF}" type="datetimeFigureOut">
              <a:rPr lang="en-US" smtClean="0"/>
              <a:t>9/28/2026</a:t>
            </a:fld>
            <a:endParaRPr lang="en-US"/>
          </a:p>
        </p:txBody>
      </p:sp>
      <p:sp>
        <p:nvSpPr>
          <p:cNvPr id="6" name="Footer Placeholder 5">
            <a:extLst>
              <a:ext uri="{FF2B5EF4-FFF2-40B4-BE49-F238E27FC236}">
                <a16:creationId xmlns:a16="http://schemas.microsoft.com/office/drawing/2014/main" id="{706575EF-C8D9-B2C6-2FE3-30688C15F0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59C5DF-7A66-8D25-3DFC-0E53AD2489FA}"/>
              </a:ext>
            </a:extLst>
          </p:cNvPr>
          <p:cNvSpPr>
            <a:spLocks noGrp="1"/>
          </p:cNvSpPr>
          <p:nvPr>
            <p:ph type="sldNum" sz="quarter" idx="12"/>
          </p:nvPr>
        </p:nvSpPr>
        <p:spPr/>
        <p:txBody>
          <a:bodyPr/>
          <a:lstStyle/>
          <a:p>
            <a:fld id="{284E66CC-98B4-4CAC-ABAD-5C442D1312DC}" type="slidenum">
              <a:rPr lang="en-US" smtClean="0"/>
              <a:t>‹#›</a:t>
            </a:fld>
            <a:endParaRPr lang="en-US"/>
          </a:p>
        </p:txBody>
      </p:sp>
    </p:spTree>
    <p:extLst>
      <p:ext uri="{BB962C8B-B14F-4D97-AF65-F5344CB8AC3E}">
        <p14:creationId xmlns:p14="http://schemas.microsoft.com/office/powerpoint/2010/main" val="2564621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685B7-CB58-2DEA-9AAE-50938D8B85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C4078F-7B4B-D480-E785-DD3DC3B425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656459-E6D7-0594-9C3B-1084A86187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C6BFE7-9B96-D982-C02C-4579ABC9A4EF}"/>
              </a:ext>
            </a:extLst>
          </p:cNvPr>
          <p:cNvSpPr>
            <a:spLocks noGrp="1"/>
          </p:cNvSpPr>
          <p:nvPr>
            <p:ph type="dt" sz="half" idx="10"/>
          </p:nvPr>
        </p:nvSpPr>
        <p:spPr/>
        <p:txBody>
          <a:bodyPr/>
          <a:lstStyle/>
          <a:p>
            <a:fld id="{5A69E14B-AB79-4B6A-8569-8A7F169E78DF}" type="datetimeFigureOut">
              <a:rPr lang="en-US" smtClean="0"/>
              <a:t>9/28/2026</a:t>
            </a:fld>
            <a:endParaRPr lang="en-US"/>
          </a:p>
        </p:txBody>
      </p:sp>
      <p:sp>
        <p:nvSpPr>
          <p:cNvPr id="6" name="Footer Placeholder 5">
            <a:extLst>
              <a:ext uri="{FF2B5EF4-FFF2-40B4-BE49-F238E27FC236}">
                <a16:creationId xmlns:a16="http://schemas.microsoft.com/office/drawing/2014/main" id="{C95FEC7A-C23E-D517-9B2C-75E3BAA5CD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1140A5-E140-CD4D-2352-0881F50A6F10}"/>
              </a:ext>
            </a:extLst>
          </p:cNvPr>
          <p:cNvSpPr>
            <a:spLocks noGrp="1"/>
          </p:cNvSpPr>
          <p:nvPr>
            <p:ph type="sldNum" sz="quarter" idx="12"/>
          </p:nvPr>
        </p:nvSpPr>
        <p:spPr/>
        <p:txBody>
          <a:bodyPr/>
          <a:lstStyle/>
          <a:p>
            <a:fld id="{284E66CC-98B4-4CAC-ABAD-5C442D1312DC}" type="slidenum">
              <a:rPr lang="en-US" smtClean="0"/>
              <a:t>‹#›</a:t>
            </a:fld>
            <a:endParaRPr lang="en-US"/>
          </a:p>
        </p:txBody>
      </p:sp>
    </p:spTree>
    <p:extLst>
      <p:ext uri="{BB962C8B-B14F-4D97-AF65-F5344CB8AC3E}">
        <p14:creationId xmlns:p14="http://schemas.microsoft.com/office/powerpoint/2010/main" val="1408595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60AA6-0559-2C0E-8650-4DDF11CA8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33EABF-39C1-AE35-B1C1-11D25B3C9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18A6F4-B27C-847A-6B84-31AEE9535941}"/>
              </a:ext>
            </a:extLst>
          </p:cNvPr>
          <p:cNvSpPr>
            <a:spLocks noGrp="1"/>
          </p:cNvSpPr>
          <p:nvPr>
            <p:ph type="dt" sz="half" idx="10"/>
          </p:nvPr>
        </p:nvSpPr>
        <p:spPr/>
        <p:txBody>
          <a:bodyPr/>
          <a:lstStyle/>
          <a:p>
            <a:fld id="{5A69E14B-AB79-4B6A-8569-8A7F169E78DF}" type="datetimeFigureOut">
              <a:rPr lang="en-US" smtClean="0"/>
              <a:t>9/28/2026</a:t>
            </a:fld>
            <a:endParaRPr lang="en-US"/>
          </a:p>
        </p:txBody>
      </p:sp>
      <p:sp>
        <p:nvSpPr>
          <p:cNvPr id="5" name="Footer Placeholder 4">
            <a:extLst>
              <a:ext uri="{FF2B5EF4-FFF2-40B4-BE49-F238E27FC236}">
                <a16:creationId xmlns:a16="http://schemas.microsoft.com/office/drawing/2014/main" id="{67109695-49C2-57C6-5D35-49D97617D8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676F94-9AC4-11FB-ADE9-152FE327F07F}"/>
              </a:ext>
            </a:extLst>
          </p:cNvPr>
          <p:cNvSpPr>
            <a:spLocks noGrp="1"/>
          </p:cNvSpPr>
          <p:nvPr>
            <p:ph type="sldNum" sz="quarter" idx="12"/>
          </p:nvPr>
        </p:nvSpPr>
        <p:spPr/>
        <p:txBody>
          <a:bodyPr/>
          <a:lstStyle/>
          <a:p>
            <a:fld id="{284E66CC-98B4-4CAC-ABAD-5C442D1312DC}" type="slidenum">
              <a:rPr lang="en-US" smtClean="0"/>
              <a:t>‹#›</a:t>
            </a:fld>
            <a:endParaRPr lang="en-US"/>
          </a:p>
        </p:txBody>
      </p:sp>
    </p:spTree>
    <p:extLst>
      <p:ext uri="{BB962C8B-B14F-4D97-AF65-F5344CB8AC3E}">
        <p14:creationId xmlns:p14="http://schemas.microsoft.com/office/powerpoint/2010/main" val="3700549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2FA48F-0995-BBFE-7412-CF81858C6C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401B3F-1AEF-D57C-701B-3887BD06DC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C7CF8-EB5A-EAA9-59FA-553BF2B6A663}"/>
              </a:ext>
            </a:extLst>
          </p:cNvPr>
          <p:cNvSpPr>
            <a:spLocks noGrp="1"/>
          </p:cNvSpPr>
          <p:nvPr>
            <p:ph type="dt" sz="half" idx="10"/>
          </p:nvPr>
        </p:nvSpPr>
        <p:spPr/>
        <p:txBody>
          <a:bodyPr/>
          <a:lstStyle/>
          <a:p>
            <a:fld id="{5A69E14B-AB79-4B6A-8569-8A7F169E78DF}" type="datetimeFigureOut">
              <a:rPr lang="en-US" smtClean="0"/>
              <a:t>9/28/2026</a:t>
            </a:fld>
            <a:endParaRPr lang="en-US"/>
          </a:p>
        </p:txBody>
      </p:sp>
      <p:sp>
        <p:nvSpPr>
          <p:cNvPr id="5" name="Footer Placeholder 4">
            <a:extLst>
              <a:ext uri="{FF2B5EF4-FFF2-40B4-BE49-F238E27FC236}">
                <a16:creationId xmlns:a16="http://schemas.microsoft.com/office/drawing/2014/main" id="{E882BB57-F2C0-F7B2-01E4-1EBBE16DA4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28E315-FA50-ABA6-D59C-7AD8F6C9816A}"/>
              </a:ext>
            </a:extLst>
          </p:cNvPr>
          <p:cNvSpPr>
            <a:spLocks noGrp="1"/>
          </p:cNvSpPr>
          <p:nvPr>
            <p:ph type="sldNum" sz="quarter" idx="12"/>
          </p:nvPr>
        </p:nvSpPr>
        <p:spPr/>
        <p:txBody>
          <a:bodyPr/>
          <a:lstStyle/>
          <a:p>
            <a:fld id="{284E66CC-98B4-4CAC-ABAD-5C442D1312DC}" type="slidenum">
              <a:rPr lang="en-US" smtClean="0"/>
              <a:t>‹#›</a:t>
            </a:fld>
            <a:endParaRPr lang="en-US"/>
          </a:p>
        </p:txBody>
      </p:sp>
    </p:spTree>
    <p:extLst>
      <p:ext uri="{BB962C8B-B14F-4D97-AF65-F5344CB8AC3E}">
        <p14:creationId xmlns:p14="http://schemas.microsoft.com/office/powerpoint/2010/main" val="2116755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C19EBD-3F8B-A574-8D30-3353ABF4EA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1E1E28-FFE5-D10D-667C-C9CAD979A5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5F5CE8-F01F-3A14-5F9C-9C88CDBD0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69E14B-AB79-4B6A-8569-8A7F169E78DF}" type="datetimeFigureOut">
              <a:rPr lang="en-US" smtClean="0"/>
              <a:t>9/28/2026</a:t>
            </a:fld>
            <a:endParaRPr lang="en-US"/>
          </a:p>
        </p:txBody>
      </p:sp>
      <p:sp>
        <p:nvSpPr>
          <p:cNvPr id="5" name="Footer Placeholder 4">
            <a:extLst>
              <a:ext uri="{FF2B5EF4-FFF2-40B4-BE49-F238E27FC236}">
                <a16:creationId xmlns:a16="http://schemas.microsoft.com/office/drawing/2014/main" id="{BC6DD387-206A-684E-EE86-BC63EBED2B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A4D8298-CE0E-2C59-E753-38A9C505AF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4E66CC-98B4-4CAC-ABAD-5C442D1312DC}" type="slidenum">
              <a:rPr lang="en-US" smtClean="0"/>
              <a:t>‹#›</a:t>
            </a:fld>
            <a:endParaRPr lang="en-US"/>
          </a:p>
        </p:txBody>
      </p:sp>
    </p:spTree>
    <p:extLst>
      <p:ext uri="{BB962C8B-B14F-4D97-AF65-F5344CB8AC3E}">
        <p14:creationId xmlns:p14="http://schemas.microsoft.com/office/powerpoint/2010/main" val="85189125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A5AAE5C6-B65C-647F-CB40-4F220F5BB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1BDC29D3-E039-BBE0-387E-21EB0304129B}"/>
              </a:ext>
            </a:extLst>
          </p:cNvPr>
          <p:cNvSpPr/>
          <p:nvPr/>
        </p:nvSpPr>
        <p:spPr>
          <a:xfrm>
            <a:off x="0" y="86628"/>
            <a:ext cx="12070080" cy="6771372"/>
          </a:xfrm>
          <a:prstGeom prst="roundRect">
            <a:avLst>
              <a:gd name="adj" fmla="val 5389"/>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algn="ctr"/>
            <a:endParaRPr lang="ar-SA" sz="2000" b="1" dirty="0">
              <a:latin typeface="Traditional Arabic" panose="02020603050405020304" pitchFamily="18" charset="-78"/>
              <a:cs typeface="Traditional Arabic" panose="02020603050405020304" pitchFamily="18" charset="-78"/>
            </a:endParaRPr>
          </a:p>
          <a:p>
            <a:pPr algn="ctr"/>
            <a:endParaRPr lang="ar-SA" sz="2000" b="1" dirty="0">
              <a:latin typeface="Traditional Arabic" panose="02020603050405020304" pitchFamily="18" charset="-78"/>
              <a:cs typeface="Traditional Arabic" panose="02020603050405020304" pitchFamily="18" charset="-78"/>
            </a:endParaRPr>
          </a:p>
          <a:p>
            <a:pPr algn="ctr"/>
            <a:endParaRPr lang="ar-SA" sz="2400" dirty="0">
              <a:latin typeface="Traditional Arabic" panose="02020603050405020304" pitchFamily="18" charset="-78"/>
              <a:cs typeface="Traditional Arabic" panose="02020603050405020304" pitchFamily="18" charset="-78"/>
            </a:endParaRPr>
          </a:p>
          <a:p>
            <a:pPr algn="ctr"/>
            <a:r>
              <a:rPr lang="ar-SA" sz="2400" b="1" dirty="0">
                <a:solidFill>
                  <a:srgbClr val="FF0000"/>
                </a:solidFill>
                <a:latin typeface="Traditional Arabic" panose="02020603050405020304" pitchFamily="18" charset="-78"/>
                <a:cs typeface="Traditional Arabic" panose="02020603050405020304" pitchFamily="18" charset="-78"/>
              </a:rPr>
              <a:t>بسم الله الرحمن الرحيم </a:t>
            </a:r>
            <a:endParaRPr lang="ar-SA" sz="2400" b="1" dirty="0">
              <a:latin typeface="Traditional Arabic" panose="02020603050405020304" pitchFamily="18" charset="-78"/>
              <a:cs typeface="Traditional Arabic" panose="02020603050405020304" pitchFamily="18" charset="-78"/>
            </a:endParaRPr>
          </a:p>
          <a:p>
            <a:endParaRPr lang="ar-SA" sz="2400" dirty="0">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تعريف الفقه: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لغة:</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الفهم،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واصطلاحاً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معرفة الأحكام الشرعية المتعلقة بأفعال المكلفين وأقوالهم والمكتسبة من أدلتها التفصيلية. مثال معرفة النية بالوضوء واجبة وصلاة الوتر مندوبة.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مصادر الفقه الإسلامي</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القرآن  والسنة والإجماع والقياس.</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القرآن: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كلام الله المنزل على رسول الله وهو المكتوب في المصحف.</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السنة: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كل ما نقل عن النبي صلى الله عليه وسلم من قول أو فعل أو تقرير.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الإجماع: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اتفاق جميع العلماء المجتهدين من أمة سيدنا محمد صلى الله عليه وسلم في عصر من العصور عل حكم شرعي.</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4-</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القياس: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الحاق أمر ليس فيه حكم شرعي بآخر منصوص على حكمه لاتحاد العلة بينهما.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وأركانه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أربعة: أصل مقيس عليه، وفرع مقيس، وحكم الأصل المنصوص عليه، وعلة تجمع بين الأصل والفرع.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المصطلحات الفقهية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الفرض: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ما طلب الشرع فعله طلباً جازماً، بحيث يترتب على فعله الثواب، كما يترتب على تركه العقاب." الصلاة"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لواجب: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ما طلب الشرع فعله طلباً جازماً، بحيث يترتب على فعله الثواب، كما يترتب على تركه العقاب، مثل الفرض تماماً في المذهب الشافعي ولا فرق بينهما إلا في باب الحج: وهو مالا يتوقف عليه صحة الحج. مثل: رمي الجمرات  والفرض مثل الوقوف بعرفة.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لفرض العيني</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هو ما يطلب من كل فرد من أفراد المكلفين طلباً جازماً، الصوم.</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4-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الفرض </a:t>
            </a:r>
            <a:r>
              <a:rPr kumimoji="0" lang="ar-SA" sz="2400" b="1" i="0" u="none" strike="noStrike" kern="1200" cap="none" spc="0" normalizeH="0" baseline="0" noProof="0" dirty="0" err="1">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الكفائي</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ما كان مطالباً بفعله مجموع المسلمين، لا كل واحد منهم، فإذا قام به بعضهم كفى وسقط الإثم عن الآخرين، وإذا لم يقم به أثموا وعصوا جميعاً. مثل تجهيز الميت والصلاة عليه.</a:t>
            </a:r>
          </a:p>
          <a:p>
            <a:pPr algn="just"/>
            <a:endParaRPr lang="ar-SA" b="1" dirty="0">
              <a:latin typeface="Traditional Arabic" panose="02020603050405020304" pitchFamily="18" charset="-78"/>
              <a:cs typeface="Traditional Arabic" panose="02020603050405020304" pitchFamily="18" charset="-78"/>
            </a:endParaRPr>
          </a:p>
          <a:p>
            <a:pPr algn="just"/>
            <a:endParaRPr lang="ar-SA" b="1" dirty="0">
              <a:latin typeface="Traditional Arabic" panose="02020603050405020304" pitchFamily="18" charset="-78"/>
              <a:cs typeface="Traditional Arabic" panose="02020603050405020304" pitchFamily="18" charset="-78"/>
            </a:endParaRPr>
          </a:p>
          <a:p>
            <a:pPr algn="just"/>
            <a:endParaRPr lang="ar-SA" b="1" dirty="0">
              <a:latin typeface="Traditional Arabic" panose="02020603050405020304" pitchFamily="18" charset="-78"/>
              <a:cs typeface="Traditional Arabic" panose="02020603050405020304" pitchFamily="18" charset="-78"/>
            </a:endParaRPr>
          </a:p>
          <a:p>
            <a:pPr algn="ctr"/>
            <a:endParaRPr lang="ar-SA" b="1"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3311401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A5AAE5C6-B65C-647F-CB40-4F220F5BB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1BDC29D3-E039-BBE0-387E-21EB0304129B}"/>
              </a:ext>
            </a:extLst>
          </p:cNvPr>
          <p:cNvSpPr/>
          <p:nvPr/>
        </p:nvSpPr>
        <p:spPr>
          <a:xfrm>
            <a:off x="319016" y="470848"/>
            <a:ext cx="11349252" cy="6100549"/>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latin typeface="Traditional Arabic" panose="02020603050405020304" pitchFamily="18" charset="-78"/>
                <a:cs typeface="Traditional Arabic" panose="02020603050405020304" pitchFamily="18" charset="-78"/>
              </a:rPr>
              <a:t>9</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dirty="0">
              <a:solidFill>
                <a:prstClr val="black"/>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dirty="0">
              <a:solidFill>
                <a:prstClr val="black"/>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5-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الركن</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ما وجب علينا فعله وكان جزءاً من حقيقة الفعل، مثل قراءة الفاتحة في الصلاة، والركوع والسجود.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6-</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لشرط</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ما وجب فعله، لكنه ليس من حقيقة الفعل، بل هو من مقدماته، مثل الوضوء واستقبال القبلة بالنسبة للصلاة.</a:t>
            </a:r>
            <a:endParaRPr kumimoji="0" lang="ar-SA" sz="1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7-</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لمندوب</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هو ما طلب الشرع فعله لكن طلباً غير جازم، حيث يترتب الثواب على فعله, ولا يترتب العقاب على تركه، صلاة الضحى، قيام الليل. ويسمى سنة، ومستحباً، وتطوعاً، ونفلاً.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8-</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لمباح</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ما كان فعله وتركه سواء، لأن الشرع لم يأمرنا بفعله ولم يأمرنا بتركه، ولا يترتب على فعله ثواب، ولا على تركه عقاب.</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فإذا قضيت الصلاة فانتشروا في الأرض وابتغوا من فضل الله.</a:t>
            </a:r>
          </a:p>
          <a:p>
            <a:pPr algn="just"/>
            <a:r>
              <a:rPr lang="ar-SA" sz="2400" dirty="0">
                <a:latin typeface="Traditional Arabic" panose="02020603050405020304" pitchFamily="18" charset="-78"/>
                <a:cs typeface="Traditional Arabic" panose="02020603050405020304" pitchFamily="18" charset="-78"/>
              </a:rPr>
              <a:t>9-</a:t>
            </a:r>
            <a:r>
              <a:rPr lang="ar-SA" sz="2400" b="1" dirty="0">
                <a:solidFill>
                  <a:srgbClr val="FF0000"/>
                </a:solidFill>
                <a:latin typeface="Traditional Arabic" panose="02020603050405020304" pitchFamily="18" charset="-78"/>
                <a:cs typeface="Traditional Arabic" panose="02020603050405020304" pitchFamily="18" charset="-78"/>
              </a:rPr>
              <a:t>الحرام: </a:t>
            </a:r>
            <a:r>
              <a:rPr lang="ar-SA" sz="2400" dirty="0">
                <a:latin typeface="Traditional Arabic" panose="02020603050405020304" pitchFamily="18" charset="-78"/>
                <a:cs typeface="Traditional Arabic" panose="02020603050405020304" pitchFamily="18" charset="-78"/>
              </a:rPr>
              <a:t>وهو ما طالبنا الشرع بتركه طلباً جازماً، بحيث يترتب على تركه امتثالاً لأمر الله تعالى ثواب، ويترتب على فعله عقاب، مثال: القتل، وأكل أموال الناس بالباطل. ويسمى الحرام محظوراً، ومعصية، وذنباً.</a:t>
            </a:r>
          </a:p>
          <a:p>
            <a:pPr algn="just"/>
            <a:r>
              <a:rPr lang="ar-SA" sz="2400" dirty="0">
                <a:latin typeface="Traditional Arabic" panose="02020603050405020304" pitchFamily="18" charset="-78"/>
                <a:cs typeface="Traditional Arabic" panose="02020603050405020304" pitchFamily="18" charset="-78"/>
              </a:rPr>
              <a:t>10-</a:t>
            </a:r>
            <a:r>
              <a:rPr lang="ar-SA" sz="2400" dirty="0">
                <a:solidFill>
                  <a:srgbClr val="FF0000"/>
                </a:solidFill>
                <a:latin typeface="Traditional Arabic" panose="02020603050405020304" pitchFamily="18" charset="-78"/>
                <a:cs typeface="Traditional Arabic" panose="02020603050405020304" pitchFamily="18" charset="-78"/>
              </a:rPr>
              <a:t>ا</a:t>
            </a:r>
            <a:r>
              <a:rPr lang="ar-SA" sz="2400" b="1" dirty="0">
                <a:solidFill>
                  <a:srgbClr val="FF0000"/>
                </a:solidFill>
                <a:latin typeface="Traditional Arabic" panose="02020603050405020304" pitchFamily="18" charset="-78"/>
                <a:cs typeface="Traditional Arabic" panose="02020603050405020304" pitchFamily="18" charset="-78"/>
              </a:rPr>
              <a:t>لمكروه:</a:t>
            </a:r>
            <a:r>
              <a:rPr lang="ar-SA" sz="2400" dirty="0">
                <a:solidFill>
                  <a:srgbClr val="FF0000"/>
                </a:solidFill>
                <a:latin typeface="Traditional Arabic" panose="02020603050405020304" pitchFamily="18" charset="-78"/>
                <a:cs typeface="Traditional Arabic" panose="02020603050405020304" pitchFamily="18" charset="-78"/>
              </a:rPr>
              <a:t> </a:t>
            </a:r>
            <a:r>
              <a:rPr lang="ar-SA" sz="2400" dirty="0">
                <a:latin typeface="Traditional Arabic" panose="02020603050405020304" pitchFamily="18" charset="-78"/>
                <a:cs typeface="Traditional Arabic" panose="02020603050405020304" pitchFamily="18" charset="-78"/>
              </a:rPr>
              <a:t>هو ما طلب الشرع تركه طلباً غير جازم، بحيث إذا تركناه امتثالاً لأمر الله أثبنا، وإذا فعلناه لم نعاقب. مثل: صيام يوم عرفه للحاج.</a:t>
            </a:r>
          </a:p>
          <a:p>
            <a:pPr algn="just"/>
            <a:r>
              <a:rPr lang="ar-SA" sz="2400" dirty="0">
                <a:latin typeface="Traditional Arabic" panose="02020603050405020304" pitchFamily="18" charset="-78"/>
                <a:cs typeface="Traditional Arabic" panose="02020603050405020304" pitchFamily="18" charset="-78"/>
              </a:rPr>
              <a:t>11-</a:t>
            </a:r>
            <a:r>
              <a:rPr lang="ar-SA" sz="2400" b="1" dirty="0">
                <a:solidFill>
                  <a:srgbClr val="FF0000"/>
                </a:solidFill>
                <a:latin typeface="Traditional Arabic" panose="02020603050405020304" pitchFamily="18" charset="-78"/>
                <a:cs typeface="Traditional Arabic" panose="02020603050405020304" pitchFamily="18" charset="-78"/>
              </a:rPr>
              <a:t>الأداء</a:t>
            </a:r>
            <a:r>
              <a:rPr lang="ar-SA" sz="2400" dirty="0">
                <a:latin typeface="Traditional Arabic" panose="02020603050405020304" pitchFamily="18" charset="-78"/>
                <a:cs typeface="Traditional Arabic" panose="02020603050405020304" pitchFamily="18" charset="-78"/>
              </a:rPr>
              <a:t>: وهو فعل العبادة في وقتها المحدد لها من قبل الشرع، كصيام رمضان في شهر رمضان.</a:t>
            </a:r>
          </a:p>
          <a:p>
            <a:pPr algn="just"/>
            <a:r>
              <a:rPr lang="ar-SA" sz="2400" dirty="0">
                <a:latin typeface="Traditional Arabic" panose="02020603050405020304" pitchFamily="18" charset="-78"/>
                <a:cs typeface="Traditional Arabic" panose="02020603050405020304" pitchFamily="18" charset="-78"/>
              </a:rPr>
              <a:t>12-</a:t>
            </a:r>
            <a:r>
              <a:rPr lang="ar-SA" sz="2400" dirty="0">
                <a:solidFill>
                  <a:srgbClr val="FF0000"/>
                </a:solidFill>
                <a:latin typeface="Traditional Arabic" panose="02020603050405020304" pitchFamily="18" charset="-78"/>
                <a:cs typeface="Traditional Arabic" panose="02020603050405020304" pitchFamily="18" charset="-78"/>
              </a:rPr>
              <a:t>ا</a:t>
            </a:r>
            <a:r>
              <a:rPr lang="ar-SA" sz="2400" b="1" dirty="0">
                <a:solidFill>
                  <a:srgbClr val="FF0000"/>
                </a:solidFill>
                <a:latin typeface="Traditional Arabic" panose="02020603050405020304" pitchFamily="18" charset="-78"/>
                <a:cs typeface="Traditional Arabic" panose="02020603050405020304" pitchFamily="18" charset="-78"/>
              </a:rPr>
              <a:t>لقضاء</a:t>
            </a:r>
            <a:r>
              <a:rPr lang="ar-SA" sz="2400" dirty="0">
                <a:solidFill>
                  <a:srgbClr val="FF0000"/>
                </a:solidFill>
                <a:latin typeface="Traditional Arabic" panose="02020603050405020304" pitchFamily="18" charset="-78"/>
                <a:cs typeface="Traditional Arabic" panose="02020603050405020304" pitchFamily="18" charset="-78"/>
              </a:rPr>
              <a:t>:</a:t>
            </a:r>
            <a:r>
              <a:rPr lang="ar-SA" sz="2400" dirty="0">
                <a:latin typeface="Traditional Arabic" panose="02020603050405020304" pitchFamily="18" charset="-78"/>
                <a:cs typeface="Traditional Arabic" panose="02020603050405020304" pitchFamily="18" charset="-78"/>
              </a:rPr>
              <a:t> وهو فعل العبادة التي وجبت خارج وقتها المحدد لها من قبل الشرع، كمن صلى الظهر في غير وقتها بعد فواته.</a:t>
            </a:r>
          </a:p>
          <a:p>
            <a:pPr algn="just"/>
            <a:r>
              <a:rPr lang="ar-SA" sz="2400" dirty="0">
                <a:latin typeface="Traditional Arabic" panose="02020603050405020304" pitchFamily="18" charset="-78"/>
                <a:cs typeface="Traditional Arabic" panose="02020603050405020304" pitchFamily="18" charset="-78"/>
              </a:rPr>
              <a:t>13- </a:t>
            </a:r>
            <a:r>
              <a:rPr lang="ar-SA" sz="2400" b="1" dirty="0">
                <a:solidFill>
                  <a:srgbClr val="FF0000"/>
                </a:solidFill>
                <a:latin typeface="Traditional Arabic" panose="02020603050405020304" pitchFamily="18" charset="-78"/>
                <a:cs typeface="Traditional Arabic" panose="02020603050405020304" pitchFamily="18" charset="-78"/>
              </a:rPr>
              <a:t>الإعادة</a:t>
            </a:r>
            <a:r>
              <a:rPr lang="ar-SA" sz="2400" dirty="0">
                <a:latin typeface="Traditional Arabic" panose="02020603050405020304" pitchFamily="18" charset="-78"/>
                <a:cs typeface="Traditional Arabic" panose="02020603050405020304" pitchFamily="18" charset="-78"/>
              </a:rPr>
              <a:t>: وهي فعل العبادة في وقتها مرة ثانية لزيادة الفضيلة، الصلاة منفرداً، ثم حضرت الجماعة، يسن له إعادتها.</a:t>
            </a:r>
          </a:p>
          <a:p>
            <a:endParaRPr lang="ar-SA" sz="2400" dirty="0">
              <a:latin typeface="Traditional Arabic" panose="02020603050405020304" pitchFamily="18" charset="-78"/>
              <a:cs typeface="Traditional Arabic" panose="02020603050405020304" pitchFamily="18" charset="-78"/>
            </a:endParaRPr>
          </a:p>
          <a:p>
            <a:endParaRPr lang="ar-SA" sz="2400" dirty="0">
              <a:latin typeface="Traditional Arabic" panose="02020603050405020304" pitchFamily="18" charset="-78"/>
              <a:cs typeface="Traditional Arabic" panose="02020603050405020304" pitchFamily="18" charset="-78"/>
            </a:endParaRPr>
          </a:p>
          <a:p>
            <a:endParaRPr lang="ar-SA" sz="2400" dirty="0">
              <a:latin typeface="Traditional Arabic" panose="02020603050405020304" pitchFamily="18" charset="-78"/>
              <a:cs typeface="Traditional Arabic" panose="02020603050405020304" pitchFamily="18" charset="-78"/>
            </a:endParaRPr>
          </a:p>
          <a:p>
            <a:endParaRPr lang="ar-SA" sz="2400" b="1" dirty="0">
              <a:latin typeface="Traditional Arabic" panose="02020603050405020304" pitchFamily="18" charset="-78"/>
              <a:cs typeface="Traditional Arabic" panose="02020603050405020304" pitchFamily="18" charset="-78"/>
            </a:endParaRPr>
          </a:p>
          <a:p>
            <a:endParaRPr lang="ar-SA" sz="2400" b="1" dirty="0">
              <a:latin typeface="Traditional Arabic" panose="02020603050405020304" pitchFamily="18" charset="-78"/>
              <a:cs typeface="Traditional Arabic" panose="02020603050405020304" pitchFamily="18" charset="-78"/>
            </a:endParaRPr>
          </a:p>
          <a:p>
            <a:endParaRPr lang="ar-SA" sz="2400" b="1"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1795839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A5AAE5C6-B65C-647F-CB40-4F220F5BB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1BDC29D3-E039-BBE0-387E-21EB0304129B}"/>
              </a:ext>
            </a:extLst>
          </p:cNvPr>
          <p:cNvSpPr/>
          <p:nvPr/>
        </p:nvSpPr>
        <p:spPr>
          <a:xfrm>
            <a:off x="105879" y="0"/>
            <a:ext cx="11954576" cy="6785811"/>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algn="ctr"/>
            <a:r>
              <a:rPr lang="ar-SA" sz="2400" b="1" dirty="0">
                <a:solidFill>
                  <a:srgbClr val="FF0000"/>
                </a:solidFill>
                <a:latin typeface="Traditional Arabic" panose="02020603050405020304" pitchFamily="18" charset="-78"/>
                <a:cs typeface="Traditional Arabic" panose="02020603050405020304" pitchFamily="18" charset="-78"/>
              </a:rPr>
              <a:t>أحكام الطهارة</a:t>
            </a:r>
          </a:p>
          <a:p>
            <a:r>
              <a:rPr lang="ar-SA" sz="2400" b="1" dirty="0">
                <a:latin typeface="Traditional Arabic" panose="02020603050405020304" pitchFamily="18" charset="-78"/>
                <a:cs typeface="Traditional Arabic" panose="02020603050405020304" pitchFamily="18" charset="-78"/>
              </a:rPr>
              <a:t> </a:t>
            </a:r>
            <a:r>
              <a:rPr lang="ar-SA" sz="2400" b="1" dirty="0">
                <a:solidFill>
                  <a:srgbClr val="FF0000"/>
                </a:solidFill>
                <a:latin typeface="Traditional Arabic" panose="02020603050405020304" pitchFamily="18" charset="-78"/>
                <a:cs typeface="Traditional Arabic" panose="02020603050405020304" pitchFamily="18" charset="-78"/>
              </a:rPr>
              <a:t>الطهارة</a:t>
            </a:r>
            <a:r>
              <a:rPr lang="ar-SA" sz="2400" b="1" dirty="0">
                <a:latin typeface="Traditional Arabic" panose="02020603050405020304" pitchFamily="18" charset="-78"/>
                <a:cs typeface="Traditional Arabic" panose="02020603050405020304" pitchFamily="18" charset="-78"/>
              </a:rPr>
              <a:t>: </a:t>
            </a:r>
            <a:r>
              <a:rPr lang="ar-SA" sz="2400" dirty="0">
                <a:latin typeface="Traditional Arabic" panose="02020603050405020304" pitchFamily="18" charset="-78"/>
                <a:cs typeface="Traditional Arabic" panose="02020603050405020304" pitchFamily="18" charset="-78"/>
              </a:rPr>
              <a:t>لغة: النظافة من الأدناس، حسية كانت كالنجس، أو معنوية كالعيوب.</a:t>
            </a:r>
          </a:p>
          <a:p>
            <a:r>
              <a:rPr lang="ar-SA" sz="2400" b="1" dirty="0">
                <a:solidFill>
                  <a:srgbClr val="FF0000"/>
                </a:solidFill>
                <a:latin typeface="Traditional Arabic" panose="02020603050405020304" pitchFamily="18" charset="-78"/>
                <a:cs typeface="Traditional Arabic" panose="02020603050405020304" pitchFamily="18" charset="-78"/>
              </a:rPr>
              <a:t>شرعاً</a:t>
            </a:r>
            <a:r>
              <a:rPr lang="ar-SA" sz="2400" b="1" dirty="0">
                <a:latin typeface="Traditional Arabic" panose="02020603050405020304" pitchFamily="18" charset="-78"/>
                <a:cs typeface="Traditional Arabic" panose="02020603050405020304" pitchFamily="18" charset="-78"/>
              </a:rPr>
              <a:t>: </a:t>
            </a:r>
            <a:r>
              <a:rPr lang="ar-SA" sz="2400" dirty="0">
                <a:latin typeface="Traditional Arabic" panose="02020603050405020304" pitchFamily="18" charset="-78"/>
                <a:cs typeface="Traditional Arabic" panose="02020603050405020304" pitchFamily="18" charset="-78"/>
              </a:rPr>
              <a:t>فعل ما يستباح به الصلاة. "الوضوء" الغسل لمن وجب عليه الغسل، وإزالة النجاسة عن الثوب والبدن والمكان</a:t>
            </a:r>
            <a:r>
              <a:rPr lang="ar-SA" sz="2400" b="1" dirty="0">
                <a:latin typeface="Traditional Arabic" panose="02020603050405020304" pitchFamily="18" charset="-78"/>
                <a:cs typeface="Traditional Arabic" panose="02020603050405020304" pitchFamily="18" charset="-78"/>
              </a:rPr>
              <a:t>.</a:t>
            </a:r>
          </a:p>
          <a:p>
            <a:r>
              <a:rPr lang="ar-SA" sz="2400" b="1" dirty="0">
                <a:solidFill>
                  <a:srgbClr val="FF0000"/>
                </a:solidFill>
                <a:latin typeface="Traditional Arabic" panose="02020603050405020304" pitchFamily="18" charset="-78"/>
                <a:cs typeface="Traditional Arabic" panose="02020603050405020304" pitchFamily="18" charset="-78"/>
              </a:rPr>
              <a:t>المياه التي يتطهر بها: </a:t>
            </a:r>
            <a:r>
              <a:rPr lang="ar-SA" sz="2400" dirty="0">
                <a:latin typeface="Traditional Arabic" panose="02020603050405020304" pitchFamily="18" charset="-78"/>
                <a:cs typeface="Traditional Arabic" panose="02020603050405020304" pitchFamily="18" charset="-78"/>
              </a:rPr>
              <a:t>كل ما نزل من السماء أو نبع من الأرض، وأنزلنا من السماء ماءً طهورا.</a:t>
            </a:r>
          </a:p>
          <a:p>
            <a:pPr algn="ctr"/>
            <a:r>
              <a:rPr lang="ar-SA" sz="2400" b="1" dirty="0">
                <a:solidFill>
                  <a:srgbClr val="FF0000"/>
                </a:solidFill>
                <a:latin typeface="Traditional Arabic" panose="02020603050405020304" pitchFamily="18" charset="-78"/>
                <a:cs typeface="Traditional Arabic" panose="02020603050405020304" pitchFamily="18" charset="-78"/>
              </a:rPr>
              <a:t>أقسام المياه</a:t>
            </a:r>
          </a:p>
          <a:p>
            <a:r>
              <a:rPr lang="ar-SA" sz="2400" b="1" dirty="0">
                <a:latin typeface="Traditional Arabic" panose="02020603050405020304" pitchFamily="18" charset="-78"/>
                <a:cs typeface="Traditional Arabic" panose="02020603050405020304" pitchFamily="18" charset="-78"/>
              </a:rPr>
              <a:t>1- </a:t>
            </a:r>
            <a:r>
              <a:rPr lang="ar-SA" sz="2400" b="1" dirty="0">
                <a:solidFill>
                  <a:srgbClr val="FF0000"/>
                </a:solidFill>
                <a:latin typeface="Traditional Arabic" panose="02020603050405020304" pitchFamily="18" charset="-78"/>
                <a:cs typeface="Traditional Arabic" panose="02020603050405020304" pitchFamily="18" charset="-78"/>
              </a:rPr>
              <a:t>الطاهر</a:t>
            </a:r>
            <a:r>
              <a:rPr lang="ar-SA" sz="2400" b="1" dirty="0">
                <a:latin typeface="Traditional Arabic" panose="02020603050405020304" pitchFamily="18" charset="-78"/>
                <a:cs typeface="Traditional Arabic" panose="02020603050405020304" pitchFamily="18" charset="-78"/>
              </a:rPr>
              <a:t> </a:t>
            </a:r>
            <a:r>
              <a:rPr lang="ar-SA" sz="2400" b="1" dirty="0">
                <a:solidFill>
                  <a:srgbClr val="FF0000"/>
                </a:solidFill>
                <a:latin typeface="Traditional Arabic" panose="02020603050405020304" pitchFamily="18" charset="-78"/>
                <a:cs typeface="Traditional Arabic" panose="02020603050405020304" pitchFamily="18" charset="-78"/>
              </a:rPr>
              <a:t>المطهر</a:t>
            </a:r>
            <a:r>
              <a:rPr lang="ar-SA" sz="2400" b="1" dirty="0">
                <a:latin typeface="Traditional Arabic" panose="02020603050405020304" pitchFamily="18" charset="-78"/>
                <a:cs typeface="Traditional Arabic" panose="02020603050405020304" pitchFamily="18" charset="-78"/>
              </a:rPr>
              <a:t>: </a:t>
            </a:r>
            <a:r>
              <a:rPr lang="ar-SA" sz="2400" dirty="0">
                <a:latin typeface="Traditional Arabic" panose="02020603050405020304" pitchFamily="18" charset="-78"/>
                <a:cs typeface="Traditional Arabic" panose="02020603050405020304" pitchFamily="18" charset="-78"/>
              </a:rPr>
              <a:t>الماء المطلق الباقي على وصف خلقته التي خلقها الله عليها، </a:t>
            </a:r>
          </a:p>
          <a:p>
            <a:r>
              <a:rPr lang="ar-SA" sz="2400" b="1" dirty="0">
                <a:latin typeface="Traditional Arabic" panose="02020603050405020304" pitchFamily="18" charset="-78"/>
                <a:cs typeface="Traditional Arabic" panose="02020603050405020304" pitchFamily="18" charset="-78"/>
              </a:rPr>
              <a:t>2- </a:t>
            </a:r>
            <a:r>
              <a:rPr lang="ar-SA" sz="2400" b="1" dirty="0">
                <a:solidFill>
                  <a:srgbClr val="FF0000"/>
                </a:solidFill>
                <a:latin typeface="Traditional Arabic" panose="02020603050405020304" pitchFamily="18" charset="-78"/>
                <a:cs typeface="Traditional Arabic" panose="02020603050405020304" pitchFamily="18" charset="-78"/>
              </a:rPr>
              <a:t>الطاهر</a:t>
            </a:r>
            <a:r>
              <a:rPr lang="ar-SA" sz="2400" b="1" dirty="0">
                <a:latin typeface="Traditional Arabic" panose="02020603050405020304" pitchFamily="18" charset="-78"/>
                <a:cs typeface="Traditional Arabic" panose="02020603050405020304" pitchFamily="18" charset="-78"/>
              </a:rPr>
              <a:t> </a:t>
            </a:r>
            <a:r>
              <a:rPr lang="ar-SA" sz="2400" b="1" dirty="0">
                <a:solidFill>
                  <a:srgbClr val="FF0000"/>
                </a:solidFill>
                <a:latin typeface="Traditional Arabic" panose="02020603050405020304" pitchFamily="18" charset="-78"/>
                <a:cs typeface="Traditional Arabic" panose="02020603050405020304" pitchFamily="18" charset="-78"/>
              </a:rPr>
              <a:t>المطهر</a:t>
            </a:r>
            <a:r>
              <a:rPr lang="ar-SA" sz="2400" b="1" dirty="0">
                <a:latin typeface="Traditional Arabic" panose="02020603050405020304" pitchFamily="18" charset="-78"/>
                <a:cs typeface="Traditional Arabic" panose="02020603050405020304" pitchFamily="18" charset="-78"/>
              </a:rPr>
              <a:t> </a:t>
            </a:r>
            <a:r>
              <a:rPr lang="ar-SA" sz="2400" b="1" dirty="0">
                <a:solidFill>
                  <a:srgbClr val="FF0000"/>
                </a:solidFill>
                <a:latin typeface="Traditional Arabic" panose="02020603050405020304" pitchFamily="18" charset="-78"/>
                <a:cs typeface="Traditional Arabic" panose="02020603050405020304" pitchFamily="18" charset="-78"/>
              </a:rPr>
              <a:t>المكروه</a:t>
            </a:r>
            <a:r>
              <a:rPr lang="ar-SA" sz="2400" b="1" dirty="0">
                <a:latin typeface="Traditional Arabic" panose="02020603050405020304" pitchFamily="18" charset="-78"/>
                <a:cs typeface="Traditional Arabic" panose="02020603050405020304" pitchFamily="18" charset="-78"/>
              </a:rPr>
              <a:t>: </a:t>
            </a:r>
            <a:r>
              <a:rPr lang="ar-SA" sz="2400" dirty="0">
                <a:latin typeface="Traditional Arabic" panose="02020603050405020304" pitchFamily="18" charset="-78"/>
                <a:cs typeface="Traditional Arabic" panose="02020603050405020304" pitchFamily="18" charset="-78"/>
              </a:rPr>
              <a:t>الماء المشمس، ويشترط لكراهته ثلاثة شروط:</a:t>
            </a:r>
          </a:p>
          <a:p>
            <a:r>
              <a:rPr lang="ar-SA" sz="2400" dirty="0">
                <a:latin typeface="Traditional Arabic" panose="02020603050405020304" pitchFamily="18" charset="-78"/>
                <a:cs typeface="Traditional Arabic" panose="02020603050405020304" pitchFamily="18" charset="-78"/>
              </a:rPr>
              <a:t>أن يكون ببلاد حارة   - أن يكون موضوعاً غالباً بأوان منطبعة غير الذهب والفضة، كالحديد والنحاس</a:t>
            </a:r>
            <a:r>
              <a:rPr lang="ar-SA" sz="2400" b="1" dirty="0">
                <a:latin typeface="Traditional Arabic" panose="02020603050405020304" pitchFamily="18" charset="-78"/>
                <a:cs typeface="Traditional Arabic" panose="02020603050405020304" pitchFamily="18" charset="-78"/>
              </a:rPr>
              <a:t>.   </a:t>
            </a:r>
            <a:r>
              <a:rPr lang="ar-SA" sz="2400" dirty="0">
                <a:latin typeface="Traditional Arabic" panose="02020603050405020304" pitchFamily="18" charset="-78"/>
                <a:cs typeface="Traditional Arabic" panose="02020603050405020304" pitchFamily="18" charset="-78"/>
              </a:rPr>
              <a:t>أن يكون استعماله في البدن</a:t>
            </a:r>
            <a:r>
              <a:rPr lang="ar-SA" sz="2400" b="1" dirty="0">
                <a:latin typeface="Traditional Arabic" panose="02020603050405020304" pitchFamily="18" charset="-78"/>
                <a:cs typeface="Traditional Arabic" panose="02020603050405020304" pitchFamily="18" charset="-78"/>
              </a:rPr>
              <a:t>.</a:t>
            </a:r>
          </a:p>
          <a:p>
            <a:r>
              <a:rPr lang="ar-SA" sz="2400" b="1" dirty="0">
                <a:latin typeface="Traditional Arabic" panose="02020603050405020304" pitchFamily="18" charset="-78"/>
                <a:cs typeface="Traditional Arabic" panose="02020603050405020304" pitchFamily="18" charset="-78"/>
              </a:rPr>
              <a:t>3- </a:t>
            </a:r>
            <a:r>
              <a:rPr lang="ar-SA" sz="2400" b="1" dirty="0">
                <a:solidFill>
                  <a:srgbClr val="FF0000"/>
                </a:solidFill>
                <a:latin typeface="Traditional Arabic" panose="02020603050405020304" pitchFamily="18" charset="-78"/>
                <a:cs typeface="Traditional Arabic" panose="02020603050405020304" pitchFamily="18" charset="-78"/>
              </a:rPr>
              <a:t>الطاهر غير المطهر</a:t>
            </a:r>
            <a:r>
              <a:rPr lang="ar-SA" sz="2400" b="1" dirty="0">
                <a:latin typeface="Traditional Arabic" panose="02020603050405020304" pitchFamily="18" charset="-78"/>
                <a:cs typeface="Traditional Arabic" panose="02020603050405020304" pitchFamily="18" charset="-78"/>
              </a:rPr>
              <a:t>: </a:t>
            </a:r>
            <a:r>
              <a:rPr lang="ar-SA" sz="2400" dirty="0">
                <a:latin typeface="Traditional Arabic" panose="02020603050405020304" pitchFamily="18" charset="-78"/>
                <a:cs typeface="Traditional Arabic" panose="02020603050405020304" pitchFamily="18" charset="-78"/>
              </a:rPr>
              <a:t>وهو قسمان: </a:t>
            </a:r>
          </a:p>
          <a:p>
            <a:r>
              <a:rPr lang="ar-SA" sz="2400" dirty="0">
                <a:latin typeface="Traditional Arabic" panose="02020603050405020304" pitchFamily="18" charset="-78"/>
                <a:cs typeface="Traditional Arabic" panose="02020603050405020304" pitchFamily="18" charset="-78"/>
              </a:rPr>
              <a:t>1-الماء القليل المستعمل في فرض الطهارة كالغسل والوضوء.</a:t>
            </a:r>
          </a:p>
          <a:p>
            <a:r>
              <a:rPr lang="ar-SA" sz="2400" dirty="0">
                <a:latin typeface="Traditional Arabic" panose="02020603050405020304" pitchFamily="18" charset="-78"/>
                <a:cs typeface="Traditional Arabic" panose="02020603050405020304" pitchFamily="18" charset="-78"/>
              </a:rPr>
              <a:t>2-الماء المطلق الذي خالطه شيء من الطاهرات التي يستغني عنها الماء عادة، فتغير بحيث لم يطلق عليها اسم الماء المطلق، كالشاي.</a:t>
            </a:r>
          </a:p>
          <a:p>
            <a:r>
              <a:rPr lang="ar-SA" sz="2400" b="1" dirty="0">
                <a:latin typeface="Traditional Arabic" panose="02020603050405020304" pitchFamily="18" charset="-78"/>
                <a:cs typeface="Traditional Arabic" panose="02020603050405020304" pitchFamily="18" charset="-78"/>
              </a:rPr>
              <a:t>4-</a:t>
            </a:r>
            <a:r>
              <a:rPr lang="ar-SA" sz="2400" b="1" dirty="0">
                <a:solidFill>
                  <a:srgbClr val="FF0000"/>
                </a:solidFill>
                <a:latin typeface="Traditional Arabic" panose="02020603050405020304" pitchFamily="18" charset="-78"/>
                <a:cs typeface="Traditional Arabic" panose="02020603050405020304" pitchFamily="18" charset="-78"/>
              </a:rPr>
              <a:t>الماء </a:t>
            </a:r>
            <a:r>
              <a:rPr lang="ar-SA" sz="2400" b="1" dirty="0" err="1">
                <a:solidFill>
                  <a:srgbClr val="FF0000"/>
                </a:solidFill>
                <a:latin typeface="Traditional Arabic" panose="02020603050405020304" pitchFamily="18" charset="-78"/>
                <a:cs typeface="Traditional Arabic" panose="02020603050405020304" pitchFamily="18" charset="-78"/>
              </a:rPr>
              <a:t>المتنجس</a:t>
            </a:r>
            <a:r>
              <a:rPr lang="ar-SA" sz="2400" b="1" dirty="0">
                <a:latin typeface="Traditional Arabic" panose="02020603050405020304" pitchFamily="18" charset="-78"/>
                <a:cs typeface="Traditional Arabic" panose="02020603050405020304" pitchFamily="18" charset="-78"/>
              </a:rPr>
              <a:t>: </a:t>
            </a:r>
            <a:r>
              <a:rPr lang="ar-SA" sz="2400" dirty="0">
                <a:latin typeface="Traditional Arabic" panose="02020603050405020304" pitchFamily="18" charset="-78"/>
                <a:cs typeface="Traditional Arabic" panose="02020603050405020304" pitchFamily="18" charset="-78"/>
              </a:rPr>
              <a:t>الماء الذي وقعت فيه نجاسة وهو قسمان:</a:t>
            </a:r>
          </a:p>
          <a:p>
            <a:r>
              <a:rPr lang="ar-SA" sz="2400" dirty="0">
                <a:latin typeface="Traditional Arabic" panose="02020603050405020304" pitchFamily="18" charset="-78"/>
                <a:cs typeface="Traditional Arabic" panose="02020603050405020304" pitchFamily="18" charset="-78"/>
              </a:rPr>
              <a:t>1-قليل: ما كان دون القلتين، وهذا الماء ينجس بمجرد وقوع النجاسة ولو لم يتغير شيء من أوصاف الماء. والقلتان (192,857)</a:t>
            </a:r>
          </a:p>
          <a:p>
            <a:r>
              <a:rPr lang="ar-SA" sz="2400" dirty="0">
                <a:latin typeface="Traditional Arabic" panose="02020603050405020304" pitchFamily="18" charset="-78"/>
                <a:cs typeface="Traditional Arabic" panose="02020603050405020304" pitchFamily="18" charset="-78"/>
              </a:rPr>
              <a:t>2-كثير: إذا تغيرت أحد أوصافه الثلاثة.</a:t>
            </a:r>
          </a:p>
          <a:p>
            <a:r>
              <a:rPr lang="ar-SA" sz="2400" b="1" dirty="0">
                <a:solidFill>
                  <a:srgbClr val="FF0000"/>
                </a:solidFill>
                <a:latin typeface="Traditional Arabic" panose="02020603050405020304" pitchFamily="18" charset="-78"/>
                <a:cs typeface="Traditional Arabic" panose="02020603050405020304" pitchFamily="18" charset="-78"/>
              </a:rPr>
              <a:t>ما يصلح للتطهير هو الطاهر المطهر والطاهر المطهر المكروه. مع كراهة الثاني في البدن.</a:t>
            </a:r>
          </a:p>
          <a:p>
            <a:endParaRPr lang="ar-SA" sz="2400" b="1"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3961093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87A86-87D0-4CA3-64A0-640766579C1B}"/>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4C6674B7-65BF-5CB2-FE87-9D7E0534BF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32"/>
            <a:ext cx="12192000" cy="6858000"/>
          </a:xfrm>
          <a:prstGeom prst="rect">
            <a:avLst/>
          </a:prstGeom>
        </p:spPr>
      </p:pic>
      <p:sp>
        <p:nvSpPr>
          <p:cNvPr id="4" name="مستطيل: زوايا مستديرة 3">
            <a:extLst>
              <a:ext uri="{FF2B5EF4-FFF2-40B4-BE49-F238E27FC236}">
                <a16:creationId xmlns:a16="http://schemas.microsoft.com/office/drawing/2014/main" id="{462BB829-5E9A-47FF-3AD2-29955736F926}"/>
              </a:ext>
            </a:extLst>
          </p:cNvPr>
          <p:cNvSpPr/>
          <p:nvPr/>
        </p:nvSpPr>
        <p:spPr>
          <a:xfrm>
            <a:off x="100149" y="12033"/>
            <a:ext cx="11989182" cy="6833936"/>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أنواع الطهارة</a:t>
            </a:r>
            <a:endPar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الطهارة نوعان</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1- طهارة من النجس. 2- طهارة من الحدث.</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الطهارة من النجس</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النجس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لغة: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كل مستقذر.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شرعاً: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مستقذر يمنع صحة الصلاة كادم والبول.</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الأعيان النجسة: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كثيرة، أهمها في سبعة أشياء: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الخمر</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وكل مائع مسكر: أنما الخمر والميسر والأنصاب والأزلام رجس.</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2</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الكلب والخنزير</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طهور إناء أحدكم إذا ولغ فيه الكلب أن يغسله سبع مرات أولاهن بالتراب.</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الميتة: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كل حيوان مات بدون ذكاة شرعية، حرمت عليكم المينة. وحرمت من أجل نجاستها.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ويستثنى ميتة الإنسان، ولقد كرمنا بني آدم.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السمك والجراد</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أحلت لكم ميتتان ودمان فأما الميتتان الحوت والجراد، وأما الدمان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فالكبد والطحال.</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4-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الدم السائل</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 5-</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بول الإنسان وغائطه، وبول الحيوان وفرثه. </a:t>
            </a:r>
            <a:r>
              <a:rPr kumimoji="0" lang="ar-SA" sz="2400" b="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6</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كل جزء انفصل من الحيوان حال حياته</a:t>
            </a:r>
            <a:r>
              <a:rPr lang="ar-SA" sz="2400" dirty="0">
                <a:solidFill>
                  <a:prstClr val="black"/>
                </a:solidFill>
                <a:latin typeface="Traditional Arabic" panose="02020603050405020304" pitchFamily="18" charset="-78"/>
                <a:cs typeface="Traditional Arabic" panose="02020603050405020304" pitchFamily="18" charset="-78"/>
              </a:rPr>
              <a:t>.</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7-</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لبن الحيوان غير مأكول اللحم.  </a:t>
            </a:r>
            <a:r>
              <a:rPr kumimoji="0" lang="ar-SA" sz="2400" b="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8</a:t>
            </a:r>
            <a:r>
              <a:rPr lang="ar-SA" sz="2400" dirty="0">
                <a:solidFill>
                  <a:srgbClr val="FF0000"/>
                </a:solidFill>
                <a:latin typeface="Traditional Arabic" panose="02020603050405020304" pitchFamily="18" charset="-78"/>
                <a:cs typeface="Traditional Arabic" panose="02020603050405020304" pitchFamily="18" charset="-78"/>
              </a:rPr>
              <a:t>-القيء.</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النجاسة العينية والنجاسة الحكمية: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النجاسة العينية:</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كل نجاسة لها صفة ظاهرة من لون أو طعم أو ريح، البول والغائط.</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النجاسة الحكمية: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كل نجاسة جفت وذهب أثرها ولم يبق لها أثر من لون أو طعم أو ريح.</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النجاسة المغلظة والمخففة والمتوسطة: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النجاسة المغلظة</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نجاسة الكلب، أو الخنزير،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حكمه: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غسلها سبع مرات إحداهن بالتراب.</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النجاسة المخففة: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بول الصبي الذي لم يأكل إلا اللبن ولم يبلغ سنه حولين،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حكمه</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يكفي رشها بالماء بحيث يعم الرش جميع النجاسة من غير سيلان.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النجاسة المتوسطة: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وهي غير ما سبق مثل الدم،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حكمه:</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فيكفي غسلها مرة واحدة إذا زالت النجاسة بها، ولا يضر بقاء لون إن عسر زواله. </a:t>
            </a:r>
          </a:p>
        </p:txBody>
      </p:sp>
    </p:spTree>
    <p:extLst>
      <p:ext uri="{BB962C8B-B14F-4D97-AF65-F5344CB8AC3E}">
        <p14:creationId xmlns:p14="http://schemas.microsoft.com/office/powerpoint/2010/main" val="3700702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A5AAE5C6-B65C-647F-CB40-4F220F5BB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130"/>
            <a:ext cx="12192000" cy="6858000"/>
          </a:xfrm>
          <a:prstGeom prst="rect">
            <a:avLst/>
          </a:prstGeom>
        </p:spPr>
      </p:pic>
      <p:sp>
        <p:nvSpPr>
          <p:cNvPr id="2" name="مستطيل: زوايا مستديرة 1">
            <a:extLst>
              <a:ext uri="{FF2B5EF4-FFF2-40B4-BE49-F238E27FC236}">
                <a16:creationId xmlns:a16="http://schemas.microsoft.com/office/drawing/2014/main" id="{1BDC29D3-E039-BBE0-387E-21EB0304129B}"/>
              </a:ext>
            </a:extLst>
          </p:cNvPr>
          <p:cNvSpPr/>
          <p:nvPr/>
        </p:nvSpPr>
        <p:spPr>
          <a:xfrm>
            <a:off x="404261" y="125130"/>
            <a:ext cx="11694695" cy="6858000"/>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algn="just"/>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algn="just"/>
            <a:endParaRPr lang="ar-SA" sz="2400" b="1" dirty="0">
              <a:solidFill>
                <a:srgbClr val="FF0000"/>
              </a:solidFill>
              <a:latin typeface="Traditional Arabic" panose="02020603050405020304" pitchFamily="18" charset="-78"/>
              <a:cs typeface="Traditional Arabic" panose="02020603050405020304" pitchFamily="18" charset="-78"/>
            </a:endParaRPr>
          </a:p>
          <a:p>
            <a:pPr algn="just"/>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بعض ما يعفى عنه من النجاسات:</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السبب رفع المشقة والحرج عن الناس.</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-رشاش البول البسيط الذي لا يدركه الطرف المعتدل إذا أصاب الثوب أو البدن.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-اليسير من الدم والقيح مالم يكن بفعل الإنسان وتعمده.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-روث الدواب الذي يصيب الحبوب أثناء دراستها، وما يصيب اللبن أثناء الحليب.</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4</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-ذرق الطيور في الأماكن التي تتردد فيه كالحرم المكي والمدني.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5</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-الدم الذي على اللحم.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6</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-مايصيب ثوب الجزار من الدم مالم يكثر.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7</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-فم الطفل </a:t>
            </a:r>
            <a:r>
              <a:rPr kumimoji="0" lang="ar-SA" sz="2400" b="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المتنجس</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بالقيء.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8</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-مايصيب الإنسان من طين الشارع.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9</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الميتة التي لا نفس لها سائلة، أو لا دم لها، ولم يتغير المائع.</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تطي</a:t>
            </a:r>
            <a:r>
              <a:rPr lang="ar-SA" sz="2400" dirty="0">
                <a:solidFill>
                  <a:prstClr val="black"/>
                </a:solidFill>
                <a:latin typeface="Traditional Arabic" panose="02020603050405020304" pitchFamily="18" charset="-78"/>
                <a:cs typeface="Traditional Arabic" panose="02020603050405020304" pitchFamily="18" charset="-78"/>
              </a:rPr>
              <a:t>هير جلد الميتة غير الكلب والخنزير بالدباغ.</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الاستنجاء</a:t>
            </a:r>
            <a:r>
              <a:rPr kumimoji="0" lang="ar-SA" sz="18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وآدابه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معناه: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إزالة النجاسة أو تخفيفها عن مخرج البول أو الغائط.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حكمه:</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واجب</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يستنجي به: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بالماء المطلق، وبكل جامد خشن يمكن إزالة النجاسة كالحجر والورق.</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لا يستنجى به: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 نجس العين أو متنجس. 2- مطعوم لآدمي كخبز، أو جني كعظم.</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آداب الاستنجاء: ما يتعلق بالمكان: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يجتنب التبول والتغوط في: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 طريق الناس، 2- الثقب في الأرض أو الجدار 3- تحت الشجرة المثمرة 4-الماء الراكد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يتعلق بالدخول والخروج :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يستحب الدخول باليسرى والخروج باليمنى، ويستحب أن يقول قبل الدخول اللهم إني أعوذ بك من الخبث والخبائث. والخروج غفرانك الحمد لله الذي أبعد عني الأذى وعافاني الحمد لله الذي أذاقني لذته وأبقى فيَّ قوته ودفع عني أذاه.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يتعلق بالجهة:</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يحرم استقبال القبلة أو استدبارها عند عدم وجود ساتر؟، فإن وجد ولم يبعد أكثر من 150سم جاز الاستقبال والاستدبار.</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يتعلق بحال قاضي الحاجة</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يعتمد على يساره وينصب يمناه ولا ينظر إلى السماء ولا إلى عورته ويكره الكلام أثناء قضاء الحاجة.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الاستنجاء باليسار</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ويكره استعمال اليمنى.</a:t>
            </a: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R="0" lvl="0" algn="just" defTabSz="914400" rtl="1" eaLnBrk="1" fontAlgn="auto" latinLnBrk="0" hangingPunct="1">
              <a:lnSpc>
                <a:spcPct val="100000"/>
              </a:lnSpc>
              <a:spcBef>
                <a:spcPts val="0"/>
              </a:spcBef>
              <a:spcAft>
                <a:spcPts val="0"/>
              </a:spcAft>
              <a:buClrTx/>
              <a:buSzTx/>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endParaRPr lang="ar-SA" sz="2400" b="1"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1564773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A5AAE5C6-B65C-647F-CB40-4F220F5BB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1BDC29D3-E039-BBE0-387E-21EB0304129B}"/>
              </a:ext>
            </a:extLst>
          </p:cNvPr>
          <p:cNvSpPr/>
          <p:nvPr/>
        </p:nvSpPr>
        <p:spPr>
          <a:xfrm>
            <a:off x="125128" y="0"/>
            <a:ext cx="12066871" cy="6858000"/>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algn="ctr"/>
            <a:endParaRPr lang="ar-SA" sz="2400" b="1" dirty="0">
              <a:solidFill>
                <a:srgbClr val="FF0000"/>
              </a:solidFill>
              <a:latin typeface="Traditional Arabic" panose="02020603050405020304" pitchFamily="18" charset="-78"/>
              <a:cs typeface="Traditional Arabic" panose="02020603050405020304" pitchFamily="18" charset="-78"/>
            </a:endParaRPr>
          </a:p>
          <a:p>
            <a:pPr algn="ctr"/>
            <a:r>
              <a:rPr lang="ar-SA" sz="2400" b="1" dirty="0">
                <a:solidFill>
                  <a:srgbClr val="FF0000"/>
                </a:solidFill>
                <a:latin typeface="Traditional Arabic" panose="02020603050405020304" pitchFamily="18" charset="-78"/>
                <a:cs typeface="Traditional Arabic" panose="02020603050405020304" pitchFamily="18" charset="-78"/>
              </a:rPr>
              <a:t>الطهارة من الحدث</a:t>
            </a:r>
          </a:p>
          <a:p>
            <a:pPr algn="just"/>
            <a:r>
              <a:rPr lang="ar-SA" sz="2400" b="1" dirty="0">
                <a:solidFill>
                  <a:srgbClr val="FF0000"/>
                </a:solidFill>
                <a:latin typeface="Traditional Arabic" panose="02020603050405020304" pitchFamily="18" charset="-78"/>
                <a:cs typeface="Traditional Arabic" panose="02020603050405020304" pitchFamily="18" charset="-78"/>
              </a:rPr>
              <a:t>لغة</a:t>
            </a:r>
            <a:r>
              <a:rPr lang="ar-SA" sz="2400" dirty="0">
                <a:latin typeface="Traditional Arabic" panose="02020603050405020304" pitchFamily="18" charset="-78"/>
                <a:cs typeface="Traditional Arabic" panose="02020603050405020304" pitchFamily="18" charset="-78"/>
              </a:rPr>
              <a:t>: الشيء الحادث. </a:t>
            </a:r>
            <a:r>
              <a:rPr lang="ar-SA" sz="2400" b="1" dirty="0">
                <a:solidFill>
                  <a:srgbClr val="FF0000"/>
                </a:solidFill>
                <a:latin typeface="Traditional Arabic" panose="02020603050405020304" pitchFamily="18" charset="-78"/>
                <a:cs typeface="Traditional Arabic" panose="02020603050405020304" pitchFamily="18" charset="-78"/>
              </a:rPr>
              <a:t>شرعاً</a:t>
            </a:r>
            <a:r>
              <a:rPr lang="ar-SA" sz="2400" b="1" dirty="0">
                <a:latin typeface="Traditional Arabic" panose="02020603050405020304" pitchFamily="18" charset="-78"/>
                <a:cs typeface="Traditional Arabic" panose="02020603050405020304" pitchFamily="18" charset="-78"/>
              </a:rPr>
              <a:t>:</a:t>
            </a:r>
            <a:r>
              <a:rPr lang="ar-SA" sz="2400" dirty="0">
                <a:latin typeface="Traditional Arabic" panose="02020603050405020304" pitchFamily="18" charset="-78"/>
                <a:cs typeface="Traditional Arabic" panose="02020603050405020304" pitchFamily="18" charset="-78"/>
              </a:rPr>
              <a:t> أمر اعتباري يقوم بالأعضاء يمنع من صحة الصلاة وما في حكمها حيث لا مرخص.</a:t>
            </a:r>
          </a:p>
          <a:p>
            <a:pPr algn="just"/>
            <a:r>
              <a:rPr lang="ar-SA" sz="2400" b="1" dirty="0">
                <a:solidFill>
                  <a:srgbClr val="FF0000"/>
                </a:solidFill>
                <a:latin typeface="Traditional Arabic" panose="02020603050405020304" pitchFamily="18" charset="-78"/>
                <a:cs typeface="Traditional Arabic" panose="02020603050405020304" pitchFamily="18" charset="-78"/>
              </a:rPr>
              <a:t>أقسام</a:t>
            </a:r>
            <a:r>
              <a:rPr lang="ar-SA" sz="2400" b="1" dirty="0">
                <a:latin typeface="Traditional Arabic" panose="02020603050405020304" pitchFamily="18" charset="-78"/>
                <a:cs typeface="Traditional Arabic" panose="02020603050405020304" pitchFamily="18" charset="-78"/>
              </a:rPr>
              <a:t> </a:t>
            </a:r>
            <a:r>
              <a:rPr lang="ar-SA" sz="2400" b="1" dirty="0">
                <a:solidFill>
                  <a:srgbClr val="FF0000"/>
                </a:solidFill>
                <a:latin typeface="Traditional Arabic" panose="02020603050405020304" pitchFamily="18" charset="-78"/>
                <a:cs typeface="Traditional Arabic" panose="02020603050405020304" pitchFamily="18" charset="-78"/>
              </a:rPr>
              <a:t>الحدث</a:t>
            </a:r>
            <a:r>
              <a:rPr lang="ar-SA" sz="2400" b="1" dirty="0">
                <a:latin typeface="Traditional Arabic" panose="02020603050405020304" pitchFamily="18" charset="-78"/>
                <a:cs typeface="Traditional Arabic" panose="02020603050405020304" pitchFamily="18" charset="-78"/>
              </a:rPr>
              <a:t>: </a:t>
            </a:r>
          </a:p>
          <a:p>
            <a:pPr algn="just"/>
            <a:r>
              <a:rPr lang="ar-SA" sz="2400" b="1" dirty="0">
                <a:solidFill>
                  <a:srgbClr val="FF0000"/>
                </a:solidFill>
                <a:latin typeface="Traditional Arabic" panose="02020603050405020304" pitchFamily="18" charset="-78"/>
                <a:cs typeface="Traditional Arabic" panose="02020603050405020304" pitchFamily="18" charset="-78"/>
              </a:rPr>
              <a:t>الحدث الأصغر: </a:t>
            </a:r>
            <a:r>
              <a:rPr lang="ar-SA" sz="2400" dirty="0">
                <a:latin typeface="Traditional Arabic" panose="02020603050405020304" pitchFamily="18" charset="-78"/>
                <a:cs typeface="Traditional Arabic" panose="02020603050405020304" pitchFamily="18" charset="-78"/>
              </a:rPr>
              <a:t>أمر اعتباري يقوم بأعضاء الوضوء فيمنع من صحة الصلاة، ويرفع بالوضوء</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الحدث الأكبر: </a:t>
            </a:r>
            <a:r>
              <a:rPr lang="ar-SA" sz="2400" dirty="0">
                <a:latin typeface="Traditional Arabic" panose="02020603050405020304" pitchFamily="18" charset="-78"/>
                <a:cs typeface="Traditional Arabic" panose="02020603050405020304" pitchFamily="18" charset="-78"/>
              </a:rPr>
              <a:t>امر اعتباري يقوم بالجسد كله، فيمنع من صحة الصلاة وما في حكمها، ويرفع بالغسل.</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الوضوء</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لغة: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 الوضاءة والحسن والبهجة.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شرعاً: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استعمال الماء في أعضاء معينة مع النية. والوَضوء اسم للماء الذي يتوضأ به.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فروض الوضوء:</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1F1F1F"/>
                </a:solidFill>
                <a:effectLst/>
                <a:uLnTx/>
                <a:uFillTx/>
                <a:latin typeface="Traditional Arabic" panose="02020603050405020304" pitchFamily="18" charset="-78"/>
                <a:ea typeface="+mn-ea"/>
                <a:cs typeface="Traditional Arabic" panose="02020603050405020304" pitchFamily="18" charset="-78"/>
              </a:rPr>
              <a:t>يا أيها الذين آمنوا إذا قمتم إلى الصلاة </a:t>
            </a:r>
            <a:r>
              <a:rPr kumimoji="0" lang="ar-SA" sz="2400" b="0" i="0" u="none" strike="noStrike" kern="1200" cap="none" spc="0" normalizeH="0" baseline="0" noProof="0" dirty="0">
                <a:ln>
                  <a:noFill/>
                </a:ln>
                <a:solidFill>
                  <a:srgbClr val="040C28"/>
                </a:solidFill>
                <a:effectLst/>
                <a:uLnTx/>
                <a:uFillTx/>
                <a:latin typeface="Traditional Arabic" panose="02020603050405020304" pitchFamily="18" charset="-78"/>
                <a:ea typeface="+mn-ea"/>
                <a:cs typeface="Traditional Arabic" panose="02020603050405020304" pitchFamily="18" charset="-78"/>
              </a:rPr>
              <a:t>فاغسلوا وجوهكم وأيديكم إلى المرافق وامسحوا برءوسكم وأرجلكم إلى الكعبين.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b="0" i="0" u="none" strike="noStrike" kern="1200" cap="none" spc="0" normalizeH="0" baseline="0" noProof="0" dirty="0">
                <a:ln>
                  <a:noFill/>
                </a:ln>
                <a:solidFill>
                  <a:srgbClr val="040C28"/>
                </a:solidFill>
                <a:effectLst/>
                <a:uLnTx/>
                <a:uFillTx/>
                <a:latin typeface="Traditional Arabic" panose="02020603050405020304" pitchFamily="18" charset="-78"/>
                <a:ea typeface="+mn-ea"/>
                <a:cs typeface="Traditional Arabic" panose="02020603050405020304" pitchFamily="18" charset="-78"/>
              </a:rPr>
              <a:t>-</a:t>
            </a:r>
            <a:r>
              <a:rPr kumimoji="0" lang="ar-SA" sz="2400" b="0" i="0" u="none" strike="noStrike" kern="1200" cap="none" spc="0" normalizeH="0" baseline="0" noProof="0" dirty="0">
                <a:ln>
                  <a:noFill/>
                </a:ln>
                <a:solidFill>
                  <a:srgbClr val="1F1F1F"/>
                </a:solidFill>
                <a:effectLst/>
                <a:uLnTx/>
                <a:uFillTx/>
                <a:latin typeface="Traditional Arabic" panose="02020603050405020304" pitchFamily="18" charset="-78"/>
                <a:ea typeface="+mn-ea"/>
                <a:cs typeface="Traditional Arabic" panose="02020603050405020304" pitchFamily="18" charset="-78"/>
              </a:rPr>
              <a:t> النية: ومعناها قصد الشيء مقروناً بفعله، ولا تصح العبادة إلا بالنية، ومحلها القلب ويسن التلفظ بها. ووقتها عند غسل أول جزء من الوجه.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b="0" i="0" u="none" strike="noStrike" kern="1200" cap="none" spc="0" normalizeH="0" baseline="0" noProof="0" dirty="0">
                <a:ln>
                  <a:noFill/>
                </a:ln>
                <a:solidFill>
                  <a:srgbClr val="1F1F1F"/>
                </a:solidFill>
                <a:effectLst/>
                <a:uLnTx/>
                <a:uFillTx/>
                <a:latin typeface="Traditional Arabic" panose="02020603050405020304" pitchFamily="18" charset="-78"/>
                <a:ea typeface="+mn-ea"/>
                <a:cs typeface="Traditional Arabic" panose="02020603050405020304" pitchFamily="18" charset="-78"/>
              </a:rPr>
              <a:t>- غسل جميع الوجه.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b="0" i="0" u="none" strike="noStrike" kern="1200" cap="none" spc="0" normalizeH="0" baseline="0" noProof="0" dirty="0">
                <a:ln>
                  <a:noFill/>
                </a:ln>
                <a:solidFill>
                  <a:srgbClr val="1F1F1F"/>
                </a:solidFill>
                <a:effectLst/>
                <a:uLnTx/>
                <a:uFillTx/>
                <a:latin typeface="Traditional Arabic" panose="02020603050405020304" pitchFamily="18" charset="-78"/>
                <a:ea typeface="+mn-ea"/>
                <a:cs typeface="Traditional Arabic" panose="02020603050405020304" pitchFamily="18" charset="-78"/>
              </a:rPr>
              <a:t>-غسل اليدين مع المرفقين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4-</a:t>
            </a:r>
            <a:r>
              <a:rPr kumimoji="0" lang="ar-SA" sz="2400" b="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مسح </a:t>
            </a:r>
            <a:r>
              <a:rPr kumimoji="0" lang="ar-SA" sz="2400" b="0" i="0" u="none" strike="noStrike" kern="1200" cap="none" spc="0" normalizeH="0" baseline="0" noProof="0" dirty="0">
                <a:ln>
                  <a:noFill/>
                </a:ln>
                <a:solidFill>
                  <a:srgbClr val="1F1F1F"/>
                </a:solidFill>
                <a:effectLst/>
                <a:uLnTx/>
                <a:uFillTx/>
                <a:latin typeface="Traditional Arabic" panose="02020603050405020304" pitchFamily="18" charset="-78"/>
                <a:ea typeface="+mn-ea"/>
                <a:cs typeface="Traditional Arabic" panose="02020603050405020304" pitchFamily="18" charset="-78"/>
              </a:rPr>
              <a:t>بعض الرأس. وامسحوا برؤوسكم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5</a:t>
            </a:r>
            <a:r>
              <a:rPr kumimoji="0" lang="ar-SA" sz="2400" b="0" i="0" u="none" strike="noStrike" kern="1200" cap="none" spc="0" normalizeH="0" baseline="0" noProof="0" dirty="0">
                <a:ln>
                  <a:noFill/>
                </a:ln>
                <a:solidFill>
                  <a:srgbClr val="1F1F1F"/>
                </a:solidFill>
                <a:effectLst/>
                <a:uLnTx/>
                <a:uFillTx/>
                <a:latin typeface="Traditional Arabic" panose="02020603050405020304" pitchFamily="18" charset="-78"/>
                <a:ea typeface="+mn-ea"/>
                <a:cs typeface="Traditional Arabic" panose="02020603050405020304" pitchFamily="18" charset="-78"/>
              </a:rPr>
              <a:t>- غسل الرجلين مع الكعبين.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6</a:t>
            </a:r>
            <a:r>
              <a:rPr kumimoji="0" lang="ar-SA" sz="2400" b="0" i="0" u="none" strike="noStrike" kern="1200" cap="none" spc="0" normalizeH="0" baseline="0" noProof="0" dirty="0">
                <a:ln>
                  <a:noFill/>
                </a:ln>
                <a:solidFill>
                  <a:srgbClr val="1F1F1F"/>
                </a:solidFill>
                <a:effectLst/>
                <a:uLnTx/>
                <a:uFillTx/>
                <a:latin typeface="Traditional Arabic" panose="02020603050405020304" pitchFamily="18" charset="-78"/>
                <a:ea typeface="+mn-ea"/>
                <a:cs typeface="Traditional Arabic" panose="02020603050405020304" pitchFamily="18" charset="-78"/>
              </a:rPr>
              <a:t>- الترتيب، والدليل فعل النبي</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ﷺ</a:t>
            </a:r>
            <a:r>
              <a:rPr kumimoji="0" lang="ar-SA" sz="2400" b="0" i="0" u="none" strike="noStrike" kern="1200" cap="none" spc="0" normalizeH="0" baseline="0" noProof="0" dirty="0">
                <a:ln>
                  <a:noFill/>
                </a:ln>
                <a:solidFill>
                  <a:srgbClr val="1F1F1F"/>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سنن الوضوء:</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1F1F1F"/>
                </a:solidFill>
                <a:effectLst/>
                <a:uLnTx/>
                <a:uFillTx/>
                <a:latin typeface="Traditional Arabic" panose="02020603050405020304" pitchFamily="18" charset="-78"/>
                <a:ea typeface="+mn-ea"/>
                <a:cs typeface="Traditional Arabic" panose="02020603050405020304" pitchFamily="18" charset="-78"/>
              </a:rPr>
              <a:t>1-التسمية 2- غسل الكفين ثلاثاً قبل إدخالهما الإناء. 3- استعمال السواك 4- </a:t>
            </a:r>
            <a:r>
              <a:rPr kumimoji="0" lang="ar-SA" sz="2400" b="0" i="0" u="none" strike="noStrike" kern="1200" cap="none" spc="0" normalizeH="0" baseline="0" noProof="0" dirty="0" err="1">
                <a:ln>
                  <a:noFill/>
                </a:ln>
                <a:solidFill>
                  <a:srgbClr val="1F1F1F"/>
                </a:solidFill>
                <a:effectLst/>
                <a:uLnTx/>
                <a:uFillTx/>
                <a:latin typeface="Traditional Arabic" panose="02020603050405020304" pitchFamily="18" charset="-78"/>
                <a:ea typeface="+mn-ea"/>
                <a:cs typeface="Traditional Arabic" panose="02020603050405020304" pitchFamily="18" charset="-78"/>
              </a:rPr>
              <a:t>المضممة</a:t>
            </a:r>
            <a:r>
              <a:rPr kumimoji="0" lang="ar-SA" sz="2400" b="0" i="0" u="none" strike="noStrike" kern="1200" cap="none" spc="0" normalizeH="0" baseline="0" noProof="0" dirty="0">
                <a:ln>
                  <a:noFill/>
                </a:ln>
                <a:solidFill>
                  <a:srgbClr val="1F1F1F"/>
                </a:solidFill>
                <a:effectLst/>
                <a:uLnTx/>
                <a:uFillTx/>
                <a:latin typeface="Traditional Arabic" panose="02020603050405020304" pitchFamily="18" charset="-78"/>
                <a:ea typeface="+mn-ea"/>
                <a:cs typeface="Traditional Arabic" panose="02020603050405020304" pitchFamily="18" charset="-78"/>
              </a:rPr>
              <a:t> والاستنشاق باليد اليمنى والاستنثار باليسرى.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1F1F1F"/>
                </a:solidFill>
                <a:effectLst/>
                <a:uLnTx/>
                <a:uFillTx/>
                <a:latin typeface="Traditional Arabic" panose="02020603050405020304" pitchFamily="18" charset="-78"/>
                <a:ea typeface="+mn-ea"/>
                <a:cs typeface="Traditional Arabic" panose="02020603050405020304" pitchFamily="18" charset="-78"/>
              </a:rPr>
              <a:t>5- تخليل اللحية. 6- مسح جميع الرأس. 7-تخليل ما بين أصابع اليدين والرجلين. 8- مسح الأذنيين. 9- التثليث في الفرائض والسنن.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1F1F1F"/>
                </a:solidFill>
                <a:effectLst/>
                <a:uLnTx/>
                <a:uFillTx/>
                <a:latin typeface="Traditional Arabic" panose="02020603050405020304" pitchFamily="18" charset="-78"/>
                <a:ea typeface="+mn-ea"/>
                <a:cs typeface="Traditional Arabic" panose="02020603050405020304" pitchFamily="18" charset="-78"/>
              </a:rPr>
              <a:t>10 تقديم اليمين على اليسار في اليدين والرجلين. 11- الدلك. 12- المولاة 13- إطالة الغرة والتحجيل.14- الاعتدال في الماء دون سرف أو تقتير. 15- استقبال القبلة. 16- ألا يتكلم أثناء الوضوء. 17- التشهد عند </a:t>
            </a:r>
            <a:r>
              <a:rPr kumimoji="0" lang="ar-SA" sz="2400" b="0" i="0" u="none" strike="noStrike" kern="1200" cap="none" spc="0" normalizeH="0" baseline="0" noProof="0" dirty="0" err="1">
                <a:ln>
                  <a:noFill/>
                </a:ln>
                <a:solidFill>
                  <a:srgbClr val="1F1F1F"/>
                </a:solidFill>
                <a:effectLst/>
                <a:uLnTx/>
                <a:uFillTx/>
                <a:latin typeface="Traditional Arabic" panose="02020603050405020304" pitchFamily="18" charset="-78"/>
                <a:ea typeface="+mn-ea"/>
                <a:cs typeface="Traditional Arabic" panose="02020603050405020304" pitchFamily="18" charset="-78"/>
              </a:rPr>
              <a:t>الانتهاء.والدعاء</a:t>
            </a:r>
            <a:r>
              <a:rPr kumimoji="0" lang="ar-SA" sz="2400" b="0" i="0" u="none" strike="noStrike" kern="1200" cap="none" spc="0" normalizeH="0" baseline="0" noProof="0" dirty="0">
                <a:ln>
                  <a:noFill/>
                </a:ln>
                <a:solidFill>
                  <a:srgbClr val="1F1F1F"/>
                </a:solidFill>
                <a:effectLst/>
                <a:uLnTx/>
                <a:uFillTx/>
                <a:latin typeface="Traditional Arabic" panose="02020603050405020304" pitchFamily="18" charset="-78"/>
                <a:ea typeface="+mn-ea"/>
                <a:cs typeface="Traditional Arabic" panose="02020603050405020304" pitchFamily="18" charset="-78"/>
              </a:rPr>
              <a:t>، اللهم اجعلني من التوابين واجعلني من المتطهرين.</a:t>
            </a:r>
          </a:p>
          <a:p>
            <a:pPr algn="just"/>
            <a:endParaRPr lang="ar-SA" sz="2400"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2142473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A5AAE5C6-B65C-647F-CB40-4F220F5BB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1BDC29D3-E039-BBE0-387E-21EB0304129B}"/>
              </a:ext>
            </a:extLst>
          </p:cNvPr>
          <p:cNvSpPr/>
          <p:nvPr/>
        </p:nvSpPr>
        <p:spPr>
          <a:xfrm>
            <a:off x="319016" y="134754"/>
            <a:ext cx="11799190" cy="6436643"/>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endParaRPr lang="ar-SA" sz="2400" b="1" dirty="0">
              <a:solidFill>
                <a:srgbClr val="FF0000"/>
              </a:solidFill>
              <a:latin typeface="Traditional Arabic" panose="02020603050405020304" pitchFamily="18" charset="-78"/>
              <a:cs typeface="Traditional Arabic" panose="02020603050405020304" pitchFamily="18" charset="-78"/>
            </a:endParaRPr>
          </a:p>
          <a:p>
            <a:r>
              <a:rPr lang="ar-SA" sz="2400" b="1" dirty="0">
                <a:solidFill>
                  <a:srgbClr val="FF0000"/>
                </a:solidFill>
                <a:latin typeface="Traditional Arabic" panose="02020603050405020304" pitchFamily="18" charset="-78"/>
                <a:cs typeface="Traditional Arabic" panose="02020603050405020304" pitchFamily="18" charset="-78"/>
              </a:rPr>
              <a:t>مكروهات الوضوء: </a:t>
            </a:r>
          </a:p>
          <a:p>
            <a:r>
              <a:rPr lang="ar-SA" sz="2400" dirty="0">
                <a:latin typeface="Traditional Arabic" panose="02020603050405020304" pitchFamily="18" charset="-78"/>
                <a:cs typeface="Traditional Arabic" panose="02020603050405020304" pitchFamily="18" charset="-78"/>
              </a:rPr>
              <a:t>1- الإسراف في الماء. 2-تقديم اليسرى على اليمنى. 3-التنشيف. 4- ضرب الوجه بالماء. 5- الزيادة على الثلاثة في المسح أو الغسل. </a:t>
            </a:r>
          </a:p>
          <a:p>
            <a:r>
              <a:rPr lang="ar-SA" sz="2400" dirty="0">
                <a:latin typeface="Traditional Arabic" panose="02020603050405020304" pitchFamily="18" charset="-78"/>
                <a:cs typeface="Traditional Arabic" panose="02020603050405020304" pitchFamily="18" charset="-78"/>
              </a:rPr>
              <a:t>6- الاستعانة بالغير من غير عذر. 7- المبالغة في </a:t>
            </a:r>
            <a:r>
              <a:rPr lang="ar-SA" sz="2400" dirty="0" err="1">
                <a:latin typeface="Traditional Arabic" panose="02020603050405020304" pitchFamily="18" charset="-78"/>
                <a:cs typeface="Traditional Arabic" panose="02020603050405020304" pitchFamily="18" charset="-78"/>
              </a:rPr>
              <a:t>المضممة</a:t>
            </a:r>
            <a:r>
              <a:rPr lang="ar-SA" sz="2400" dirty="0">
                <a:latin typeface="Traditional Arabic" panose="02020603050405020304" pitchFamily="18" charset="-78"/>
                <a:cs typeface="Traditional Arabic" panose="02020603050405020304" pitchFamily="18" charset="-78"/>
              </a:rPr>
              <a:t> والاستنشاق للصائم. </a:t>
            </a:r>
          </a:p>
          <a:p>
            <a:r>
              <a:rPr lang="ar-SA" sz="2400" b="1" dirty="0">
                <a:solidFill>
                  <a:srgbClr val="FF0000"/>
                </a:solidFill>
                <a:latin typeface="Traditional Arabic" panose="02020603050405020304" pitchFamily="18" charset="-78"/>
                <a:cs typeface="Traditional Arabic" panose="02020603050405020304" pitchFamily="18" charset="-78"/>
              </a:rPr>
              <a:t>نواقض الوضوء:</a:t>
            </a:r>
          </a:p>
          <a:p>
            <a:r>
              <a:rPr lang="ar-SA" sz="2400" dirty="0">
                <a:solidFill>
                  <a:srgbClr val="FF0000"/>
                </a:solidFill>
                <a:latin typeface="Traditional Arabic" panose="02020603050405020304" pitchFamily="18" charset="-78"/>
                <a:cs typeface="Traditional Arabic" panose="02020603050405020304" pitchFamily="18" charset="-78"/>
              </a:rPr>
              <a:t>1-</a:t>
            </a:r>
            <a:r>
              <a:rPr lang="ar-SA" sz="2400" dirty="0">
                <a:latin typeface="Traditional Arabic" panose="02020603050405020304" pitchFamily="18" charset="-78"/>
                <a:cs typeface="Traditional Arabic" panose="02020603050405020304" pitchFamily="18" charset="-78"/>
              </a:rPr>
              <a:t> كل ما خرج من السبيلين من بول أو غائط أو دم وريح. </a:t>
            </a:r>
            <a:r>
              <a:rPr lang="ar-SA" sz="2400" dirty="0">
                <a:solidFill>
                  <a:srgbClr val="FF0000"/>
                </a:solidFill>
                <a:latin typeface="Traditional Arabic" panose="02020603050405020304" pitchFamily="18" charset="-78"/>
                <a:cs typeface="Traditional Arabic" panose="02020603050405020304" pitchFamily="18" charset="-78"/>
              </a:rPr>
              <a:t>2-</a:t>
            </a:r>
            <a:r>
              <a:rPr lang="ar-SA" sz="2400" dirty="0">
                <a:latin typeface="Traditional Arabic" panose="02020603050405020304" pitchFamily="18" charset="-78"/>
                <a:cs typeface="Traditional Arabic" panose="02020603050405020304" pitchFamily="18" charset="-78"/>
              </a:rPr>
              <a:t>النوم غير المتمكن. </a:t>
            </a:r>
            <a:r>
              <a:rPr lang="ar-SA" sz="2400" dirty="0">
                <a:solidFill>
                  <a:srgbClr val="FF0000"/>
                </a:solidFill>
                <a:latin typeface="Traditional Arabic" panose="02020603050405020304" pitchFamily="18" charset="-78"/>
                <a:cs typeface="Traditional Arabic" panose="02020603050405020304" pitchFamily="18" charset="-78"/>
              </a:rPr>
              <a:t>3-</a:t>
            </a:r>
            <a:r>
              <a:rPr lang="ar-SA" sz="2400" dirty="0">
                <a:latin typeface="Traditional Arabic" panose="02020603050405020304" pitchFamily="18" charset="-78"/>
                <a:cs typeface="Traditional Arabic" panose="02020603050405020304" pitchFamily="18" charset="-78"/>
              </a:rPr>
              <a:t>زوال العقل بسكر أو إغماء أو جنون أو مرض.</a:t>
            </a:r>
          </a:p>
          <a:p>
            <a:r>
              <a:rPr lang="ar-SA" sz="2400" dirty="0">
                <a:solidFill>
                  <a:srgbClr val="FF0000"/>
                </a:solidFill>
                <a:latin typeface="Traditional Arabic" panose="02020603050405020304" pitchFamily="18" charset="-78"/>
                <a:cs typeface="Traditional Arabic" panose="02020603050405020304" pitchFamily="18" charset="-78"/>
              </a:rPr>
              <a:t>4-</a:t>
            </a:r>
            <a:r>
              <a:rPr lang="ar-SA" sz="2400" dirty="0">
                <a:latin typeface="Traditional Arabic" panose="02020603050405020304" pitchFamily="18" charset="-78"/>
                <a:cs typeface="Traditional Arabic" panose="02020603050405020304" pitchFamily="18" charset="-78"/>
              </a:rPr>
              <a:t> لمس الرجل زوجته أو المرأة الأجنبة.</a:t>
            </a:r>
            <a:r>
              <a:rPr lang="ar-SA" sz="2400" dirty="0">
                <a:solidFill>
                  <a:srgbClr val="FF0000"/>
                </a:solidFill>
                <a:latin typeface="Traditional Arabic" panose="02020603050405020304" pitchFamily="18" charset="-78"/>
                <a:cs typeface="Traditional Arabic" panose="02020603050405020304" pitchFamily="18" charset="-78"/>
              </a:rPr>
              <a:t>5-</a:t>
            </a:r>
            <a:r>
              <a:rPr lang="ar-SA" sz="2400" dirty="0">
                <a:latin typeface="Traditional Arabic" panose="02020603050405020304" pitchFamily="18" charset="-78"/>
                <a:cs typeface="Traditional Arabic" panose="02020603050405020304" pitchFamily="18" charset="-78"/>
              </a:rPr>
              <a:t> مس الفرج من نفسه أو غيره من غير حائل.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الأمور التي يشترط لها الوضوء</a:t>
            </a:r>
            <a:r>
              <a:rPr lang="ar-SA" sz="2400" b="1" dirty="0">
                <a:latin typeface="Traditional Arabic" panose="02020603050405020304" pitchFamily="18" charset="-78"/>
                <a:cs typeface="Traditional Arabic" panose="02020603050405020304" pitchFamily="18" charset="-78"/>
              </a:rPr>
              <a:t>: </a:t>
            </a:r>
            <a:r>
              <a:rPr lang="ar-SA" sz="2400" dirty="0">
                <a:latin typeface="Traditional Arabic" panose="02020603050405020304" pitchFamily="18" charset="-78"/>
                <a:cs typeface="Traditional Arabic" panose="02020603050405020304" pitchFamily="18" charset="-78"/>
              </a:rPr>
              <a:t>1-الصلاة. 2- الطواف حول الكعبة 3- مس المصحف أو حمله.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المسح على الخفين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وهما الحذاءان الساتران للكعبين.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المسح عليهما</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رخصة جائزة.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المسح عليهما: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 أن يلبسا بعد وضوء كامل. 2- أن يكونا ساترين للكعبين. 3- أن يمنعا نفوذ الماء.4- أن يكونا قويين يمكن تتابع المشي عليهما يوم وليلة للمقيم وثلاثة أيام للمسافر. 5- أن يكونا طاهرين.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مدة المسح عليهما: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يوم وليلة للمقيم وثلاثة أيام للمسافر. 2- من بدأ بالمسح في الحضر ثم سافر مسح يوم وليلة.  3- ومن بدأ المسح في السفر ثم أقام مسح يوم وليلة.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متى تبدأ مدة المسح: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 الحدث بعد لبس الخفين.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كيفية المسح عليهما: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الفرض أن يمسح شيئاً ولو قل من أعلى الخف، ويسن مسح أعلاه وأسفله خطوطاً.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مبطلات المسح: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 خلع الخفين أو أحدهما. 2-انقضاء مدة المسح، وفي حال كان متوضأ يغسل رجليه.3- حدوث ما يوجب الغسل.</a:t>
            </a:r>
          </a:p>
          <a:p>
            <a:pPr algn="just"/>
            <a:r>
              <a:rPr lang="ar-SA" sz="2400" dirty="0">
                <a:latin typeface="Traditional Arabic" panose="02020603050405020304" pitchFamily="18" charset="-78"/>
                <a:cs typeface="Traditional Arabic" panose="02020603050405020304" pitchFamily="18" charset="-78"/>
              </a:rPr>
              <a:t> </a:t>
            </a:r>
          </a:p>
        </p:txBody>
      </p:sp>
    </p:spTree>
    <p:extLst>
      <p:ext uri="{BB962C8B-B14F-4D97-AF65-F5344CB8AC3E}">
        <p14:creationId xmlns:p14="http://schemas.microsoft.com/office/powerpoint/2010/main" val="1145760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A9929-8968-A718-6638-2CC90FD71F80}"/>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5278477A-6E95-A9A8-4E8D-8EDE2BA4D0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5D618648-CF40-E337-11CB-E6887303E753}"/>
              </a:ext>
            </a:extLst>
          </p:cNvPr>
          <p:cNvSpPr/>
          <p:nvPr/>
        </p:nvSpPr>
        <p:spPr>
          <a:xfrm>
            <a:off x="115503" y="1"/>
            <a:ext cx="11935325" cy="6554804"/>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algn="ctr"/>
            <a:r>
              <a:rPr lang="ar-SA" sz="2400" b="1" dirty="0">
                <a:latin typeface="Traditional Arabic" panose="02020603050405020304" pitchFamily="18" charset="-78"/>
                <a:cs typeface="Traditional Arabic" panose="02020603050405020304" pitchFamily="18" charset="-78"/>
              </a:rPr>
              <a:t>الجبائر والعصائب</a:t>
            </a:r>
          </a:p>
          <a:p>
            <a:r>
              <a:rPr lang="ar-SA" sz="2400" b="1" dirty="0">
                <a:solidFill>
                  <a:srgbClr val="FF0000"/>
                </a:solidFill>
                <a:latin typeface="Traditional Arabic" panose="02020603050405020304" pitchFamily="18" charset="-78"/>
                <a:cs typeface="Traditional Arabic" panose="02020603050405020304" pitchFamily="18" charset="-78"/>
              </a:rPr>
              <a:t>الجبائر: </a:t>
            </a:r>
            <a:r>
              <a:rPr lang="ar-SA" sz="2400" dirty="0">
                <a:latin typeface="Traditional Arabic" panose="02020603050405020304" pitchFamily="18" charset="-78"/>
                <a:cs typeface="Traditional Arabic" panose="02020603050405020304" pitchFamily="18" charset="-78"/>
              </a:rPr>
              <a:t>رباط يوضع على العضو المكسور ليجبر. </a:t>
            </a:r>
            <a:r>
              <a:rPr lang="ar-SA" sz="2400" b="1" dirty="0">
                <a:solidFill>
                  <a:srgbClr val="FF0000"/>
                </a:solidFill>
                <a:latin typeface="Traditional Arabic" panose="02020603050405020304" pitchFamily="18" charset="-78"/>
                <a:cs typeface="Traditional Arabic" panose="02020603050405020304" pitchFamily="18" charset="-78"/>
              </a:rPr>
              <a:t>العصائب: </a:t>
            </a:r>
            <a:r>
              <a:rPr lang="ar-SA" sz="2400" dirty="0">
                <a:latin typeface="Traditional Arabic" panose="02020603050405020304" pitchFamily="18" charset="-78"/>
                <a:cs typeface="Traditional Arabic" panose="02020603050405020304" pitchFamily="18" charset="-78"/>
              </a:rPr>
              <a:t>رباط يوضع على الجرح ليحفظه من الاوساخ حتى يبرأ.</a:t>
            </a:r>
          </a:p>
          <a:p>
            <a:r>
              <a:rPr lang="ar-SA" sz="2400" b="1" dirty="0">
                <a:solidFill>
                  <a:srgbClr val="FF0000"/>
                </a:solidFill>
                <a:latin typeface="Traditional Arabic" panose="02020603050405020304" pitchFamily="18" charset="-78"/>
                <a:cs typeface="Traditional Arabic" panose="02020603050405020304" pitchFamily="18" charset="-78"/>
              </a:rPr>
              <a:t>أحكامهما: </a:t>
            </a:r>
            <a:r>
              <a:rPr lang="ar-SA" sz="2400" dirty="0">
                <a:latin typeface="Traditional Arabic" panose="02020603050405020304" pitchFamily="18" charset="-78"/>
                <a:cs typeface="Traditional Arabic" panose="02020603050405020304" pitchFamily="18" charset="-78"/>
              </a:rPr>
              <a:t>1- أن يغسل  السليم من العضو المصاب. 2- أن يمسح على الرباط أو الجبيرة كلها. 3- أن يتمم بدل غسل الجزء المريض عند وصوله إليه بالوضوء, ويجب إعادة التيمم لكل  لصلاة فرض وإن لم يحدث. </a:t>
            </a:r>
          </a:p>
          <a:p>
            <a:r>
              <a:rPr lang="ar-SA" sz="2400" b="1" dirty="0">
                <a:solidFill>
                  <a:srgbClr val="FF0000"/>
                </a:solidFill>
                <a:latin typeface="Traditional Arabic" panose="02020603050405020304" pitchFamily="18" charset="-78"/>
                <a:cs typeface="Traditional Arabic" panose="02020603050405020304" pitchFamily="18" charset="-78"/>
              </a:rPr>
              <a:t>مدة المسح: </a:t>
            </a:r>
            <a:r>
              <a:rPr lang="ar-SA" sz="2400" dirty="0">
                <a:latin typeface="Traditional Arabic" panose="02020603050405020304" pitchFamily="18" charset="-78"/>
                <a:cs typeface="Traditional Arabic" panose="02020603050405020304" pitchFamily="18" charset="-78"/>
              </a:rPr>
              <a:t>ليس لها مدة معينة، يمسح مادام العذر موجوداً. </a:t>
            </a:r>
          </a:p>
          <a:p>
            <a:r>
              <a:rPr lang="ar-SA" sz="2400" b="1" dirty="0">
                <a:solidFill>
                  <a:srgbClr val="FF0000"/>
                </a:solidFill>
                <a:latin typeface="Traditional Arabic" panose="02020603050405020304" pitchFamily="18" charset="-78"/>
                <a:cs typeface="Traditional Arabic" panose="02020603050405020304" pitchFamily="18" charset="-78"/>
              </a:rPr>
              <a:t>يجب القضاء في المواضع التالية:</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latin typeface="Traditional Arabic" panose="02020603050405020304" pitchFamily="18" charset="-78"/>
                <a:cs typeface="Traditional Arabic" panose="02020603050405020304" pitchFamily="18" charset="-78"/>
              </a:rPr>
              <a:t>1-إذا وضعهما على غير طهور وتعذر نزعهما. 2- إذا كانت في أعضاء التيمم: الوجه والكفين. 3-إذا أخذت من الصحيح أكثر من قدر </a:t>
            </a:r>
            <a:r>
              <a:rPr lang="ar-SA" sz="2400" dirty="0" err="1">
                <a:latin typeface="Traditional Arabic" panose="02020603050405020304" pitchFamily="18" charset="-78"/>
                <a:cs typeface="Traditional Arabic" panose="02020603050405020304" pitchFamily="18" charset="-78"/>
              </a:rPr>
              <a:t>الاستمساك</a:t>
            </a:r>
            <a:r>
              <a:rPr lang="ar-SA" sz="2400" dirty="0">
                <a:latin typeface="Traditional Arabic" panose="02020603050405020304" pitchFamily="18" charset="-78"/>
                <a:cs typeface="Traditional Arabic" panose="02020603050405020304" pitchFamily="18" charset="-78"/>
              </a:rPr>
              <a:t>.</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الغسل وأحكامه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معناه: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سيلان الماء على الشيء أياً كان.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شرعاً: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جريان الماء على البدن بنية مخصوصة.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أقسام الغسل</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مفروض – مندوب</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الغسل المفروض: وأسبابه: الجنابة والحيض والولادة والموت</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1-الجنابة: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البعد. والجنب: غير الطاهر من إنزال أو جماع، سمي بذلك لأنه بالجنابة بعد عن أداء الصلاة مادام على هذه الحالة.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أسبابها:</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-إنزال المني من الرجل أو المرأة سواء كان </a:t>
            </a:r>
            <a:r>
              <a:rPr kumimoji="0" lang="ar-SA" sz="2400" b="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بالإحتلام</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أو مداعبة أو نظر أو فكر.</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الجماع ولو من غير نزول، إذا جلس بين شعبها الأربع ثم جهدها فقد وجب عليه الغسل. وفي رواية وإن لم ينزل.</a:t>
            </a:r>
          </a:p>
          <a:p>
            <a:endParaRPr lang="ar-SA" sz="2400"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265178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DBCD0-2531-D3BD-90C4-5BA05E212875}"/>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AD28E515-539A-1EAB-F311-4478B9F82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5660"/>
            <a:ext cx="12192000" cy="6858000"/>
          </a:xfrm>
          <a:prstGeom prst="rect">
            <a:avLst/>
          </a:prstGeom>
        </p:spPr>
      </p:pic>
      <p:sp>
        <p:nvSpPr>
          <p:cNvPr id="4" name="مستطيل: زوايا مستديرة 3">
            <a:extLst>
              <a:ext uri="{FF2B5EF4-FFF2-40B4-BE49-F238E27FC236}">
                <a16:creationId xmlns:a16="http://schemas.microsoft.com/office/drawing/2014/main" id="{C14BC35D-1552-2CE9-3320-7586C7D0180B}"/>
              </a:ext>
            </a:extLst>
          </p:cNvPr>
          <p:cNvSpPr/>
          <p:nvPr/>
        </p:nvSpPr>
        <p:spPr>
          <a:xfrm>
            <a:off x="0" y="4740"/>
            <a:ext cx="11973828" cy="6607600"/>
          </a:xfrm>
          <a:prstGeom prst="roundRect">
            <a:avLst>
              <a:gd name="adj" fmla="val 16891"/>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endParaRPr lang="ar-SA" sz="2400" b="1" dirty="0">
              <a:solidFill>
                <a:srgbClr val="FF0000"/>
              </a:solidFill>
              <a:latin typeface="Traditional Arabic" panose="02020603050405020304" pitchFamily="18" charset="-78"/>
              <a:cs typeface="Traditional Arabic" panose="02020603050405020304" pitchFamily="18" charset="-78"/>
            </a:endParaRPr>
          </a:p>
          <a:p>
            <a:endParaRPr lang="ar-SA" sz="2400" b="1" dirty="0">
              <a:solidFill>
                <a:srgbClr val="FF0000"/>
              </a:solidFill>
              <a:latin typeface="Traditional Arabic" panose="02020603050405020304" pitchFamily="18" charset="-78"/>
              <a:cs typeface="Traditional Arabic" panose="02020603050405020304" pitchFamily="18" charset="-78"/>
            </a:endParaRPr>
          </a:p>
          <a:p>
            <a:endParaRPr lang="ar-SA" sz="2400" b="1" dirty="0">
              <a:solidFill>
                <a:srgbClr val="FF0000"/>
              </a:solidFill>
              <a:latin typeface="Traditional Arabic" panose="02020603050405020304" pitchFamily="18" charset="-78"/>
              <a:cs typeface="Traditional Arabic" panose="02020603050405020304" pitchFamily="18" charset="-78"/>
            </a:endParaRPr>
          </a:p>
          <a:p>
            <a:r>
              <a:rPr lang="ar-SA" sz="2400" b="1" dirty="0">
                <a:solidFill>
                  <a:srgbClr val="FF0000"/>
                </a:solidFill>
                <a:latin typeface="Traditional Arabic" panose="02020603050405020304" pitchFamily="18" charset="-78"/>
                <a:cs typeface="Traditional Arabic" panose="02020603050405020304" pitchFamily="18" charset="-78"/>
              </a:rPr>
              <a:t>ما يحرم بالجنابة:</a:t>
            </a:r>
            <a:endParaRPr lang="ar-SA" sz="2400" dirty="0">
              <a:latin typeface="Traditional Arabic" panose="02020603050405020304" pitchFamily="18" charset="-78"/>
              <a:cs typeface="Traditional Arabic" panose="02020603050405020304" pitchFamily="18" charset="-78"/>
            </a:endParaRPr>
          </a:p>
          <a:p>
            <a:r>
              <a:rPr lang="ar-SA" sz="2400" b="1" dirty="0">
                <a:solidFill>
                  <a:srgbClr val="FF0000"/>
                </a:solidFill>
                <a:latin typeface="Traditional Arabic" panose="02020603050405020304" pitchFamily="18" charset="-78"/>
                <a:cs typeface="Traditional Arabic" panose="02020603050405020304" pitchFamily="18" charset="-78"/>
              </a:rPr>
              <a:t>1</a:t>
            </a:r>
            <a:r>
              <a:rPr lang="ar-SA" sz="2400" dirty="0">
                <a:latin typeface="Traditional Arabic" panose="02020603050405020304" pitchFamily="18" charset="-78"/>
                <a:cs typeface="Traditional Arabic" panose="02020603050405020304" pitchFamily="18" charset="-78"/>
              </a:rPr>
              <a:t>- الصلاة فرضاً أو نفلاً. لا تقبل صلاة بلا طهور. </a:t>
            </a:r>
            <a:r>
              <a:rPr lang="ar-SA" sz="2400" b="1" dirty="0">
                <a:solidFill>
                  <a:srgbClr val="FF0000"/>
                </a:solidFill>
                <a:latin typeface="Traditional Arabic" panose="02020603050405020304" pitchFamily="18" charset="-78"/>
                <a:cs typeface="Traditional Arabic" panose="02020603050405020304" pitchFamily="18" charset="-78"/>
              </a:rPr>
              <a:t>2</a:t>
            </a:r>
            <a:r>
              <a:rPr lang="ar-SA" sz="2400" dirty="0">
                <a:latin typeface="Traditional Arabic" panose="02020603050405020304" pitchFamily="18" charset="-78"/>
                <a:cs typeface="Traditional Arabic" panose="02020603050405020304" pitchFamily="18" charset="-78"/>
              </a:rPr>
              <a:t>- المكث بالمسجد والجلوس فيه، أما المرور فقط لا يحرم. ولا جنباً إلا عابري سبيل.</a:t>
            </a:r>
          </a:p>
          <a:p>
            <a:r>
              <a:rPr lang="ar-SA" sz="2400" b="1" dirty="0">
                <a:solidFill>
                  <a:srgbClr val="FF0000"/>
                </a:solidFill>
                <a:latin typeface="Traditional Arabic" panose="02020603050405020304" pitchFamily="18" charset="-78"/>
                <a:cs typeface="Traditional Arabic" panose="02020603050405020304" pitchFamily="18" charset="-78"/>
              </a:rPr>
              <a:t>3</a:t>
            </a:r>
            <a:r>
              <a:rPr lang="ar-SA" sz="2400" dirty="0">
                <a:latin typeface="Traditional Arabic" panose="02020603050405020304" pitchFamily="18" charset="-78"/>
                <a:cs typeface="Traditional Arabic" panose="02020603050405020304" pitchFamily="18" charset="-78"/>
              </a:rPr>
              <a:t>- الطواف حول الكعبة فرضاً أو نفلاً.  </a:t>
            </a:r>
            <a:r>
              <a:rPr lang="ar-SA" sz="2400" b="1" dirty="0">
                <a:solidFill>
                  <a:srgbClr val="FF0000"/>
                </a:solidFill>
                <a:latin typeface="Traditional Arabic" panose="02020603050405020304" pitchFamily="18" charset="-78"/>
                <a:cs typeface="Traditional Arabic" panose="02020603050405020304" pitchFamily="18" charset="-78"/>
              </a:rPr>
              <a:t>4</a:t>
            </a:r>
            <a:r>
              <a:rPr lang="ar-SA" sz="2400" dirty="0">
                <a:latin typeface="Traditional Arabic" panose="02020603050405020304" pitchFamily="18" charset="-78"/>
                <a:cs typeface="Traditional Arabic" panose="02020603050405020304" pitchFamily="18" charset="-78"/>
              </a:rPr>
              <a:t>-قراءة القرآن: قال رسول الله صلى الله عليه وسلم لا تقرأ الحائض ولا الجنب شيئاً من القرآن.</a:t>
            </a:r>
          </a:p>
          <a:p>
            <a:r>
              <a:rPr lang="ar-SA" sz="2400" b="1" dirty="0">
                <a:solidFill>
                  <a:srgbClr val="FF0000"/>
                </a:solidFill>
                <a:latin typeface="Traditional Arabic" panose="02020603050405020304" pitchFamily="18" charset="-78"/>
                <a:cs typeface="Traditional Arabic" panose="02020603050405020304" pitchFamily="18" charset="-78"/>
              </a:rPr>
              <a:t>5</a:t>
            </a:r>
            <a:r>
              <a:rPr lang="ar-SA" sz="2400" dirty="0">
                <a:latin typeface="Traditional Arabic" panose="02020603050405020304" pitchFamily="18" charset="-78"/>
                <a:cs typeface="Traditional Arabic" panose="02020603050405020304" pitchFamily="18" charset="-78"/>
              </a:rPr>
              <a:t>- مس المصحف وحمله: لا يمسه إلا المطهرون.         </a:t>
            </a:r>
            <a:r>
              <a:rPr lang="ar-SA" sz="2400" b="1" dirty="0">
                <a:solidFill>
                  <a:srgbClr val="FF0000"/>
                </a:solidFill>
                <a:latin typeface="Traditional Arabic" panose="02020603050405020304" pitchFamily="18" charset="-78"/>
                <a:cs typeface="Traditional Arabic" panose="02020603050405020304" pitchFamily="18" charset="-78"/>
              </a:rPr>
              <a:t>ملحوظة: </a:t>
            </a:r>
            <a:r>
              <a:rPr lang="ar-SA" sz="2400" dirty="0">
                <a:latin typeface="Traditional Arabic" panose="02020603050405020304" pitchFamily="18" charset="-78"/>
                <a:cs typeface="Traditional Arabic" panose="02020603050405020304" pitchFamily="18" charset="-78"/>
              </a:rPr>
              <a:t>يجوز حمل كتب التفسير إذا كان التفسير أكثر من القرآن</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الحيض</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معناه:</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السيلان.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شرعاً</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دم جبلة –خلقة وطبيعة- يخرج من أقصى رحم المرأة بعد بلوغها، على سبيل الصحة، في أوقات معلومة.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ويسألونك عن المحيض قل هو أذىً فاعتزلوا النساء في المحيض ولا تقربوهن حتى يتطهرن،</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سن البلوغ: ويعرف</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الاحتلام بنزول المني من الذكر أو الأنثى.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رؤية دم الحيض بالنسبة للأنثى، وأقل سنة تحيض به الأنثى تسع سنوات.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باستكمال الخامسة عشرة من العمر إذا لم يحصل الاحتلام او الحيض.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مدة الحيض: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أقله يوم وليلة، وأكثره خمسة عشرة يوماً. والمدة الغالبة ستة أو سبع أيام، أقل الطهر بين الحيضتين خمسة عشر يوماً، ولاحد لأكثره. فإذا رأت المرأة دماً أقل من مدة الحيض أو بعد مدة أكثر الحيض أعتبر هذا الدم دم استحاضة.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الاستحاضة: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دم علة ومرض يخرج من عرق من أدنى الرحم يقال له العاذل، وهذا الدم ينقض الوضوء ولا يوجب الغسل، ولا يوجب ترك الصلاة والصوم،  تغسل الدم وتتوضأ لكل فرض وتصلي.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يحرم بالحيض: 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الصلاة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قراءة القرآن ومس المصحف وحمله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المكث في المسجد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4</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-الطواف حول الكعبة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5-</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العبور بالمسجد إن خافت تلويثه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6-</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الصوم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7-</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الوطء الجماع</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3-الولادة: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حكمها حكم الجنابة وإن لم يعقبها دم. </a:t>
            </a:r>
          </a:p>
          <a:p>
            <a:r>
              <a:rPr lang="ar-SA" sz="2400" dirty="0">
                <a:latin typeface="Traditional Arabic" panose="02020603050405020304" pitchFamily="18" charset="-78"/>
                <a:cs typeface="Traditional Arabic" panose="02020603050405020304" pitchFamily="18" charset="-78"/>
              </a:rPr>
              <a:t>. </a:t>
            </a:r>
          </a:p>
          <a:p>
            <a:endParaRPr lang="ar-SA" sz="2400" dirty="0">
              <a:latin typeface="Traditional Arabic" panose="02020603050405020304" pitchFamily="18" charset="-78"/>
              <a:cs typeface="Traditional Arabic" panose="02020603050405020304" pitchFamily="18" charset="-78"/>
            </a:endParaRPr>
          </a:p>
          <a:p>
            <a:endParaRPr lang="ar-SA" sz="2400"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3554315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CFA0B-BDBB-3B17-EFB8-C4B10FA45DC5}"/>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DA30A80C-5D2F-55A8-AA50-F7404EE6DC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378B16CB-275B-EF6F-22EE-3EC7A8DDD079}"/>
              </a:ext>
            </a:extLst>
          </p:cNvPr>
          <p:cNvSpPr/>
          <p:nvPr/>
        </p:nvSpPr>
        <p:spPr>
          <a:xfrm>
            <a:off x="319016" y="96254"/>
            <a:ext cx="11702938" cy="6761746"/>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algn="ctr"/>
            <a:r>
              <a:rPr lang="ar-SA" sz="2400" b="1" dirty="0">
                <a:solidFill>
                  <a:srgbClr val="FF0000"/>
                </a:solidFill>
                <a:latin typeface="Traditional Arabic" panose="02020603050405020304" pitchFamily="18" charset="-78"/>
                <a:cs typeface="Traditional Arabic" panose="02020603050405020304" pitchFamily="18" charset="-78"/>
              </a:rPr>
              <a:t>النفاس</a:t>
            </a:r>
          </a:p>
          <a:p>
            <a:r>
              <a:rPr lang="ar-SA" sz="2400" b="1" dirty="0">
                <a:solidFill>
                  <a:srgbClr val="FF0000"/>
                </a:solidFill>
                <a:latin typeface="Traditional Arabic" panose="02020603050405020304" pitchFamily="18" charset="-78"/>
                <a:cs typeface="Traditional Arabic" panose="02020603050405020304" pitchFamily="18" charset="-78"/>
              </a:rPr>
              <a:t>لغة: </a:t>
            </a:r>
            <a:r>
              <a:rPr lang="ar-SA" sz="2400" dirty="0">
                <a:latin typeface="Traditional Arabic" panose="02020603050405020304" pitchFamily="18" charset="-78"/>
                <a:cs typeface="Traditional Arabic" panose="02020603050405020304" pitchFamily="18" charset="-78"/>
              </a:rPr>
              <a:t>الولادة. </a:t>
            </a:r>
            <a:r>
              <a:rPr lang="ar-SA" sz="2400" b="1" dirty="0">
                <a:solidFill>
                  <a:srgbClr val="FF0000"/>
                </a:solidFill>
                <a:latin typeface="Traditional Arabic" panose="02020603050405020304" pitchFamily="18" charset="-78"/>
                <a:cs typeface="Traditional Arabic" panose="02020603050405020304" pitchFamily="18" charset="-78"/>
              </a:rPr>
              <a:t>شرعاً: </a:t>
            </a:r>
            <a:r>
              <a:rPr lang="ar-SA" sz="2400" dirty="0">
                <a:latin typeface="Traditional Arabic" panose="02020603050405020304" pitchFamily="18" charset="-78"/>
                <a:cs typeface="Traditional Arabic" panose="02020603050405020304" pitchFamily="18" charset="-78"/>
              </a:rPr>
              <a:t>الدم الخارج عقب الولادة.</a:t>
            </a:r>
          </a:p>
          <a:p>
            <a:r>
              <a:rPr lang="ar-SA" sz="2400" dirty="0">
                <a:latin typeface="Traditional Arabic" panose="02020603050405020304" pitchFamily="18" charset="-78"/>
                <a:cs typeface="Traditional Arabic" panose="02020603050405020304" pitchFamily="18" charset="-78"/>
              </a:rPr>
              <a:t>والدم الخارج أثناء الطلق ، أو مع خروج الولد لا يعتبر دم نفاس، لتقدمه على خروج الولد، بل يعتبر دم فاسد، وتجب فيه الصلاة ولو رأت الدم. </a:t>
            </a:r>
          </a:p>
          <a:p>
            <a:r>
              <a:rPr lang="ar-SA" sz="2400" b="1" dirty="0">
                <a:solidFill>
                  <a:srgbClr val="FF0000"/>
                </a:solidFill>
                <a:latin typeface="Traditional Arabic" panose="02020603050405020304" pitchFamily="18" charset="-78"/>
                <a:cs typeface="Traditional Arabic" panose="02020603050405020304" pitchFamily="18" charset="-78"/>
              </a:rPr>
              <a:t>مدة النفاس: </a:t>
            </a:r>
            <a:r>
              <a:rPr lang="ar-SA" sz="2400" dirty="0">
                <a:latin typeface="Traditional Arabic" panose="02020603050405020304" pitchFamily="18" charset="-78"/>
                <a:cs typeface="Traditional Arabic" panose="02020603050405020304" pitchFamily="18" charset="-78"/>
              </a:rPr>
              <a:t>أقل مدته لحظه، وغالبه أربعون يوماً. وأكثره ستون. فما زاد عن ذلك فهو دم استحاضة. والأصل في ذلك الاستقراء. </a:t>
            </a:r>
          </a:p>
          <a:p>
            <a:r>
              <a:rPr lang="ar-SA" sz="2400" b="1" dirty="0">
                <a:latin typeface="Traditional Arabic" panose="02020603050405020304" pitchFamily="18" charset="-78"/>
                <a:cs typeface="Traditional Arabic" panose="02020603050405020304" pitchFamily="18" charset="-78"/>
              </a:rPr>
              <a:t>أجمع العلماء على أن النفاس كالحيض في جميع أحكامه.</a:t>
            </a:r>
          </a:p>
          <a:p>
            <a:r>
              <a:rPr lang="ar-SA" sz="2400" b="1" dirty="0">
                <a:solidFill>
                  <a:srgbClr val="FF0000"/>
                </a:solidFill>
                <a:latin typeface="Traditional Arabic" panose="02020603050405020304" pitchFamily="18" charset="-78"/>
                <a:cs typeface="Traditional Arabic" panose="02020603050405020304" pitchFamily="18" charset="-78"/>
              </a:rPr>
              <a:t>رؤية الدم أثناء الحمل: </a:t>
            </a:r>
            <a:r>
              <a:rPr lang="ar-SA" sz="2400" dirty="0">
                <a:solidFill>
                  <a:schemeClr val="tx1"/>
                </a:solidFill>
                <a:latin typeface="Traditional Arabic" panose="02020603050405020304" pitchFamily="18" charset="-78"/>
                <a:cs typeface="Traditional Arabic" panose="02020603050405020304" pitchFamily="18" charset="-78"/>
              </a:rPr>
              <a:t>إذا رأت الحامل دماً فإنه يأخذ أحكام الحيض إذا كان أكثر من يوم وليلة وأقل من خمسة عشر يوماً. وما نقص عن أقل المدة أو زاد عن أكثر المدة فهو دم استحاضة. وقيل الدم الذي تراه الحامل يعتبر دم استحاضة مطلقاً. وليس حيض.</a:t>
            </a:r>
          </a:p>
          <a:p>
            <a:r>
              <a:rPr lang="ar-SA" sz="2400" b="1" dirty="0">
                <a:solidFill>
                  <a:srgbClr val="FF0000"/>
                </a:solidFill>
                <a:latin typeface="Traditional Arabic" panose="02020603050405020304" pitchFamily="18" charset="-78"/>
                <a:cs typeface="Traditional Arabic" panose="02020603050405020304" pitchFamily="18" charset="-78"/>
              </a:rPr>
              <a:t>مدة الحمل: </a:t>
            </a:r>
            <a:r>
              <a:rPr lang="ar-SA" sz="2400" dirty="0">
                <a:solidFill>
                  <a:schemeClr val="tx1"/>
                </a:solidFill>
                <a:latin typeface="Traditional Arabic" panose="02020603050405020304" pitchFamily="18" charset="-78"/>
                <a:cs typeface="Traditional Arabic" panose="02020603050405020304" pitchFamily="18" charset="-78"/>
              </a:rPr>
              <a:t>أقلها: ستة أشهر، وغالبها تسعة أشهر. وأكثرها: أربع سنين.</a:t>
            </a:r>
          </a:p>
          <a:p>
            <a:r>
              <a:rPr lang="ar-SA" sz="2400" b="1" dirty="0">
                <a:solidFill>
                  <a:srgbClr val="FF0000"/>
                </a:solidFill>
                <a:latin typeface="Traditional Arabic" panose="02020603050405020304" pitchFamily="18" charset="-78"/>
                <a:cs typeface="Traditional Arabic" panose="02020603050405020304" pitchFamily="18" charset="-78"/>
              </a:rPr>
              <a:t>4-الموت:  </a:t>
            </a:r>
            <a:r>
              <a:rPr lang="ar-SA" sz="2400" dirty="0">
                <a:solidFill>
                  <a:schemeClr val="tx1"/>
                </a:solidFill>
                <a:latin typeface="Traditional Arabic" panose="02020603050405020304" pitchFamily="18" charset="-78"/>
                <a:cs typeface="Traditional Arabic" panose="02020603050405020304" pitchFamily="18" charset="-78"/>
              </a:rPr>
              <a:t>واجب كفائي. </a:t>
            </a:r>
          </a:p>
          <a:p>
            <a:r>
              <a:rPr lang="ar-SA" sz="2400" b="1" dirty="0">
                <a:solidFill>
                  <a:srgbClr val="FF0000"/>
                </a:solidFill>
                <a:latin typeface="Traditional Arabic" panose="02020603050405020304" pitchFamily="18" charset="-78"/>
                <a:cs typeface="Traditional Arabic" panose="02020603050405020304" pitchFamily="18" charset="-78"/>
              </a:rPr>
              <a:t>الغسل المندوب: </a:t>
            </a:r>
            <a:r>
              <a:rPr lang="ar-SA" sz="2400" dirty="0">
                <a:solidFill>
                  <a:srgbClr val="FF0000"/>
                </a:solidFill>
                <a:latin typeface="Traditional Arabic" panose="02020603050405020304" pitchFamily="18" charset="-78"/>
                <a:cs typeface="Traditional Arabic" panose="02020603050405020304" pitchFamily="18" charset="-78"/>
              </a:rPr>
              <a:t>1</a:t>
            </a:r>
            <a:r>
              <a:rPr lang="ar-SA" sz="2400" dirty="0">
                <a:solidFill>
                  <a:schemeClr val="tx1"/>
                </a:solidFill>
                <a:latin typeface="Traditional Arabic" panose="02020603050405020304" pitchFamily="18" charset="-78"/>
                <a:cs typeface="Traditional Arabic" panose="02020603050405020304" pitchFamily="18" charset="-78"/>
              </a:rPr>
              <a:t>- غسل يوم الجمعة </a:t>
            </a:r>
            <a:r>
              <a:rPr lang="ar-SA" sz="2400" dirty="0">
                <a:solidFill>
                  <a:srgbClr val="FF0000"/>
                </a:solidFill>
                <a:latin typeface="Traditional Arabic" panose="02020603050405020304" pitchFamily="18" charset="-78"/>
                <a:cs typeface="Traditional Arabic" panose="02020603050405020304" pitchFamily="18" charset="-78"/>
              </a:rPr>
              <a:t>2</a:t>
            </a:r>
            <a:r>
              <a:rPr lang="ar-SA" sz="2400" dirty="0">
                <a:solidFill>
                  <a:schemeClr val="tx1"/>
                </a:solidFill>
                <a:latin typeface="Traditional Arabic" panose="02020603050405020304" pitchFamily="18" charset="-78"/>
                <a:cs typeface="Traditional Arabic" panose="02020603050405020304" pitchFamily="18" charset="-78"/>
              </a:rPr>
              <a:t>- غسل العيدين </a:t>
            </a:r>
            <a:r>
              <a:rPr lang="ar-SA" sz="2400" dirty="0">
                <a:solidFill>
                  <a:srgbClr val="FF0000"/>
                </a:solidFill>
                <a:latin typeface="Traditional Arabic" panose="02020603050405020304" pitchFamily="18" charset="-78"/>
                <a:cs typeface="Traditional Arabic" panose="02020603050405020304" pitchFamily="18" charset="-78"/>
              </a:rPr>
              <a:t>3</a:t>
            </a:r>
            <a:r>
              <a:rPr lang="ar-SA" sz="2400" dirty="0">
                <a:solidFill>
                  <a:schemeClr val="tx1"/>
                </a:solidFill>
                <a:latin typeface="Traditional Arabic" panose="02020603050405020304" pitchFamily="18" charset="-78"/>
                <a:cs typeface="Traditional Arabic" panose="02020603050405020304" pitchFamily="18" charset="-78"/>
              </a:rPr>
              <a:t>- غسل الكسوفين </a:t>
            </a:r>
            <a:r>
              <a:rPr lang="ar-SA" sz="2400" dirty="0">
                <a:solidFill>
                  <a:srgbClr val="FF0000"/>
                </a:solidFill>
                <a:latin typeface="Traditional Arabic" panose="02020603050405020304" pitchFamily="18" charset="-78"/>
                <a:cs typeface="Traditional Arabic" panose="02020603050405020304" pitchFamily="18" charset="-78"/>
              </a:rPr>
              <a:t>4</a:t>
            </a:r>
            <a:r>
              <a:rPr lang="ar-SA" sz="2400" dirty="0">
                <a:solidFill>
                  <a:schemeClr val="tx1"/>
                </a:solidFill>
                <a:latin typeface="Traditional Arabic" panose="02020603050405020304" pitchFamily="18" charset="-78"/>
                <a:cs typeface="Traditional Arabic" panose="02020603050405020304" pitchFamily="18" charset="-78"/>
              </a:rPr>
              <a:t>- غسل الاستسقاء </a:t>
            </a:r>
            <a:r>
              <a:rPr lang="ar-SA" sz="2400" dirty="0">
                <a:solidFill>
                  <a:srgbClr val="FF0000"/>
                </a:solidFill>
                <a:latin typeface="Traditional Arabic" panose="02020603050405020304" pitchFamily="18" charset="-78"/>
                <a:cs typeface="Traditional Arabic" panose="02020603050405020304" pitchFamily="18" charset="-78"/>
              </a:rPr>
              <a:t>5</a:t>
            </a:r>
            <a:r>
              <a:rPr lang="ar-SA" sz="2400" dirty="0">
                <a:solidFill>
                  <a:schemeClr val="tx1"/>
                </a:solidFill>
                <a:latin typeface="Traditional Arabic" panose="02020603050405020304" pitchFamily="18" charset="-78"/>
                <a:cs typeface="Traditional Arabic" panose="02020603050405020304" pitchFamily="18" charset="-78"/>
              </a:rPr>
              <a:t>- الغسل لمن غسل ميتاً </a:t>
            </a:r>
          </a:p>
          <a:p>
            <a:r>
              <a:rPr lang="ar-SA" sz="2400" b="1" dirty="0">
                <a:solidFill>
                  <a:srgbClr val="FF0000"/>
                </a:solidFill>
                <a:latin typeface="Traditional Arabic" panose="02020603050405020304" pitchFamily="18" charset="-78"/>
                <a:cs typeface="Traditional Arabic" panose="02020603050405020304" pitchFamily="18" charset="-78"/>
              </a:rPr>
              <a:t>الغسل المتعلق بالحج: </a:t>
            </a:r>
            <a:r>
              <a:rPr lang="ar-SA" sz="2400" dirty="0">
                <a:solidFill>
                  <a:schemeClr val="tx1"/>
                </a:solidFill>
                <a:latin typeface="Traditional Arabic" panose="02020603050405020304" pitchFamily="18" charset="-78"/>
                <a:cs typeface="Traditional Arabic" panose="02020603050405020304" pitchFamily="18" charset="-78"/>
              </a:rPr>
              <a:t>الإحرام – دخول مكة – الوقوف بعرفة – رمي الجمرات – دخول المدينة – </a:t>
            </a:r>
          </a:p>
          <a:p>
            <a:r>
              <a:rPr lang="ar-SA" sz="2400" b="1" dirty="0">
                <a:solidFill>
                  <a:srgbClr val="FF0000"/>
                </a:solidFill>
                <a:latin typeface="Traditional Arabic" panose="02020603050405020304" pitchFamily="18" charset="-78"/>
                <a:cs typeface="Traditional Arabic" panose="02020603050405020304" pitchFamily="18" charset="-78"/>
              </a:rPr>
              <a:t>كيفية الغسل: </a:t>
            </a:r>
            <a:r>
              <a:rPr lang="ar-SA" sz="2400" dirty="0">
                <a:solidFill>
                  <a:srgbClr val="FF0000"/>
                </a:solidFill>
                <a:latin typeface="Traditional Arabic" panose="02020603050405020304" pitchFamily="18" charset="-78"/>
                <a:cs typeface="Traditional Arabic" panose="02020603050405020304" pitchFamily="18" charset="-78"/>
              </a:rPr>
              <a:t>الواجبة </a:t>
            </a:r>
            <a:r>
              <a:rPr lang="ar-SA" sz="2400" dirty="0">
                <a:solidFill>
                  <a:schemeClr val="tx1"/>
                </a:solidFill>
                <a:latin typeface="Traditional Arabic" panose="02020603050405020304" pitchFamily="18" charset="-78"/>
                <a:cs typeface="Traditional Arabic" panose="02020603050405020304" pitchFamily="18" charset="-78"/>
              </a:rPr>
              <a:t>1- النية 2- غسل جميع ظاهر الجسم بالماء بشرة وشعراً.  </a:t>
            </a:r>
            <a:r>
              <a:rPr lang="ar-SA" sz="2400" dirty="0">
                <a:solidFill>
                  <a:srgbClr val="FF0000"/>
                </a:solidFill>
                <a:latin typeface="Traditional Arabic" panose="02020603050405020304" pitchFamily="18" charset="-78"/>
                <a:cs typeface="Traditional Arabic" panose="02020603050405020304" pitchFamily="18" charset="-78"/>
              </a:rPr>
              <a:t>المسنونة: </a:t>
            </a:r>
            <a:r>
              <a:rPr lang="ar-SA" sz="2400" dirty="0">
                <a:solidFill>
                  <a:schemeClr val="tx1"/>
                </a:solidFill>
                <a:latin typeface="Traditional Arabic" panose="02020603050405020304" pitchFamily="18" charset="-78"/>
                <a:cs typeface="Traditional Arabic" panose="02020603050405020304" pitchFamily="18" charset="-78"/>
              </a:rPr>
              <a:t>غسل اليدين- يتوضأ وضوء الصلاة – يخلل شعر رأسه بالماء – يغسل شقه الأيمن ثم الأيسر دلك الأعضاء مع المولاة.- يتعهد معاطفه – الغسل ثلاثاً.</a:t>
            </a:r>
          </a:p>
          <a:p>
            <a:r>
              <a:rPr lang="ar-SA" sz="2400" b="1" dirty="0">
                <a:solidFill>
                  <a:srgbClr val="FF0000"/>
                </a:solidFill>
                <a:latin typeface="Traditional Arabic" panose="02020603050405020304" pitchFamily="18" charset="-78"/>
                <a:cs typeface="Traditional Arabic" panose="02020603050405020304" pitchFamily="18" charset="-78"/>
              </a:rPr>
              <a:t>مكروهات الغسل: </a:t>
            </a:r>
            <a:r>
              <a:rPr lang="ar-SA" sz="2400" dirty="0">
                <a:solidFill>
                  <a:schemeClr val="tx1"/>
                </a:solidFill>
                <a:latin typeface="Traditional Arabic" panose="02020603050405020304" pitchFamily="18" charset="-78"/>
                <a:cs typeface="Traditional Arabic" panose="02020603050405020304" pitchFamily="18" charset="-78"/>
              </a:rPr>
              <a:t>1- الاسراف بالماء   2-الاغتسال في الماء الراكد </a:t>
            </a:r>
          </a:p>
          <a:p>
            <a:endParaRPr lang="ar-SA" sz="2400" b="1"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1328705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B8C10-97E3-08FE-1AF4-50A5F5802BD2}"/>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A032C65C-F566-56D7-7B59-F3572AC4B3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52484"/>
            <a:ext cx="12617355" cy="7171899"/>
          </a:xfrm>
          <a:prstGeom prst="rect">
            <a:avLst/>
          </a:prstGeom>
        </p:spPr>
      </p:pic>
      <p:sp>
        <p:nvSpPr>
          <p:cNvPr id="4" name="مستطيل: زوايا مستديرة 3">
            <a:extLst>
              <a:ext uri="{FF2B5EF4-FFF2-40B4-BE49-F238E27FC236}">
                <a16:creationId xmlns:a16="http://schemas.microsoft.com/office/drawing/2014/main" id="{85E703E8-0605-FEF0-C8B0-8217E87CC768}"/>
              </a:ext>
            </a:extLst>
          </p:cNvPr>
          <p:cNvSpPr/>
          <p:nvPr/>
        </p:nvSpPr>
        <p:spPr>
          <a:xfrm>
            <a:off x="221381" y="-175482"/>
            <a:ext cx="11815237" cy="6720661"/>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algn="ctr"/>
            <a:endParaRPr lang="ar-SA" sz="2400" b="1" dirty="0">
              <a:solidFill>
                <a:srgbClr val="FF0000"/>
              </a:solidFill>
              <a:latin typeface="Traditional Arabic" panose="02020603050405020304" pitchFamily="18" charset="-78"/>
              <a:cs typeface="Traditional Arabic" panose="02020603050405020304" pitchFamily="18" charset="-78"/>
            </a:endParaRPr>
          </a:p>
          <a:p>
            <a:pPr algn="ctr"/>
            <a:endParaRPr lang="ar-SA" sz="2400" b="1" dirty="0">
              <a:solidFill>
                <a:srgbClr val="FF0000"/>
              </a:solidFill>
              <a:latin typeface="Traditional Arabic" panose="02020603050405020304" pitchFamily="18" charset="-78"/>
              <a:cs typeface="Traditional Arabic" panose="02020603050405020304" pitchFamily="18" charset="-78"/>
            </a:endParaRPr>
          </a:p>
          <a:p>
            <a:pPr algn="ctr"/>
            <a:r>
              <a:rPr lang="ar-SA" sz="2400" b="1" dirty="0">
                <a:solidFill>
                  <a:srgbClr val="FF0000"/>
                </a:solidFill>
                <a:latin typeface="Traditional Arabic" panose="02020603050405020304" pitchFamily="18" charset="-78"/>
                <a:cs typeface="Traditional Arabic" panose="02020603050405020304" pitchFamily="18" charset="-78"/>
              </a:rPr>
              <a:t>التيمم </a:t>
            </a:r>
          </a:p>
          <a:p>
            <a:pPr algn="ctr"/>
            <a:r>
              <a:rPr lang="ar-SA" sz="2400" b="1" dirty="0">
                <a:solidFill>
                  <a:srgbClr val="FF0000"/>
                </a:solidFill>
                <a:latin typeface="Traditional Arabic" panose="02020603050405020304" pitchFamily="18" charset="-78"/>
                <a:cs typeface="Traditional Arabic" panose="02020603050405020304" pitchFamily="18" charset="-78"/>
              </a:rPr>
              <a:t> معنى التيمم: </a:t>
            </a:r>
            <a:r>
              <a:rPr lang="ar-SA" sz="2400" dirty="0">
                <a:solidFill>
                  <a:srgbClr val="FF0000"/>
                </a:solidFill>
                <a:latin typeface="Traditional Arabic" panose="02020603050405020304" pitchFamily="18" charset="-78"/>
                <a:cs typeface="Traditional Arabic" panose="02020603050405020304" pitchFamily="18" charset="-78"/>
              </a:rPr>
              <a:t>لغة: </a:t>
            </a:r>
            <a:r>
              <a:rPr lang="ar-SA" sz="2400" dirty="0">
                <a:latin typeface="Traditional Arabic" panose="02020603050405020304" pitchFamily="18" charset="-78"/>
                <a:cs typeface="Traditional Arabic" panose="02020603050405020304" pitchFamily="18" charset="-78"/>
              </a:rPr>
              <a:t>القصد </a:t>
            </a:r>
            <a:r>
              <a:rPr lang="ar-SA" sz="2400" dirty="0">
                <a:solidFill>
                  <a:srgbClr val="FF0000"/>
                </a:solidFill>
                <a:latin typeface="Traditional Arabic" panose="02020603050405020304" pitchFamily="18" charset="-78"/>
                <a:cs typeface="Traditional Arabic" panose="02020603050405020304" pitchFamily="18" charset="-78"/>
              </a:rPr>
              <a:t>شرعاً: </a:t>
            </a:r>
            <a:r>
              <a:rPr lang="ar-SA" sz="2400" dirty="0">
                <a:latin typeface="Traditional Arabic" panose="02020603050405020304" pitchFamily="18" charset="-78"/>
                <a:cs typeface="Traditional Arabic" panose="02020603050405020304" pitchFamily="18" charset="-78"/>
              </a:rPr>
              <a:t>إيصال تراب طهور للوجه واليدين بنية، وعلى وجه الخصوص. "فلم تجدوا ماً فتيمموا صعيداً طيباً فامسحوا بوجوهكم وأيدكم منه"</a:t>
            </a:r>
          </a:p>
          <a:p>
            <a:r>
              <a:rPr lang="ar-SA" sz="2400" b="1" dirty="0">
                <a:solidFill>
                  <a:srgbClr val="FF0000"/>
                </a:solidFill>
                <a:latin typeface="Traditional Arabic" panose="02020603050405020304" pitchFamily="18" charset="-78"/>
                <a:cs typeface="Traditional Arabic" panose="02020603050405020304" pitchFamily="18" charset="-78"/>
              </a:rPr>
              <a:t>أسباب التيمم:</a:t>
            </a:r>
          </a:p>
          <a:p>
            <a:r>
              <a:rPr lang="ar-SA" sz="2400" b="1" dirty="0">
                <a:latin typeface="Traditional Arabic" panose="02020603050405020304" pitchFamily="18" charset="-78"/>
                <a:cs typeface="Traditional Arabic" panose="02020603050405020304" pitchFamily="18" charset="-78"/>
              </a:rPr>
              <a:t> </a:t>
            </a:r>
            <a:r>
              <a:rPr lang="ar-SA" sz="2400" dirty="0">
                <a:latin typeface="Traditional Arabic" panose="02020603050405020304" pitchFamily="18" charset="-78"/>
                <a:cs typeface="Traditional Arabic" panose="02020603050405020304" pitchFamily="18" charset="-78"/>
              </a:rPr>
              <a:t>1- </a:t>
            </a:r>
            <a:r>
              <a:rPr lang="ar-SA" sz="2400" b="1" dirty="0">
                <a:solidFill>
                  <a:srgbClr val="FF0000"/>
                </a:solidFill>
                <a:latin typeface="Traditional Arabic" panose="02020603050405020304" pitchFamily="18" charset="-78"/>
                <a:cs typeface="Traditional Arabic" panose="02020603050405020304" pitchFamily="18" charset="-78"/>
              </a:rPr>
              <a:t>فقدان الماء:  </a:t>
            </a:r>
            <a:r>
              <a:rPr lang="ar-SA" sz="2400" dirty="0">
                <a:latin typeface="Traditional Arabic" panose="02020603050405020304" pitchFamily="18" charset="-78"/>
                <a:cs typeface="Traditional Arabic" panose="02020603050405020304" pitchFamily="18" charset="-78"/>
              </a:rPr>
              <a:t>حساً، كأن كان في سفر ولم يجد الماء. وشرعاً، كأن كان معه ماء لكنه يحتاج إليه لشربه.</a:t>
            </a:r>
          </a:p>
          <a:p>
            <a:r>
              <a:rPr lang="ar-SA" sz="2400" dirty="0">
                <a:latin typeface="Traditional Arabic" panose="02020603050405020304" pitchFamily="18" charset="-78"/>
                <a:cs typeface="Traditional Arabic" panose="02020603050405020304" pitchFamily="18" charset="-78"/>
              </a:rPr>
              <a:t>2-</a:t>
            </a:r>
            <a:r>
              <a:rPr lang="ar-SA" sz="2400" b="1" dirty="0">
                <a:solidFill>
                  <a:srgbClr val="FF0000"/>
                </a:solidFill>
                <a:latin typeface="Traditional Arabic" panose="02020603050405020304" pitchFamily="18" charset="-78"/>
                <a:cs typeface="Traditional Arabic" panose="02020603050405020304" pitchFamily="18" charset="-78"/>
              </a:rPr>
              <a:t>بعد الماء: </a:t>
            </a:r>
            <a:r>
              <a:rPr lang="ar-SA" sz="2400" dirty="0">
                <a:latin typeface="Traditional Arabic" panose="02020603050405020304" pitchFamily="18" charset="-78"/>
                <a:cs typeface="Traditional Arabic" panose="02020603050405020304" pitchFamily="18" charset="-78"/>
              </a:rPr>
              <a:t>أن كان الماء بعيداً مسافة فوق 2.5 كم فإنه يتيمم ولا يجب في هذه الحالة أن يسعى ليأتي بالماء.</a:t>
            </a:r>
          </a:p>
          <a:p>
            <a:r>
              <a:rPr lang="ar-SA" sz="2400" b="1" dirty="0">
                <a:solidFill>
                  <a:srgbClr val="FF0000"/>
                </a:solidFill>
                <a:latin typeface="Traditional Arabic" panose="02020603050405020304" pitchFamily="18" charset="-78"/>
                <a:cs typeface="Traditional Arabic" panose="02020603050405020304" pitchFamily="18" charset="-78"/>
              </a:rPr>
              <a:t>3-تعذر استعمال الماء: </a:t>
            </a:r>
            <a:r>
              <a:rPr lang="ar-SA" sz="2400" dirty="0">
                <a:latin typeface="Traditional Arabic" panose="02020603050405020304" pitchFamily="18" charset="-78"/>
                <a:cs typeface="Traditional Arabic" panose="02020603050405020304" pitchFamily="18" charset="-78"/>
              </a:rPr>
              <a:t>حساً بينه وبين الماء عدو، أو شرعاً: يخاف من استعمال الماء من حدوث مرض أو زيادته أو تأخر شفاء.</a:t>
            </a:r>
          </a:p>
          <a:p>
            <a:r>
              <a:rPr lang="ar-SA" sz="2400" b="1" dirty="0">
                <a:solidFill>
                  <a:srgbClr val="FF0000"/>
                </a:solidFill>
                <a:latin typeface="Traditional Arabic" panose="02020603050405020304" pitchFamily="18" charset="-78"/>
                <a:cs typeface="Traditional Arabic" panose="02020603050405020304" pitchFamily="18" charset="-78"/>
              </a:rPr>
              <a:t>4-البرد الشديد: </a:t>
            </a:r>
            <a:r>
              <a:rPr lang="ar-SA" sz="2400" dirty="0">
                <a:latin typeface="Traditional Arabic" panose="02020603050405020304" pitchFamily="18" charset="-78"/>
                <a:cs typeface="Traditional Arabic" panose="02020603050405020304" pitchFamily="18" charset="-78"/>
              </a:rPr>
              <a:t>الذي يخاف معه استعمال الماء ولا قدره على تسخينه، فيتيمم لكنه في هذه يقضي في هذه الحالة عند وجود الماء.</a:t>
            </a:r>
          </a:p>
          <a:p>
            <a:r>
              <a:rPr lang="ar-SA" sz="2400" b="1" dirty="0">
                <a:solidFill>
                  <a:srgbClr val="FF0000"/>
                </a:solidFill>
                <a:latin typeface="Traditional Arabic" panose="02020603050405020304" pitchFamily="18" charset="-78"/>
                <a:cs typeface="Traditional Arabic" panose="02020603050405020304" pitchFamily="18" charset="-78"/>
              </a:rPr>
              <a:t>شرائط التيمم:</a:t>
            </a:r>
          </a:p>
          <a:p>
            <a:r>
              <a:rPr lang="ar-SA" sz="2400" dirty="0">
                <a:solidFill>
                  <a:srgbClr val="FF0000"/>
                </a:solidFill>
                <a:latin typeface="Traditional Arabic" panose="02020603050405020304" pitchFamily="18" charset="-78"/>
                <a:cs typeface="Traditional Arabic" panose="02020603050405020304" pitchFamily="18" charset="-78"/>
              </a:rPr>
              <a:t>1-العلم بدخول الوقت</a:t>
            </a:r>
            <a:r>
              <a:rPr lang="ar-SA" sz="2400" dirty="0">
                <a:latin typeface="Traditional Arabic" panose="02020603050405020304" pitchFamily="18" charset="-78"/>
                <a:cs typeface="Traditional Arabic" panose="02020603050405020304" pitchFamily="18" charset="-78"/>
              </a:rPr>
              <a:t>، يكون التيمم بعد دخول الوقت. </a:t>
            </a:r>
            <a:r>
              <a:rPr lang="ar-SA" sz="2400" dirty="0">
                <a:solidFill>
                  <a:srgbClr val="FF0000"/>
                </a:solidFill>
                <a:latin typeface="Traditional Arabic" panose="02020603050405020304" pitchFamily="18" charset="-78"/>
                <a:cs typeface="Traditional Arabic" panose="02020603050405020304" pitchFamily="18" charset="-78"/>
              </a:rPr>
              <a:t>2-طلب الماء بعد دخول الوقت</a:t>
            </a:r>
            <a:r>
              <a:rPr lang="ar-SA" sz="2400" dirty="0">
                <a:latin typeface="Traditional Arabic" panose="02020603050405020304" pitchFamily="18" charset="-78"/>
                <a:cs typeface="Traditional Arabic" panose="02020603050405020304" pitchFamily="18" charset="-78"/>
              </a:rPr>
              <a:t>. </a:t>
            </a:r>
            <a:r>
              <a:rPr lang="ar-SA" sz="2400" dirty="0">
                <a:solidFill>
                  <a:srgbClr val="FF0000"/>
                </a:solidFill>
                <a:latin typeface="Traditional Arabic" panose="02020603050405020304" pitchFamily="18" charset="-78"/>
                <a:cs typeface="Traditional Arabic" panose="02020603050405020304" pitchFamily="18" charset="-78"/>
              </a:rPr>
              <a:t>3-التراب الطهور </a:t>
            </a:r>
            <a:r>
              <a:rPr lang="ar-SA" sz="2400" dirty="0">
                <a:latin typeface="Traditional Arabic" panose="02020603050405020304" pitchFamily="18" charset="-78"/>
                <a:cs typeface="Traditional Arabic" panose="02020603050405020304" pitchFamily="18" charset="-78"/>
              </a:rPr>
              <a:t>4- </a:t>
            </a:r>
            <a:r>
              <a:rPr lang="ar-SA" sz="2400" dirty="0">
                <a:solidFill>
                  <a:srgbClr val="FF0000"/>
                </a:solidFill>
                <a:latin typeface="Traditional Arabic" panose="02020603050405020304" pitchFamily="18" charset="-78"/>
                <a:cs typeface="Traditional Arabic" panose="02020603050405020304" pitchFamily="18" charset="-78"/>
              </a:rPr>
              <a:t>إزالة النجاسة أولاً </a:t>
            </a:r>
            <a:r>
              <a:rPr lang="ar-SA" sz="2400" dirty="0">
                <a:latin typeface="Traditional Arabic" panose="02020603050405020304" pitchFamily="18" charset="-78"/>
                <a:cs typeface="Traditional Arabic" panose="02020603050405020304" pitchFamily="18" charset="-78"/>
              </a:rPr>
              <a:t>إن كانت موجودة. </a:t>
            </a:r>
            <a:r>
              <a:rPr lang="ar-SA" sz="2400" dirty="0">
                <a:solidFill>
                  <a:srgbClr val="FF0000"/>
                </a:solidFill>
                <a:latin typeface="Traditional Arabic" panose="02020603050405020304" pitchFamily="18" charset="-78"/>
                <a:cs typeface="Traditional Arabic" panose="02020603050405020304" pitchFamily="18" charset="-78"/>
              </a:rPr>
              <a:t>5-أن يجتهد في القبلة قبله</a:t>
            </a:r>
            <a:r>
              <a:rPr lang="ar-SA" sz="2400" dirty="0">
                <a:latin typeface="Traditional Arabic" panose="02020603050405020304" pitchFamily="18" charset="-78"/>
                <a:cs typeface="Traditional Arabic" panose="02020603050405020304" pitchFamily="18" charset="-78"/>
              </a:rPr>
              <a:t>.</a:t>
            </a:r>
          </a:p>
          <a:p>
            <a:r>
              <a:rPr lang="ar-SA" sz="2400" b="1" dirty="0">
                <a:solidFill>
                  <a:srgbClr val="FF0000"/>
                </a:solidFill>
                <a:latin typeface="Traditional Arabic" panose="02020603050405020304" pitchFamily="18" charset="-78"/>
                <a:cs typeface="Traditional Arabic" panose="02020603050405020304" pitchFamily="18" charset="-78"/>
              </a:rPr>
              <a:t>أركان التيمم:  </a:t>
            </a:r>
            <a:r>
              <a:rPr lang="ar-SA" sz="2400" dirty="0">
                <a:latin typeface="Traditional Arabic" panose="02020603050405020304" pitchFamily="18" charset="-78"/>
                <a:cs typeface="Traditional Arabic" panose="02020603050405020304" pitchFamily="18" charset="-78"/>
              </a:rPr>
              <a:t>1-النية 2- مسح الوجه واليدين إلى المرفقين بضربتين  3- الترتيب</a:t>
            </a:r>
          </a:p>
          <a:p>
            <a:r>
              <a:rPr lang="ar-SA" sz="2400" b="1" dirty="0">
                <a:solidFill>
                  <a:srgbClr val="FF0000"/>
                </a:solidFill>
                <a:latin typeface="Traditional Arabic" panose="02020603050405020304" pitchFamily="18" charset="-78"/>
                <a:cs typeface="Traditional Arabic" panose="02020603050405020304" pitchFamily="18" charset="-78"/>
              </a:rPr>
              <a:t>سنن التيمم:   </a:t>
            </a:r>
            <a:r>
              <a:rPr lang="ar-SA" sz="2400" dirty="0">
                <a:latin typeface="Traditional Arabic" panose="02020603050405020304" pitchFamily="18" charset="-78"/>
                <a:cs typeface="Traditional Arabic" panose="02020603050405020304" pitchFamily="18" charset="-78"/>
              </a:rPr>
              <a:t>1- يسن فيه ما يسن في الوضوء قبله وتقديم اليمين على اليسار  والمولاة والتشهد والدعاء المأثور بعده.</a:t>
            </a:r>
          </a:p>
          <a:p>
            <a:r>
              <a:rPr lang="ar-SA" sz="2400" dirty="0">
                <a:latin typeface="Traditional Arabic" panose="02020603050405020304" pitchFamily="18" charset="-78"/>
                <a:cs typeface="Traditional Arabic" panose="02020603050405020304" pitchFamily="18" charset="-78"/>
              </a:rPr>
              <a:t>2- تفريق الأصابع عند الضرب على التراب 3- تخفيف التراب عند الضرب عل التراب.</a:t>
            </a:r>
          </a:p>
          <a:p>
            <a:r>
              <a:rPr lang="ar-SA" sz="2400" b="1" dirty="0">
                <a:solidFill>
                  <a:srgbClr val="FF0000"/>
                </a:solidFill>
                <a:latin typeface="Traditional Arabic" panose="02020603050405020304" pitchFamily="18" charset="-78"/>
                <a:cs typeface="Traditional Arabic" panose="02020603050405020304" pitchFamily="18" charset="-78"/>
              </a:rPr>
              <a:t>التيمم لكل فريضة: </a:t>
            </a:r>
            <a:r>
              <a:rPr lang="ar-SA" sz="2400" dirty="0">
                <a:latin typeface="Traditional Arabic" panose="02020603050405020304" pitchFamily="18" charset="-78"/>
                <a:cs typeface="Traditional Arabic" panose="02020603050405020304" pitchFamily="18" charset="-78"/>
              </a:rPr>
              <a:t>فيصلي بالتيمم فرضاً واحداً وما شاء من النوافل </a:t>
            </a:r>
          </a:p>
          <a:p>
            <a:r>
              <a:rPr lang="ar-SA" sz="2400" b="1" dirty="0">
                <a:solidFill>
                  <a:srgbClr val="FF0000"/>
                </a:solidFill>
                <a:latin typeface="Traditional Arabic" panose="02020603050405020304" pitchFamily="18" charset="-78"/>
                <a:cs typeface="Traditional Arabic" panose="02020603050405020304" pitchFamily="18" charset="-78"/>
              </a:rPr>
              <a:t>التيمم بدل الغسل فريضة:</a:t>
            </a:r>
            <a:r>
              <a:rPr lang="ar-SA" sz="2400" dirty="0">
                <a:solidFill>
                  <a:srgbClr val="FF0000"/>
                </a:solidFill>
                <a:latin typeface="Traditional Arabic" panose="02020603050405020304" pitchFamily="18" charset="-78"/>
                <a:cs typeface="Traditional Arabic" panose="02020603050405020304" pitchFamily="18" charset="-78"/>
              </a:rPr>
              <a:t> </a:t>
            </a:r>
            <a:r>
              <a:rPr lang="ar-SA" sz="2400" dirty="0">
                <a:latin typeface="Traditional Arabic" panose="02020603050405020304" pitchFamily="18" charset="-78"/>
                <a:cs typeface="Traditional Arabic" panose="02020603050405020304" pitchFamily="18" charset="-78"/>
              </a:rPr>
              <a:t>كما أن التيمم عن الوضوء عند توفر أسبابه كذلك بدل الغسل لمن كان في حاجة إليه.</a:t>
            </a:r>
          </a:p>
          <a:p>
            <a:r>
              <a:rPr lang="ar-SA" sz="2400" b="1" dirty="0">
                <a:solidFill>
                  <a:srgbClr val="FF0000"/>
                </a:solidFill>
                <a:latin typeface="Traditional Arabic" panose="02020603050405020304" pitchFamily="18" charset="-78"/>
                <a:cs typeface="Traditional Arabic" panose="02020603050405020304" pitchFamily="18" charset="-78"/>
              </a:rPr>
              <a:t>مبطلات التيمم: </a:t>
            </a:r>
            <a:r>
              <a:rPr lang="ar-SA" sz="2400" dirty="0">
                <a:latin typeface="Traditional Arabic" panose="02020603050405020304" pitchFamily="18" charset="-78"/>
                <a:cs typeface="Traditional Arabic" panose="02020603050405020304" pitchFamily="18" charset="-78"/>
              </a:rPr>
              <a:t>1-كل ما يبطل الوضوء     2-وجود الماء بعد فقده 3         -القدرة على استعمال الماء: مريض برئ.</a:t>
            </a:r>
          </a:p>
          <a:p>
            <a:r>
              <a:rPr lang="ar-SA" sz="2400" dirty="0">
                <a:latin typeface="Traditional Arabic" panose="02020603050405020304" pitchFamily="18" charset="-78"/>
                <a:cs typeface="Traditional Arabic" panose="02020603050405020304" pitchFamily="18" charset="-78"/>
              </a:rPr>
              <a:t>4- الردة عن الإسلام لأن التيمم للاستباحة وهي منتفية مع الردة بخلاف الوضوء والغسل فإنهما رفع حدث.</a:t>
            </a:r>
          </a:p>
          <a:p>
            <a:endParaRPr lang="ar-SA" sz="2400" b="1" dirty="0">
              <a:latin typeface="Traditional Arabic" panose="02020603050405020304" pitchFamily="18" charset="-78"/>
              <a:cs typeface="Traditional Arabic" panose="02020603050405020304" pitchFamily="18" charset="-78"/>
            </a:endParaRPr>
          </a:p>
          <a:p>
            <a:endParaRPr lang="ar-SA" sz="2400" b="1"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3804247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6521C-9591-7F2C-5F70-0E3C97C5EC8B}"/>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E1BA16C2-4D77-3EA8-D5C0-27741DFEDF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5B2B88DE-00E5-A575-8765-C6C983484950}"/>
              </a:ext>
            </a:extLst>
          </p:cNvPr>
          <p:cNvSpPr/>
          <p:nvPr/>
        </p:nvSpPr>
        <p:spPr>
          <a:xfrm>
            <a:off x="148771" y="0"/>
            <a:ext cx="11894457" cy="6752122"/>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algn="ctr"/>
            <a:endParaRPr lang="ar-SA" sz="2400" b="1" dirty="0">
              <a:solidFill>
                <a:srgbClr val="FF0000"/>
              </a:solidFill>
              <a:latin typeface="Traditional Arabic" panose="02020603050405020304" pitchFamily="18" charset="-78"/>
              <a:cs typeface="Traditional Arabic" panose="02020603050405020304" pitchFamily="18" charset="-78"/>
            </a:endParaRPr>
          </a:p>
          <a:p>
            <a:pPr algn="ctr"/>
            <a:r>
              <a:rPr lang="ar-SA" sz="2400" b="1" dirty="0">
                <a:solidFill>
                  <a:srgbClr val="FF0000"/>
                </a:solidFill>
                <a:latin typeface="Traditional Arabic" panose="02020603050405020304" pitchFamily="18" charset="-78"/>
                <a:cs typeface="Traditional Arabic" panose="02020603050405020304" pitchFamily="18" charset="-78"/>
              </a:rPr>
              <a:t>الصلاة</a:t>
            </a:r>
          </a:p>
          <a:p>
            <a:pPr algn="just"/>
            <a:r>
              <a:rPr lang="ar-SA" sz="2400" b="1" dirty="0">
                <a:solidFill>
                  <a:srgbClr val="FF0000"/>
                </a:solidFill>
                <a:latin typeface="Traditional Arabic" panose="02020603050405020304" pitchFamily="18" charset="-78"/>
                <a:cs typeface="Traditional Arabic" panose="02020603050405020304" pitchFamily="18" charset="-78"/>
              </a:rPr>
              <a:t>معناها :لغة </a:t>
            </a:r>
            <a:r>
              <a:rPr lang="ar-SA" sz="2400" dirty="0">
                <a:solidFill>
                  <a:schemeClr val="tx1"/>
                </a:solidFill>
                <a:latin typeface="Traditional Arabic" panose="02020603050405020304" pitchFamily="18" charset="-78"/>
                <a:cs typeface="Traditional Arabic" panose="02020603050405020304" pitchFamily="18" charset="-78"/>
              </a:rPr>
              <a:t>الدعاء بخير</a:t>
            </a:r>
            <a:r>
              <a:rPr lang="ar-SA" sz="2400" b="1" dirty="0">
                <a:solidFill>
                  <a:srgbClr val="FF0000"/>
                </a:solidFill>
                <a:latin typeface="Traditional Arabic" panose="02020603050405020304" pitchFamily="18" charset="-78"/>
                <a:cs typeface="Traditional Arabic" panose="02020603050405020304" pitchFamily="18" charset="-78"/>
              </a:rPr>
              <a:t>. شرعاً: </a:t>
            </a:r>
            <a:r>
              <a:rPr lang="ar-SA" sz="2400" dirty="0">
                <a:solidFill>
                  <a:schemeClr val="tx1"/>
                </a:solidFill>
                <a:latin typeface="Traditional Arabic" panose="02020603050405020304" pitchFamily="18" charset="-78"/>
                <a:cs typeface="Traditional Arabic" panose="02020603050405020304" pitchFamily="18" charset="-78"/>
              </a:rPr>
              <a:t>أقوال وأفعال مخصوصة تفتتح بالتكبير، وتختتم بالتسليم.</a:t>
            </a:r>
          </a:p>
          <a:p>
            <a:pPr algn="just"/>
            <a:r>
              <a:rPr lang="ar-SA" sz="2400" b="1" dirty="0" err="1">
                <a:solidFill>
                  <a:srgbClr val="FF0000"/>
                </a:solidFill>
                <a:latin typeface="Traditional Arabic" panose="02020603050405020304" pitchFamily="18" charset="-78"/>
                <a:cs typeface="Traditional Arabic" panose="02020603050405020304" pitchFamily="18" charset="-78"/>
              </a:rPr>
              <a:t>تاریخ</a:t>
            </a:r>
            <a:r>
              <a:rPr lang="ar-SA" sz="2400" b="1" dirty="0">
                <a:solidFill>
                  <a:srgbClr val="FF0000"/>
                </a:solidFill>
                <a:latin typeface="Traditional Arabic" panose="02020603050405020304" pitchFamily="18" charset="-78"/>
                <a:cs typeface="Traditional Arabic" panose="02020603050405020304" pitchFamily="18" charset="-78"/>
              </a:rPr>
              <a:t> مشروعيتها: </a:t>
            </a:r>
            <a:r>
              <a:rPr lang="ar-SA" sz="2400" dirty="0">
                <a:solidFill>
                  <a:schemeClr val="tx1"/>
                </a:solidFill>
                <a:latin typeface="Traditional Arabic" panose="02020603050405020304" pitchFamily="18" charset="-78"/>
                <a:cs typeface="Traditional Arabic" panose="02020603050405020304" pitchFamily="18" charset="-78"/>
              </a:rPr>
              <a:t>بدأت الصلاة مع بداية البعثة فكانت ركعتين صباحاً وركعتين مساء، ثم نسخ ذلك بالصلوات الخمس المكتوبات في حادثة الإسراء والمعراج، حيث كانت على الصحيح قبل الهجرة بثمانية عشر شهراً.</a:t>
            </a:r>
          </a:p>
          <a:p>
            <a:pPr algn="just"/>
            <a:r>
              <a:rPr lang="ar-SA" sz="2400" b="1" dirty="0">
                <a:solidFill>
                  <a:srgbClr val="FF0000"/>
                </a:solidFill>
                <a:latin typeface="Traditional Arabic" panose="02020603050405020304" pitchFamily="18" charset="-78"/>
                <a:cs typeface="Traditional Arabic" panose="02020603050405020304" pitchFamily="18" charset="-78"/>
              </a:rPr>
              <a:t>حكم تارك الصلاة: </a:t>
            </a:r>
            <a:r>
              <a:rPr lang="ar-SA" sz="2400" dirty="0">
                <a:solidFill>
                  <a:schemeClr val="tx1"/>
                </a:solidFill>
                <a:latin typeface="Traditional Arabic" panose="02020603050405020304" pitchFamily="18" charset="-78"/>
                <a:cs typeface="Traditional Arabic" panose="02020603050405020304" pitchFamily="18" charset="-78"/>
              </a:rPr>
              <a:t>من ترك الصلاة جاحداً لوجوبها أو مستهزئاً بها، فإنه يكفر بذلك ويرتد عن الإسلام، فإن لم يتب يقتله الحاكم على أنه مرتد. ومن ترك الصلاة كسلاً وهو يعتقد وجوبها، فيأمره الحاكم بالتوبة والصلاة، فإن لم يصل وجب قتله حداً، فيعامل بعد قتله معاملة المسلمين.</a:t>
            </a:r>
          </a:p>
          <a:p>
            <a:pPr algn="just"/>
            <a:r>
              <a:rPr lang="ar-SA" sz="2400" b="1" dirty="0">
                <a:solidFill>
                  <a:srgbClr val="FF0000"/>
                </a:solidFill>
                <a:latin typeface="Traditional Arabic" panose="02020603050405020304" pitchFamily="18" charset="-78"/>
                <a:cs typeface="Traditional Arabic" panose="02020603050405020304" pitchFamily="18" charset="-78"/>
              </a:rPr>
              <a:t>أوقات الصلوات المكتوبات:</a:t>
            </a:r>
          </a:p>
          <a:p>
            <a:pPr algn="just"/>
            <a:r>
              <a:rPr lang="ar-SA" sz="2400" b="1" dirty="0">
                <a:solidFill>
                  <a:srgbClr val="FF0000"/>
                </a:solidFill>
                <a:latin typeface="Traditional Arabic" panose="02020603050405020304" pitchFamily="18" charset="-78"/>
                <a:cs typeface="Traditional Arabic" panose="02020603050405020304" pitchFamily="18" charset="-78"/>
              </a:rPr>
              <a:t>1 - الفجر : </a:t>
            </a:r>
            <a:r>
              <a:rPr lang="ar-SA" sz="2400" dirty="0">
                <a:solidFill>
                  <a:schemeClr val="tx1"/>
                </a:solidFill>
                <a:latin typeface="Traditional Arabic" panose="02020603050405020304" pitchFamily="18" charset="-78"/>
                <a:cs typeface="Traditional Arabic" panose="02020603050405020304" pitchFamily="18" charset="-78"/>
              </a:rPr>
              <a:t>يدخل وقته بظهور الفجر الصادق ويمتد إلى طلوع الشمس، والفجر الصادق هو ضياء ينتشر ممتداً مع الأفق الشرقي وهو انعكاس الضوء الشمس تقبل من بعيد.</a:t>
            </a:r>
          </a:p>
          <a:p>
            <a:pPr algn="just"/>
            <a:r>
              <a:rPr lang="ar-SA" sz="2400" b="1" dirty="0">
                <a:solidFill>
                  <a:srgbClr val="FF0000"/>
                </a:solidFill>
                <a:latin typeface="Traditional Arabic" panose="02020603050405020304" pitchFamily="18" charset="-78"/>
                <a:cs typeface="Traditional Arabic" panose="02020603050405020304" pitchFamily="18" charset="-78"/>
              </a:rPr>
              <a:t>2- الظهر : </a:t>
            </a:r>
            <a:r>
              <a:rPr lang="ar-SA" sz="2400" dirty="0">
                <a:solidFill>
                  <a:schemeClr val="tx1"/>
                </a:solidFill>
                <a:latin typeface="Traditional Arabic" panose="02020603050405020304" pitchFamily="18" charset="-78"/>
                <a:cs typeface="Traditional Arabic" panose="02020603050405020304" pitchFamily="18" charset="-78"/>
              </a:rPr>
              <a:t>يبتدأ وقته بانحراف الشمس عن منتصف السماء نحو الغروب، ويسمى بالزوال ويمتد إلى أن يصير طول ظل الشيء مثله علاوة على ظل الزوال الذي كان علامة على أول وقت الظهر.</a:t>
            </a:r>
          </a:p>
          <a:p>
            <a:pPr algn="just"/>
            <a:r>
              <a:rPr lang="ar-SA" sz="2400" b="1" dirty="0">
                <a:solidFill>
                  <a:srgbClr val="FF0000"/>
                </a:solidFill>
                <a:latin typeface="Traditional Arabic" panose="02020603050405020304" pitchFamily="18" charset="-78"/>
                <a:cs typeface="Traditional Arabic" panose="02020603050405020304" pitchFamily="18" charset="-78"/>
              </a:rPr>
              <a:t>3- العصر:  </a:t>
            </a:r>
            <a:r>
              <a:rPr lang="ar-SA" sz="2400" dirty="0">
                <a:solidFill>
                  <a:schemeClr val="tx1"/>
                </a:solidFill>
                <a:latin typeface="Traditional Arabic" panose="02020603050405020304" pitchFamily="18" charset="-78"/>
                <a:cs typeface="Traditional Arabic" panose="02020603050405020304" pitchFamily="18" charset="-78"/>
              </a:rPr>
              <a:t>يبدأ وقته بنهاية وقت الظهر، ويستمر حتى تغرب الشمس، لكن يستحب ألا يؤخرها عن مصير ظل الشيء مثليه.</a:t>
            </a:r>
          </a:p>
          <a:p>
            <a:pPr algn="just"/>
            <a:r>
              <a:rPr lang="ar-SA" sz="2400" b="1" dirty="0">
                <a:solidFill>
                  <a:srgbClr val="FF0000"/>
                </a:solidFill>
                <a:latin typeface="Traditional Arabic" panose="02020603050405020304" pitchFamily="18" charset="-78"/>
                <a:cs typeface="Traditional Arabic" panose="02020603050405020304" pitchFamily="18" charset="-78"/>
              </a:rPr>
              <a:t>4 – المغرب: </a:t>
            </a:r>
            <a:r>
              <a:rPr lang="ar-SA" sz="2400" dirty="0">
                <a:solidFill>
                  <a:schemeClr val="tx1"/>
                </a:solidFill>
                <a:latin typeface="Traditional Arabic" panose="02020603050405020304" pitchFamily="18" charset="-78"/>
                <a:cs typeface="Traditional Arabic" panose="02020603050405020304" pitchFamily="18" charset="-78"/>
              </a:rPr>
              <a:t>يبدأ وقته بغروب الشمس، ويمتد حتى يغيب الشفق الأحمر ولا يبقى له أثر في جهة الغرب.</a:t>
            </a:r>
          </a:p>
          <a:p>
            <a:pPr algn="just"/>
            <a:r>
              <a:rPr lang="ar-SA" sz="2400" b="1" dirty="0">
                <a:solidFill>
                  <a:srgbClr val="FF0000"/>
                </a:solidFill>
                <a:latin typeface="Traditional Arabic" panose="02020603050405020304" pitchFamily="18" charset="-78"/>
                <a:cs typeface="Traditional Arabic" panose="02020603050405020304" pitchFamily="18" charset="-78"/>
              </a:rPr>
              <a:t>5- العشاء: </a:t>
            </a:r>
            <a:r>
              <a:rPr lang="ar-SA" sz="2400" dirty="0">
                <a:solidFill>
                  <a:schemeClr val="tx1"/>
                </a:solidFill>
                <a:latin typeface="Traditional Arabic" panose="02020603050405020304" pitchFamily="18" charset="-78"/>
                <a:cs typeface="Traditional Arabic" panose="02020603050405020304" pitchFamily="18" charset="-78"/>
              </a:rPr>
              <a:t>يدخل وقته بانتهاء وقت المغرب، ويستمر إلى ظهور الفجر الصادق ويستحب ألا تؤخر عن الثلث الأول من الليل.</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ويسن في ذلك تعجيل الصلاة في أول الوقت، وقد سئل النبي ﷺ عن أفضل الأعمال؟ فقال: «الصلاة على وقتها أي عند أول وقتها.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ملحوظة: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 وقع بعض صلاته في الوقت، وبعضها خارجه: فإنه إن وقع ركعة في  الوقت كانت الصلاة أداء، وإلا كانت قضاء.  عن أبي هريرة رضي الله عنه أن رسول الله قال: «من أدرك من الصبح ركعة قبل أن تطلع الشمس فقد أدرك الصبح، ومن أدرك ركعة من العصر قبل أن تغرب الشمس فقد أدرك العصر». </a:t>
            </a:r>
          </a:p>
          <a:p>
            <a:endParaRPr lang="ar-SA" sz="2400" dirty="0">
              <a:solidFill>
                <a:schemeClr val="tx1"/>
              </a:solidFill>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2758147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35C13-A073-09D4-FF66-E530C2E66230}"/>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33D8A990-38A3-81F2-64B5-511F050197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F3122AF1-726C-BEFF-8DB2-A3D2B9C07FE1}"/>
              </a:ext>
            </a:extLst>
          </p:cNvPr>
          <p:cNvSpPr/>
          <p:nvPr/>
        </p:nvSpPr>
        <p:spPr>
          <a:xfrm>
            <a:off x="0" y="1"/>
            <a:ext cx="12021954" cy="6858000"/>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endParaRPr lang="ar-SA" sz="2400" b="1" dirty="0">
              <a:solidFill>
                <a:srgbClr val="FF0000"/>
              </a:solidFill>
              <a:latin typeface="Traditional Arabic" panose="02020603050405020304" pitchFamily="18" charset="-78"/>
              <a:cs typeface="Traditional Arabic" panose="02020603050405020304" pitchFamily="18" charset="-78"/>
            </a:endParaRPr>
          </a:p>
          <a:p>
            <a:r>
              <a:rPr lang="ar-SA" sz="2400" b="1" dirty="0">
                <a:solidFill>
                  <a:srgbClr val="FF0000"/>
                </a:solidFill>
                <a:latin typeface="Traditional Arabic" panose="02020603050405020304" pitchFamily="18" charset="-78"/>
                <a:cs typeface="Traditional Arabic" panose="02020603050405020304" pitchFamily="18" charset="-78"/>
              </a:rPr>
              <a:t>الأوقات التي تكره فيها الصلاة:</a:t>
            </a:r>
            <a:r>
              <a:rPr lang="ar-SA" sz="2400" dirty="0">
                <a:latin typeface="Traditional Arabic" panose="02020603050405020304" pitchFamily="18" charset="-78"/>
                <a:cs typeface="Traditional Arabic" panose="02020603050405020304" pitchFamily="18" charset="-78"/>
              </a:rPr>
              <a:t> كراهة تحريم.</a:t>
            </a:r>
            <a:r>
              <a:rPr lang="ar-SA" sz="2400" dirty="0">
                <a:solidFill>
                  <a:srgbClr val="FF0000"/>
                </a:solidFill>
                <a:latin typeface="Traditional Arabic" panose="02020603050405020304" pitchFamily="18" charset="-78"/>
                <a:cs typeface="Traditional Arabic" panose="02020603050405020304" pitchFamily="18" charset="-78"/>
              </a:rPr>
              <a:t>1</a:t>
            </a:r>
            <a:r>
              <a:rPr lang="ar-SA" sz="2400" dirty="0">
                <a:latin typeface="Traditional Arabic" panose="02020603050405020304" pitchFamily="18" charset="-78"/>
                <a:cs typeface="Traditional Arabic" panose="02020603050405020304" pitchFamily="18" charset="-78"/>
              </a:rPr>
              <a:t>- عند الاستواء إلا يوم الجمعة.</a:t>
            </a:r>
            <a:r>
              <a:rPr lang="ar-SA" sz="2400" dirty="0">
                <a:solidFill>
                  <a:srgbClr val="FF0000"/>
                </a:solidFill>
                <a:latin typeface="Traditional Arabic" panose="02020603050405020304" pitchFamily="18" charset="-78"/>
                <a:cs typeface="Traditional Arabic" panose="02020603050405020304" pitchFamily="18" charset="-78"/>
              </a:rPr>
              <a:t>۲</a:t>
            </a:r>
            <a:r>
              <a:rPr lang="ar-SA" sz="2400" dirty="0">
                <a:latin typeface="Traditional Arabic" panose="02020603050405020304" pitchFamily="18" charset="-78"/>
                <a:cs typeface="Traditional Arabic" panose="02020603050405020304" pitchFamily="18" charset="-78"/>
              </a:rPr>
              <a:t>- بعد صلاة الصبح حتى ترتفع الشمس كرمح في النظر.</a:t>
            </a:r>
          </a:p>
          <a:p>
            <a:r>
              <a:rPr lang="ar-SA" sz="2400" dirty="0">
                <a:solidFill>
                  <a:srgbClr val="FF0000"/>
                </a:solidFill>
                <a:latin typeface="Traditional Arabic" panose="02020603050405020304" pitchFamily="18" charset="-78"/>
                <a:cs typeface="Traditional Arabic" panose="02020603050405020304" pitchFamily="18" charset="-78"/>
              </a:rPr>
              <a:t>٣</a:t>
            </a:r>
            <a:r>
              <a:rPr lang="ar-SA" sz="2400" dirty="0">
                <a:latin typeface="Traditional Arabic" panose="02020603050405020304" pitchFamily="18" charset="-78"/>
                <a:cs typeface="Traditional Arabic" panose="02020603050405020304" pitchFamily="18" charset="-78"/>
              </a:rPr>
              <a:t>- بعد صلاة العصر حتى تغرب الشمس. </a:t>
            </a:r>
          </a:p>
          <a:p>
            <a:r>
              <a:rPr lang="ar-SA" sz="2400" dirty="0">
                <a:latin typeface="Traditional Arabic" panose="02020603050405020304" pitchFamily="18" charset="-78"/>
                <a:cs typeface="Traditional Arabic" panose="02020603050405020304" pitchFamily="18" charset="-78"/>
              </a:rPr>
              <a:t>وهذه الكراهة إن لم يكن للصلاة سبب متقدم، أو تعمد الدفن فيها، فإن لم يتعمد الدفن فيها وجاء اتفاقاً، أو كان للصلاة سبب متقدم كسنة الوضوء، وتحية المسجد وقضاء الفائتة فإنه لا كراهة في ذلك. </a:t>
            </a:r>
          </a:p>
          <a:p>
            <a:r>
              <a:rPr lang="ar-SA" sz="2400" b="1" dirty="0">
                <a:solidFill>
                  <a:srgbClr val="FF0000"/>
                </a:solidFill>
                <a:latin typeface="Traditional Arabic" panose="02020603050405020304" pitchFamily="18" charset="-78"/>
                <a:cs typeface="Traditional Arabic" panose="02020603050405020304" pitchFamily="18" charset="-78"/>
              </a:rPr>
              <a:t>قضاء الصلاة: </a:t>
            </a:r>
            <a:r>
              <a:rPr lang="ar-SA" sz="2400" dirty="0">
                <a:latin typeface="Traditional Arabic" panose="02020603050405020304" pitchFamily="18" charset="-78"/>
                <a:cs typeface="Traditional Arabic" panose="02020603050405020304" pitchFamily="18" charset="-78"/>
              </a:rPr>
              <a:t>اتفق جمهور العلماء من مختلف المذاهب على أن تارك الصلاة يكلف بقضائها، سواء تركها نسياناً أم عمداً، مع الفارق بأن التارك لها عمداً آثم. وقد قال النبي ﷺ «من نام عن صلاة أو نسيها فليصلها إذا ذكرها، لا كفارة لها إلا ذلك»</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من تجب عليه الصلاة: </a:t>
            </a:r>
            <a:r>
              <a:rPr lang="ar-SA" sz="2400" dirty="0">
                <a:latin typeface="Traditional Arabic" panose="02020603050405020304" pitchFamily="18" charset="-78"/>
                <a:cs typeface="Traditional Arabic" panose="02020603050405020304" pitchFamily="18" charset="-78"/>
              </a:rPr>
              <a:t>تجب الصلاة على كل مسلم ذكراً أو أنثى، بالغ عاقل طاهر، فلا تجب على كافر ولا صبي صغير ولا على مجنون، ولا على حائض أو نفساء، ولا يجب عليهم كذلك قضاء الصلاة، </a:t>
            </a:r>
            <a:r>
              <a:rPr lang="ar-SA" sz="2400" dirty="0">
                <a:solidFill>
                  <a:srgbClr val="FF0000"/>
                </a:solidFill>
                <a:latin typeface="Traditional Arabic" panose="02020603050405020304" pitchFamily="18" charset="-78"/>
                <a:cs typeface="Traditional Arabic" panose="02020603050405020304" pitchFamily="18" charset="-78"/>
              </a:rPr>
              <a:t>إلا المرتد فيلزمه قضاء ما فاته أيام ردته بعد إسلامه تغليظاً له</a:t>
            </a:r>
            <a:r>
              <a:rPr lang="ar-SA" sz="2400" dirty="0">
                <a:latin typeface="Traditional Arabic" panose="02020603050405020304" pitchFamily="18" charset="-78"/>
                <a:cs typeface="Traditional Arabic" panose="02020603050405020304" pitchFamily="18" charset="-78"/>
              </a:rPr>
              <a:t>. هذا ويجب أن يؤمر الصبي بالصلاة بعد استكماله من السابعة، ويضرب على تركها إذا بلغ عشر سنين تعويداً له على الصلاة. قال رسول الله ﷺ: «مروا الصبي بالصلاة إذا بلغ سبع سنين، وإذا بلغ عشراً فاضربوه عليها».</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الأذان والإقامة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الأذان: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ذكر مخصوص شرعه الإسلام للإعلام بدخول وقت الصلاة المفروضة، ولدعوة المسلمين إلى الاجتماع إليها.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الأذان: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سنة للصلاة الحاضرة والفائتة، وللجماعة والمنفرد.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دليل  </a:t>
            </a:r>
            <a:r>
              <a:rPr kumimoji="0" lang="ar-SA" sz="2400" b="1" i="0" u="none" strike="noStrike" kern="1200" cap="none" spc="0" normalizeH="0" baseline="0" noProof="0" dirty="0" err="1">
                <a:ln>
                  <a:noFill/>
                </a:ln>
                <a:solidFill>
                  <a:srgbClr val="FF0000"/>
                </a:solidFill>
                <a:effectLst/>
                <a:uLnTx/>
                <a:uFillTx/>
                <a:latin typeface="Traditional Arabic" panose="02020603050405020304" pitchFamily="18" charset="-78"/>
                <a:ea typeface="+mn-ea"/>
                <a:cs typeface="Traditional Arabic" panose="02020603050405020304" pitchFamily="18" charset="-78"/>
              </a:rPr>
              <a:t>تشریعه</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قال الله تعالى: إِذَا نُودِيَ لِلصَّلَاةِ مِنْ يَوْمِ الْجُمُعَةِ فَاسْعَوْا إِلَى ذِكْرِ اللَّهِ وَذَرُوا الْبَيْعَ.</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بدء تشريعه: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كان ذلك في السنة الأولى من الهجرة.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صيغة الأذان: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نضيف في أذان الفجر الصلاة خير من النوم.</a:t>
            </a:r>
          </a:p>
          <a:p>
            <a:endParaRPr lang="ar-SA" sz="2400"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1564316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EF19D-1CE2-9260-E4B5-FBC18C7A7955}"/>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C52E09F7-783B-434F-C5ED-4EBE98C412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69A2CAA5-44A3-D13D-64AF-FF89D8F7831B}"/>
              </a:ext>
            </a:extLst>
          </p:cNvPr>
          <p:cNvSpPr/>
          <p:nvPr/>
        </p:nvSpPr>
        <p:spPr>
          <a:xfrm>
            <a:off x="67377" y="-79828"/>
            <a:ext cx="12531023" cy="6651226"/>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algn="ctr"/>
            <a:r>
              <a:rPr lang="ar-SA" sz="2400" b="1" dirty="0">
                <a:solidFill>
                  <a:srgbClr val="FF0000"/>
                </a:solidFill>
                <a:latin typeface="Traditional Arabic" panose="02020603050405020304" pitchFamily="18" charset="-78"/>
                <a:cs typeface="Traditional Arabic" panose="02020603050405020304" pitchFamily="18" charset="-78"/>
              </a:rPr>
              <a:t>شروط صحة الأذان:</a:t>
            </a:r>
          </a:p>
          <a:p>
            <a:pPr algn="just"/>
            <a:r>
              <a:rPr lang="ar-SA" sz="2400" b="1" dirty="0">
                <a:solidFill>
                  <a:schemeClr val="tx1"/>
                </a:solidFill>
                <a:latin typeface="Traditional Arabic" panose="02020603050405020304" pitchFamily="18" charset="-78"/>
                <a:cs typeface="Traditional Arabic" panose="02020603050405020304" pitchFamily="18" charset="-78"/>
              </a:rPr>
              <a:t> </a:t>
            </a:r>
            <a:r>
              <a:rPr lang="ar-SA" sz="2400" b="1" dirty="0">
                <a:solidFill>
                  <a:srgbClr val="FF0000"/>
                </a:solidFill>
                <a:latin typeface="Traditional Arabic" panose="02020603050405020304" pitchFamily="18" charset="-78"/>
                <a:cs typeface="Traditional Arabic" panose="02020603050405020304" pitchFamily="18" charset="-78"/>
              </a:rPr>
              <a:t>1</a:t>
            </a:r>
            <a:r>
              <a:rPr lang="ar-SA" sz="2400" b="1" dirty="0">
                <a:solidFill>
                  <a:schemeClr val="tx1"/>
                </a:solidFill>
                <a:latin typeface="Traditional Arabic" panose="02020603050405020304" pitchFamily="18" charset="-78"/>
                <a:cs typeface="Traditional Arabic" panose="02020603050405020304" pitchFamily="18" charset="-78"/>
              </a:rPr>
              <a:t>-</a:t>
            </a:r>
            <a:r>
              <a:rPr lang="ar-SA" sz="2400" dirty="0">
                <a:solidFill>
                  <a:schemeClr val="tx1"/>
                </a:solidFill>
                <a:latin typeface="Traditional Arabic" panose="02020603050405020304" pitchFamily="18" charset="-78"/>
                <a:cs typeface="Traditional Arabic" panose="02020603050405020304" pitchFamily="18" charset="-78"/>
              </a:rPr>
              <a:t>الإسلام: فلا يصح من كافر.</a:t>
            </a:r>
            <a:r>
              <a:rPr lang="ar-SA" sz="2400" dirty="0">
                <a:solidFill>
                  <a:srgbClr val="FF0000"/>
                </a:solidFill>
                <a:latin typeface="Traditional Arabic" panose="02020603050405020304" pitchFamily="18" charset="-78"/>
                <a:cs typeface="Traditional Arabic" panose="02020603050405020304" pitchFamily="18" charset="-78"/>
              </a:rPr>
              <a:t>٢</a:t>
            </a:r>
            <a:r>
              <a:rPr lang="ar-SA" sz="2400" dirty="0">
                <a:solidFill>
                  <a:schemeClr val="tx1"/>
                </a:solidFill>
                <a:latin typeface="Traditional Arabic" panose="02020603050405020304" pitchFamily="18" charset="-78"/>
                <a:cs typeface="Traditional Arabic" panose="02020603050405020304" pitchFamily="18" charset="-78"/>
              </a:rPr>
              <a:t>- التمييز : فلا يصح من صبي غير مميز. </a:t>
            </a:r>
            <a:r>
              <a:rPr lang="ar-SA" sz="2400" dirty="0">
                <a:solidFill>
                  <a:srgbClr val="FF0000"/>
                </a:solidFill>
                <a:latin typeface="Traditional Arabic" panose="02020603050405020304" pitchFamily="18" charset="-78"/>
                <a:cs typeface="Traditional Arabic" panose="02020603050405020304" pitchFamily="18" charset="-78"/>
              </a:rPr>
              <a:t>3</a:t>
            </a:r>
            <a:r>
              <a:rPr lang="ar-SA" sz="2400" dirty="0">
                <a:solidFill>
                  <a:schemeClr val="tx1"/>
                </a:solidFill>
                <a:latin typeface="Traditional Arabic" panose="02020603050405020304" pitchFamily="18" charset="-78"/>
                <a:cs typeface="Traditional Arabic" panose="02020603050405020304" pitchFamily="18" charset="-78"/>
              </a:rPr>
              <a:t>-الذكورة فلا يصح أذان المرأة للرجال.- </a:t>
            </a:r>
            <a:r>
              <a:rPr lang="ar-SA" sz="2400" dirty="0">
                <a:solidFill>
                  <a:srgbClr val="FF0000"/>
                </a:solidFill>
                <a:latin typeface="Traditional Arabic" panose="02020603050405020304" pitchFamily="18" charset="-78"/>
                <a:cs typeface="Traditional Arabic" panose="02020603050405020304" pitchFamily="18" charset="-78"/>
              </a:rPr>
              <a:t>4</a:t>
            </a:r>
            <a:r>
              <a:rPr lang="ar-SA" sz="2400" dirty="0">
                <a:solidFill>
                  <a:schemeClr val="tx1"/>
                </a:solidFill>
                <a:latin typeface="Traditional Arabic" panose="02020603050405020304" pitchFamily="18" charset="-78"/>
                <a:cs typeface="Traditional Arabic" panose="02020603050405020304" pitchFamily="18" charset="-78"/>
              </a:rPr>
              <a:t>-الترتيب في كلمات الأذان. </a:t>
            </a:r>
            <a:r>
              <a:rPr lang="ar-SA" sz="2400" dirty="0">
                <a:solidFill>
                  <a:srgbClr val="FF0000"/>
                </a:solidFill>
                <a:latin typeface="Traditional Arabic" panose="02020603050405020304" pitchFamily="18" charset="-78"/>
                <a:cs typeface="Traditional Arabic" panose="02020603050405020304" pitchFamily="18" charset="-78"/>
              </a:rPr>
              <a:t>5</a:t>
            </a:r>
            <a:r>
              <a:rPr lang="ar-SA" sz="2400" dirty="0">
                <a:solidFill>
                  <a:schemeClr val="tx1"/>
                </a:solidFill>
                <a:latin typeface="Traditional Arabic" panose="02020603050405020304" pitchFamily="18" charset="-78"/>
                <a:cs typeface="Traditional Arabic" panose="02020603050405020304" pitchFamily="18" charset="-78"/>
              </a:rPr>
              <a:t>-الولاء بين كلماته، بحيث لا يقوم فاصل كبير بين الكلمة والأخرى. </a:t>
            </a:r>
            <a:r>
              <a:rPr lang="ar-SA" sz="2400" dirty="0">
                <a:solidFill>
                  <a:srgbClr val="FF0000"/>
                </a:solidFill>
                <a:latin typeface="Traditional Arabic" panose="02020603050405020304" pitchFamily="18" charset="-78"/>
                <a:cs typeface="Traditional Arabic" panose="02020603050405020304" pitchFamily="18" charset="-78"/>
              </a:rPr>
              <a:t>6</a:t>
            </a:r>
            <a:r>
              <a:rPr lang="ar-SA" sz="2400" dirty="0">
                <a:solidFill>
                  <a:schemeClr val="tx1"/>
                </a:solidFill>
                <a:latin typeface="Traditional Arabic" panose="02020603050405020304" pitchFamily="18" charset="-78"/>
                <a:cs typeface="Traditional Arabic" panose="02020603050405020304" pitchFamily="18" charset="-78"/>
              </a:rPr>
              <a:t>-رفع الصوت إن كان يؤذن الجماعة، أما النساء فلا يندب لهن الأذان لأن في رفع صوتهن يخشى الفتنة ويندب لهن الإقامة. </a:t>
            </a:r>
            <a:r>
              <a:rPr lang="ar-SA" sz="2400" dirty="0">
                <a:solidFill>
                  <a:srgbClr val="FF0000"/>
                </a:solidFill>
                <a:latin typeface="Traditional Arabic" panose="02020603050405020304" pitchFamily="18" charset="-78"/>
                <a:cs typeface="Traditional Arabic" panose="02020603050405020304" pitchFamily="18" charset="-78"/>
              </a:rPr>
              <a:t>7</a:t>
            </a:r>
            <a:r>
              <a:rPr lang="ar-SA" sz="2400" dirty="0">
                <a:solidFill>
                  <a:schemeClr val="tx1"/>
                </a:solidFill>
                <a:latin typeface="Traditional Arabic" panose="02020603050405020304" pitchFamily="18" charset="-78"/>
                <a:cs typeface="Traditional Arabic" panose="02020603050405020304" pitchFamily="18" charset="-78"/>
              </a:rPr>
              <a:t>-دخول الوقت فالأذان إعلام بدخول الوقت فلا يصح قبله بالإجماع، إلا في الصبح. </a:t>
            </a:r>
          </a:p>
          <a:p>
            <a:pPr algn="just"/>
            <a:r>
              <a:rPr lang="ar-SA" sz="2400" b="1" dirty="0">
                <a:solidFill>
                  <a:srgbClr val="FF0000"/>
                </a:solidFill>
                <a:latin typeface="Traditional Arabic" panose="02020603050405020304" pitchFamily="18" charset="-78"/>
                <a:cs typeface="Traditional Arabic" panose="02020603050405020304" pitchFamily="18" charset="-78"/>
              </a:rPr>
              <a:t>سنن الأذان:</a:t>
            </a:r>
            <a:r>
              <a:rPr lang="ar-SA" sz="2400" dirty="0">
                <a:solidFill>
                  <a:schemeClr val="tx1"/>
                </a:solidFill>
                <a:latin typeface="Traditional Arabic" panose="02020603050405020304" pitchFamily="18" charset="-78"/>
                <a:cs typeface="Traditional Arabic" panose="02020603050405020304" pitchFamily="18" charset="-78"/>
              </a:rPr>
              <a:t>1- أن يتوجه المؤذن إلى القبلة.٢- أن يكون طاهراً من الحدث الأصغر والأكبر.٣- أن يؤذن قائماً.4- أن يلتفت بعنقه لا بصدره - يميناً في حي على الصلاة» ويساراً في «حي على الفلاح ». 5-أن يرتل بين كلمات الأذان وهو التأني فيه.٦- الترجيع بالأذان وهو أن يأتي المؤذن بالشهادتين سراً قبل أن يأتي بهما جهراً. 7-التثويب في أذان وهو أن يقول بعد حي على الفلاح: الصلاة خير من النوم مرتين. 8-أن يكون المؤذن صيتاً حسن الصوت.- 9-أن يكون المؤذن معروفاً بين الناس بالخلق والعدالة.١٠ - عدم التمطيط بالأذان أي تمديده والتغني به بل يكره ذلك.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۱۱-يسن مؤذنان في المسجد لأذان الفجر، يؤذن واحد قبل الفجر، والآخر بعده. 12-يسن لسامع الأذان الإنصات وأن يقول كما يقول المؤذن، قال النبي ﷺ: «إذا سمعتم المؤذن فقولوا مثل ما يقول المؤذن». لكن في </a:t>
            </a:r>
            <a:r>
              <a:rPr lang="ar-SA" sz="2400" dirty="0" err="1">
                <a:solidFill>
                  <a:schemeClr val="tx1"/>
                </a:solidFill>
                <a:latin typeface="Traditional Arabic" panose="02020603050405020304" pitchFamily="18" charset="-78"/>
                <a:cs typeface="Traditional Arabic" panose="02020603050405020304" pitchFamily="18" charset="-78"/>
              </a:rPr>
              <a:t>الحيعلتين</a:t>
            </a:r>
            <a:r>
              <a:rPr lang="ar-SA" sz="2400" dirty="0">
                <a:solidFill>
                  <a:schemeClr val="tx1"/>
                </a:solidFill>
                <a:latin typeface="Traditional Arabic" panose="02020603050405020304" pitchFamily="18" charset="-78"/>
                <a:cs typeface="Traditional Arabic" panose="02020603050405020304" pitchFamily="18" charset="-78"/>
              </a:rPr>
              <a:t> يقول: لاحول ولا قوة إلا بالله، وفي التثويب يقول: صدقت وبررت.١٣ - الدعاء والصلاة على النبي ﷺ بعد الأذان.</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الإقامة: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فهي نفس الأذان مع ملاحظة الفوارق التالية:</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1-</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الأذان</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مثنى والإقامة فرادى. 2-الترسل والتمهل في الأذان، والإسراع في الإقامة. 3-من كان له </a:t>
            </a:r>
            <a:r>
              <a:rPr kumimoji="0" lang="ar-SA" sz="2400" b="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فوائت</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وأراد أن يقضيها، أذن للأولى فقط، وأقام لكل صلاة.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الإقامة: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هي نفس شروط الأذان.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سنن الإقامة: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هي أيضاً سنن الأذان، ويزاد هنا أن يكون المؤذن هو المقيم.</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النداء للصلوات غير المفروضة: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الصلوات غير المفروضة التي تسن لها الجماعة كالعيدين والكسوفين والجنازة، لا يسن فيها الأذان والإقامة: وإنما يقول فيها: (الصلاة جامعة).</a:t>
            </a:r>
            <a:endParaRPr lang="ar-SA" sz="2400" dirty="0">
              <a:solidFill>
                <a:schemeClr val="tx1"/>
              </a:solidFill>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844174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5F9E3-1683-CC2E-B705-BF0A8E3B1E57}"/>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5F8CFD48-747C-3E2D-2B9A-4EAFDCB2AC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220F3146-A422-7273-BD77-4AE71E91A77E}"/>
              </a:ext>
            </a:extLst>
          </p:cNvPr>
          <p:cNvSpPr/>
          <p:nvPr/>
        </p:nvSpPr>
        <p:spPr>
          <a:xfrm>
            <a:off x="125128" y="0"/>
            <a:ext cx="11944952" cy="6858000"/>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algn="ctr"/>
            <a:r>
              <a:rPr lang="ar-SA" sz="2400" b="1" dirty="0">
                <a:solidFill>
                  <a:srgbClr val="FF0000"/>
                </a:solidFill>
                <a:latin typeface="Traditional Arabic" panose="02020603050405020304" pitchFamily="18" charset="-78"/>
                <a:cs typeface="Traditional Arabic" panose="02020603050405020304" pitchFamily="18" charset="-78"/>
              </a:rPr>
              <a:t>شروط صحة الصلاة:</a:t>
            </a:r>
          </a:p>
          <a:p>
            <a:pPr algn="just"/>
            <a:r>
              <a:rPr lang="ar-SA" sz="2400" b="1" dirty="0">
                <a:solidFill>
                  <a:srgbClr val="FF0000"/>
                </a:solidFill>
                <a:latin typeface="Traditional Arabic" panose="02020603050405020304" pitchFamily="18" charset="-78"/>
                <a:cs typeface="Traditional Arabic" panose="02020603050405020304" pitchFamily="18" charset="-78"/>
              </a:rPr>
              <a:t> معنى الشرط: </a:t>
            </a:r>
            <a:r>
              <a:rPr lang="ar-SA" sz="2400" dirty="0">
                <a:latin typeface="Traditional Arabic" panose="02020603050405020304" pitchFamily="18" charset="-78"/>
                <a:cs typeface="Traditional Arabic" panose="02020603050405020304" pitchFamily="18" charset="-78"/>
              </a:rPr>
              <a:t>هو كل ما يتوقف عليه وجود الشيء، وهو ليس جزءاً منه. </a:t>
            </a:r>
            <a:r>
              <a:rPr lang="ar-SA" sz="2400" b="1" dirty="0">
                <a:solidFill>
                  <a:srgbClr val="FF0000"/>
                </a:solidFill>
                <a:latin typeface="Traditional Arabic" panose="02020603050405020304" pitchFamily="18" charset="-78"/>
                <a:cs typeface="Traditional Arabic" panose="02020603050405020304" pitchFamily="18" charset="-78"/>
              </a:rPr>
              <a:t>وتتلخص شروط صحة الصلاة في الأمور الأربعة الآتية:</a:t>
            </a:r>
          </a:p>
          <a:p>
            <a:pPr algn="just"/>
            <a:r>
              <a:rPr lang="ar-SA" sz="2400" dirty="0">
                <a:solidFill>
                  <a:srgbClr val="FF0000"/>
                </a:solidFill>
                <a:latin typeface="Traditional Arabic" panose="02020603050405020304" pitchFamily="18" charset="-78"/>
                <a:cs typeface="Traditional Arabic" panose="02020603050405020304" pitchFamily="18" charset="-78"/>
              </a:rPr>
              <a:t> </a:t>
            </a:r>
            <a:r>
              <a:rPr lang="ar-SA" sz="2400" b="1" dirty="0">
                <a:solidFill>
                  <a:srgbClr val="FF0000"/>
                </a:solidFill>
                <a:latin typeface="Traditional Arabic" panose="02020603050405020304" pitchFamily="18" charset="-78"/>
                <a:cs typeface="Traditional Arabic" panose="02020603050405020304" pitchFamily="18" charset="-78"/>
              </a:rPr>
              <a:t>أولاً الطهارة</a:t>
            </a:r>
            <a:r>
              <a:rPr lang="ar-SA" sz="2400" dirty="0">
                <a:solidFill>
                  <a:srgbClr val="FF0000"/>
                </a:solidFill>
                <a:latin typeface="Traditional Arabic" panose="02020603050405020304" pitchFamily="18" charset="-78"/>
                <a:cs typeface="Traditional Arabic" panose="02020603050405020304" pitchFamily="18" charset="-78"/>
              </a:rPr>
              <a:t>:</a:t>
            </a:r>
            <a:r>
              <a:rPr lang="ar-SA" sz="2400" dirty="0">
                <a:solidFill>
                  <a:schemeClr val="tx1"/>
                </a:solidFill>
                <a:latin typeface="Traditional Arabic" panose="02020603050405020304" pitchFamily="18" charset="-78"/>
                <a:cs typeface="Traditional Arabic" panose="02020603050405020304" pitchFamily="18" charset="-78"/>
              </a:rPr>
              <a:t>1</a:t>
            </a:r>
            <a:r>
              <a:rPr lang="ar-SA" sz="2400" dirty="0">
                <a:latin typeface="Traditional Arabic" panose="02020603050405020304" pitchFamily="18" charset="-78"/>
                <a:cs typeface="Traditional Arabic" panose="02020603050405020304" pitchFamily="18" charset="-78"/>
              </a:rPr>
              <a:t>- طهارة الجسم من الحدث سواء كان حدثاً أصغر أم أكبر.2-طهارة البدن من النجاسة وقد عرفت سابقاً معنى النجاسة وأنواعها.3- طهارة الثياب من النجاسة. 4- طهارة المكان عن النجاسة والمكان هو ما يلامسه بدن المصلي أثناء صلاته. </a:t>
            </a:r>
          </a:p>
          <a:p>
            <a:pPr algn="just"/>
            <a:r>
              <a:rPr lang="ar-SA" sz="2400" b="1" dirty="0">
                <a:solidFill>
                  <a:srgbClr val="FF0000"/>
                </a:solidFill>
                <a:latin typeface="Traditional Arabic" panose="02020603050405020304" pitchFamily="18" charset="-78"/>
                <a:cs typeface="Traditional Arabic" panose="02020603050405020304" pitchFamily="18" charset="-78"/>
              </a:rPr>
              <a:t>ثانياً العلم بدخول الوقت:  </a:t>
            </a:r>
            <a:r>
              <a:rPr lang="ar-SA" sz="2400" dirty="0">
                <a:latin typeface="Traditional Arabic" panose="02020603050405020304" pitchFamily="18" charset="-78"/>
                <a:cs typeface="Traditional Arabic" panose="02020603050405020304" pitchFamily="18" charset="-78"/>
              </a:rPr>
              <a:t>فلا بد أن يعلم المصلي دخول وقت الصلاة قبل البدء بها. كيفية معرفة دخول الوقت.</a:t>
            </a:r>
          </a:p>
          <a:p>
            <a:pPr algn="just"/>
            <a:r>
              <a:rPr lang="ar-SA" sz="2400" dirty="0">
                <a:solidFill>
                  <a:srgbClr val="FF0000"/>
                </a:solidFill>
                <a:latin typeface="Traditional Arabic" panose="02020603050405020304" pitchFamily="18" charset="-78"/>
                <a:cs typeface="Traditional Arabic" panose="02020603050405020304" pitchFamily="18" charset="-78"/>
              </a:rPr>
              <a:t>1- العلم اليقيني</a:t>
            </a:r>
            <a:r>
              <a:rPr lang="ar-SA" sz="2400" b="1" dirty="0">
                <a:solidFill>
                  <a:srgbClr val="FF0000"/>
                </a:solidFill>
                <a:latin typeface="Traditional Arabic" panose="02020603050405020304" pitchFamily="18" charset="-78"/>
                <a:cs typeface="Traditional Arabic" panose="02020603050405020304" pitchFamily="18" charset="-78"/>
              </a:rPr>
              <a:t>: </a:t>
            </a:r>
            <a:r>
              <a:rPr lang="ar-SA" sz="2400" dirty="0">
                <a:latin typeface="Traditional Arabic" panose="02020603050405020304" pitchFamily="18" charset="-78"/>
                <a:cs typeface="Traditional Arabic" panose="02020603050405020304" pitchFamily="18" charset="-78"/>
              </a:rPr>
              <a:t>كرؤيته للشمس وهي تغرب فيكون الاعتماد هنا على دليل محسوس. </a:t>
            </a:r>
          </a:p>
          <a:p>
            <a:pPr algn="just"/>
            <a:r>
              <a:rPr lang="ar-SA" sz="2400" dirty="0">
                <a:solidFill>
                  <a:srgbClr val="FF0000"/>
                </a:solidFill>
                <a:latin typeface="Traditional Arabic" panose="02020603050405020304" pitchFamily="18" charset="-78"/>
                <a:cs typeface="Traditional Arabic" panose="02020603050405020304" pitchFamily="18" charset="-78"/>
              </a:rPr>
              <a:t>2- الاجتهاد</a:t>
            </a:r>
            <a:r>
              <a:rPr lang="ar-SA" sz="2400" b="1" dirty="0">
                <a:solidFill>
                  <a:srgbClr val="FF0000"/>
                </a:solidFill>
                <a:latin typeface="Traditional Arabic" panose="02020603050405020304" pitchFamily="18" charset="-78"/>
                <a:cs typeface="Traditional Arabic" panose="02020603050405020304" pitchFamily="18" charset="-78"/>
              </a:rPr>
              <a:t>: </a:t>
            </a:r>
            <a:r>
              <a:rPr lang="ar-SA" sz="2400" dirty="0">
                <a:latin typeface="Traditional Arabic" panose="02020603050405020304" pitchFamily="18" charset="-78"/>
                <a:cs typeface="Traditional Arabic" panose="02020603050405020304" pitchFamily="18" charset="-78"/>
              </a:rPr>
              <a:t>بأن يعتمد على أدلة ظنية ذات دلالة غير مباشرة كالظل.</a:t>
            </a:r>
          </a:p>
          <a:p>
            <a:pPr algn="just"/>
            <a:r>
              <a:rPr lang="ar-SA" sz="2400" dirty="0">
                <a:solidFill>
                  <a:srgbClr val="FF0000"/>
                </a:solidFill>
                <a:latin typeface="Traditional Arabic" panose="02020603050405020304" pitchFamily="18" charset="-78"/>
                <a:cs typeface="Traditional Arabic" panose="02020603050405020304" pitchFamily="18" charset="-78"/>
              </a:rPr>
              <a:t>3 – التقليد: </a:t>
            </a:r>
            <a:r>
              <a:rPr lang="ar-SA" sz="2400" dirty="0">
                <a:latin typeface="Traditional Arabic" panose="02020603050405020304" pitchFamily="18" charset="-78"/>
                <a:cs typeface="Traditional Arabic" panose="02020603050405020304" pitchFamily="18" charset="-78"/>
              </a:rPr>
              <a:t>لمن لا يتمكن من العلم اليقيني أو الاجتهاد، كالجاهل بأوقات الصلاة ودلائلها، فيقلد إما العالم المعتمد على دليل محسوس أو المجتهد المعتمد على الأدلة الظنية.</a:t>
            </a:r>
          </a:p>
          <a:p>
            <a:pPr algn="just"/>
            <a:r>
              <a:rPr lang="ar-SA" sz="2400" b="1" dirty="0">
                <a:solidFill>
                  <a:srgbClr val="FF0000"/>
                </a:solidFill>
                <a:latin typeface="Traditional Arabic" panose="02020603050405020304" pitchFamily="18" charset="-78"/>
                <a:cs typeface="Traditional Arabic" panose="02020603050405020304" pitchFamily="18" charset="-78"/>
              </a:rPr>
              <a:t>حكم صلاة من صلى خارج الوقت: </a:t>
            </a:r>
            <a:endParaRPr lang="ar-SA" sz="2400" dirty="0">
              <a:solidFill>
                <a:schemeClr val="tx1"/>
              </a:solidFill>
              <a:latin typeface="Traditional Arabic" panose="02020603050405020304" pitchFamily="18" charset="-78"/>
              <a:cs typeface="Traditional Arabic" panose="02020603050405020304" pitchFamily="18" charset="-78"/>
            </a:endParaRPr>
          </a:p>
          <a:p>
            <a:pPr algn="just"/>
            <a:r>
              <a:rPr lang="ar-SA" sz="2400" dirty="0">
                <a:solidFill>
                  <a:schemeClr val="tx1"/>
                </a:solidFill>
                <a:latin typeface="Traditional Arabic" panose="02020603050405020304" pitchFamily="18" charset="-78"/>
                <a:cs typeface="Traditional Arabic" panose="02020603050405020304" pitchFamily="18" charset="-78"/>
              </a:rPr>
              <a:t>إذا تبين للمصلي أن صلاته قد وقعت قبل دخول الوقت تعتبر باطلة، وتجب إعادتها سواء اعتمد على علم أو اجتهاد أو تقليد.</a:t>
            </a:r>
          </a:p>
          <a:p>
            <a:pPr algn="just"/>
            <a:r>
              <a:rPr lang="ar-SA" sz="2400" b="1" dirty="0">
                <a:solidFill>
                  <a:srgbClr val="FF0000"/>
                </a:solidFill>
                <a:latin typeface="Traditional Arabic" panose="02020603050405020304" pitchFamily="18" charset="-78"/>
                <a:cs typeface="Traditional Arabic" panose="02020603050405020304" pitchFamily="18" charset="-78"/>
              </a:rPr>
              <a:t>ثالثاً ستر العورة: </a:t>
            </a:r>
            <a:r>
              <a:rPr lang="ar-SA" sz="2400" dirty="0">
                <a:solidFill>
                  <a:schemeClr val="tx1"/>
                </a:solidFill>
                <a:latin typeface="Traditional Arabic" panose="02020603050405020304" pitchFamily="18" charset="-78"/>
                <a:cs typeface="Traditional Arabic" panose="02020603050405020304" pitchFamily="18" charset="-78"/>
              </a:rPr>
              <a:t>والعورة هي كل ما يجب ستره أو يحرم النظر إليه.</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1- حدود العورة في الصلاة: </a:t>
            </a:r>
            <a:r>
              <a:rPr lang="ar-SA" sz="2400" dirty="0">
                <a:solidFill>
                  <a:schemeClr val="tx1"/>
                </a:solidFill>
                <a:latin typeface="Traditional Arabic" panose="02020603050405020304" pitchFamily="18" charset="-78"/>
                <a:cs typeface="Traditional Arabic" panose="02020603050405020304" pitchFamily="18" charset="-78"/>
              </a:rPr>
              <a:t>بالنسبة للرجل ما بين السرة والركبة، فيجب ألا يبدو منه شيء في الصلاة. بالنسبة للمرأة: جميع جسدها ماعدا الوجه والكفين.</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 حدود العورة خارج الصلاة: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1-عورة الرجل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بالنسبة للرجل وأمام محارمه من النساء ما بين السرة والركبة.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وأما أمام النساء الأجنبيات</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فما عدا الوجه والكفين على المعتمد، فإن كان النظر بشهوة حرم حتى بالنسبة للوجه. قال تعالى: وَقُلْ لِلْمُؤْمِنَاتِ يَغْضُضْنَ مِنْ أَبْصَارِهِنَّ وَيَحْفَظْنَ فُرُوجَهُنَّ.</a:t>
            </a:r>
            <a:endParaRPr lang="ar-SA" sz="2400" dirty="0">
              <a:solidFill>
                <a:schemeClr val="tx1"/>
              </a:solidFill>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3650666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8C0A2-F5AA-D917-1B8D-FF139F92EAFE}"/>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E19FC269-822B-B61F-7095-669E115971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33BAB8C0-BC50-0848-D28F-BCE2403C70E5}"/>
              </a:ext>
            </a:extLst>
          </p:cNvPr>
          <p:cNvSpPr/>
          <p:nvPr/>
        </p:nvSpPr>
        <p:spPr>
          <a:xfrm>
            <a:off x="96253" y="0"/>
            <a:ext cx="12021953" cy="6858000"/>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endParaRPr lang="ar-SA" sz="2400" dirty="0">
              <a:latin typeface="Traditional Arabic" panose="02020603050405020304" pitchFamily="18" charset="-78"/>
              <a:cs typeface="Traditional Arabic" panose="02020603050405020304" pitchFamily="18" charset="-78"/>
            </a:endParaRPr>
          </a:p>
          <a:p>
            <a:pPr algn="just"/>
            <a:r>
              <a:rPr lang="ar-SA" sz="2400" dirty="0">
                <a:latin typeface="Traditional Arabic" panose="02020603050405020304" pitchFamily="18" charset="-78"/>
                <a:cs typeface="Traditional Arabic" panose="02020603050405020304" pitchFamily="18" charset="-78"/>
              </a:rPr>
              <a:t>2- عورة المرأة أمام النساء المسلمات ما بين سرتها وركبتها. </a:t>
            </a:r>
          </a:p>
          <a:p>
            <a:pPr algn="just"/>
            <a:r>
              <a:rPr lang="ar-SA" sz="2400" dirty="0">
                <a:latin typeface="Traditional Arabic" panose="02020603050405020304" pitchFamily="18" charset="-78"/>
                <a:cs typeface="Traditional Arabic" panose="02020603050405020304" pitchFamily="18" charset="-78"/>
              </a:rPr>
              <a:t>3-عورتها أمام النساء الكافرات فما عدا الذي يظهر منها لضرورة القيام إلى عمل ما كخدمة البيت ونحوه. </a:t>
            </a:r>
          </a:p>
          <a:p>
            <a:pPr algn="just"/>
            <a:r>
              <a:rPr lang="ar-SA" sz="2400" dirty="0">
                <a:latin typeface="Traditional Arabic" panose="02020603050405020304" pitchFamily="18" charset="-78"/>
                <a:cs typeface="Traditional Arabic" panose="02020603050405020304" pitchFamily="18" charset="-78"/>
              </a:rPr>
              <a:t>4-عورتها أمام الرجال المحارم فما بين السرة والركبة بشرط أمن الفتنة وإلا فلا يجوز أن تبدي شيئاً من أطراف جسمها أمامهم.</a:t>
            </a:r>
          </a:p>
          <a:p>
            <a:pPr algn="just"/>
            <a:r>
              <a:rPr lang="ar-SA" sz="2400" dirty="0">
                <a:latin typeface="Traditional Arabic" panose="02020603050405020304" pitchFamily="18" charset="-78"/>
                <a:cs typeface="Traditional Arabic" panose="02020603050405020304" pitchFamily="18" charset="-78"/>
              </a:rPr>
              <a:t>5-عورتها أمام الرجال الأجانب فجميعها عورة، فلا يجوز لها أن تكشف شيئاً من بدنها أمامهم إلا لعذر، كما لا يجوز لهم أن ينظروا إليها إن كشفت شيئاً من ذلك.</a:t>
            </a:r>
          </a:p>
          <a:p>
            <a:pPr algn="just"/>
            <a:r>
              <a:rPr lang="ar-SA" sz="2400" b="1" dirty="0">
                <a:solidFill>
                  <a:srgbClr val="FF0000"/>
                </a:solidFill>
                <a:latin typeface="Traditional Arabic" panose="02020603050405020304" pitchFamily="18" charset="-78"/>
                <a:cs typeface="Traditional Arabic" panose="02020603050405020304" pitchFamily="18" charset="-78"/>
              </a:rPr>
              <a:t>3- أما حالات كشف العورة والنظر إليها لعذر:</a:t>
            </a:r>
          </a:p>
          <a:p>
            <a:pPr algn="just"/>
            <a:r>
              <a:rPr lang="ar-SA" sz="2400" dirty="0">
                <a:latin typeface="Traditional Arabic" panose="02020603050405020304" pitchFamily="18" charset="-78"/>
                <a:cs typeface="Traditional Arabic" panose="02020603050405020304" pitchFamily="18" charset="-78"/>
              </a:rPr>
              <a:t>١- عند الخطبة لأجل النكاح، فيجوز النظر إلى الوجه والكفين.٢- النظر للشهادة أو المعاملة، فيجوز النظر إلى الوجه خاصة عند الحاجة لمعرفتها. 3-من أجل التطبيب والمداواة، فيجوز كشف العورة لكن فقط: بقدر الحاجة وبوجود محرم أو زوج وألا توجد امرأة تعالجها. </a:t>
            </a:r>
          </a:p>
          <a:p>
            <a:pPr algn="just"/>
            <a:r>
              <a:rPr lang="ar-SA" sz="2400" b="1" dirty="0">
                <a:solidFill>
                  <a:srgbClr val="FF0000"/>
                </a:solidFill>
                <a:latin typeface="Traditional Arabic" panose="02020603050405020304" pitchFamily="18" charset="-78"/>
                <a:cs typeface="Traditional Arabic" panose="02020603050405020304" pitchFamily="18" charset="-78"/>
              </a:rPr>
              <a:t>رابعاً استقبال القبلة : </a:t>
            </a:r>
            <a:r>
              <a:rPr lang="ar-SA" sz="2400" dirty="0">
                <a:latin typeface="Traditional Arabic" panose="02020603050405020304" pitchFamily="18" charset="-78"/>
                <a:cs typeface="Traditional Arabic" panose="02020603050405020304" pitchFamily="18" charset="-78"/>
              </a:rPr>
              <a:t>قال تعالى: فَوَلَّ وَجْهَكَ شَطْرَ الْمَسْجِدِ الْحَرَامِ وَحَيْثُ مَا كُنْتُمْ فَوَلُّوا وُجُوهَكُمْ شَطْرَهُ.</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كيفية الاستدلال على القبلة: </a:t>
            </a:r>
            <a:r>
              <a:rPr lang="ar-SA" sz="2400" b="1" dirty="0">
                <a:solidFill>
                  <a:schemeClr val="tx1"/>
                </a:solidFill>
                <a:latin typeface="Traditional Arabic" panose="02020603050405020304" pitchFamily="18" charset="-78"/>
                <a:cs typeface="Traditional Arabic" panose="02020603050405020304" pitchFamily="18" charset="-78"/>
              </a:rPr>
              <a:t>1-</a:t>
            </a:r>
            <a:r>
              <a:rPr lang="ar-SA" sz="2400" dirty="0">
                <a:latin typeface="Traditional Arabic" panose="02020603050405020304" pitchFamily="18" charset="-78"/>
                <a:cs typeface="Traditional Arabic" panose="02020603050405020304" pitchFamily="18" charset="-78"/>
              </a:rPr>
              <a:t>إذا كان قريباً منها بحيث يمكن رؤيتها فيجب عليه أن يستقبل عين القبلة يقيناً. ٢- إذا كان بعيداً عنها بحيث لا يمكنه رؤيتها فيجب عليه أن يستقبل عين القبلة معتمداً على الأدلة الظنية، إن لم يمكنه الدليل القطعي.</a:t>
            </a: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أركان الصلاة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معنى الركن: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ركن الشيء وهو ما كان جزءاً أساسياً منه ولا يقوم إلا به.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وتتلخص أركان الصلاة بثلاثة عشر ركناً وهي</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١ - النية: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وهي قصد الشيء مقترناً بأول فعله ومحلها القلب، ولا بد أن تقترن بتكبيرة الإحرام.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 القيام مع القدرة في الصلاة المفروضة: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1-وإذا قدر المصلي على الوقوف في بعض صلاته وعجز في بعضها الآخر، وقف حيث يمكنه ذلك، وجلس في </a:t>
            </a:r>
            <a:r>
              <a:rPr kumimoji="0" lang="ar-SA" sz="2400" b="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سائرها</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2-وخرج بقيد الصلاة المفروضة: الصلوات النوافل، فإن القيام بها مندوب مطلقاً، سواء أكان قادراً على القيام أم لا.</a:t>
            </a:r>
          </a:p>
          <a:p>
            <a:endParaRPr lang="ar-SA" sz="2400"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1969070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093C5-9150-1EF5-5AB4-C6A8629AE598}"/>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F7E8CE05-33D3-F50E-DEF3-E691A39CD9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C5006675-4C2A-AFCB-8559-AED3C570E768}"/>
              </a:ext>
            </a:extLst>
          </p:cNvPr>
          <p:cNvSpPr/>
          <p:nvPr/>
        </p:nvSpPr>
        <p:spPr>
          <a:xfrm>
            <a:off x="240633" y="0"/>
            <a:ext cx="11867948" cy="6857999"/>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 تكبيرة الأحرام: ولها شروط: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يتلفظ بها وهو قائم.  2-أن ينطق بها حال استقبال القبلة. 3- أن تكون باللغة العربية، لكن من عجز عنها، ولم يمكنه التعلم في الوقت أتى بترجمتها. 4- أن يسمع نفسه جميع حروفها إ ن كان صحيح السمع. 5ـ- مصاحبتها للنية.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4-قراءة الفاتحة: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وهي ركن في كل ركعة من الصلاة فرضاً أم نفلاً، جماعة أم منفرداً. والبسملة آية منها، ولها شروط:</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يسمع القارئ نفسه، إذا كان معتدل السمع. 2-أن يرتب القراءة فيها حسب ترتيبها الوارد، مراعياً مخارج الحروف، وإبراز الشدات فيها. </a:t>
            </a:r>
            <a:r>
              <a:rPr lang="ar-SA" sz="2400" dirty="0">
                <a:solidFill>
                  <a:prstClr val="black"/>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يقرأها المصلي وهو قائم. وإن عجز المصلي عن الفاتحة لعجمة ونحوها قرأ بدلاً منها سبع آيات مما يحفظ من القرآن فإن لم يحفظ شيئاً ذكر الله بمقدار طول الفاتحة ثم يركع.</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5</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-الركوع:</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الركوع: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الانحناء بقدر بلوغ كفه إلى ركبته. 2- ألا يقصد بانحنائه شيئاً آخر غير الركوع، فلو انحنى خوفاً من شيء، ثم استمر منحنياً قاصداً أن يجعله ركوعاً لم يصح، بل يجب أن يعود قائماً ثم ينحني بقصد الركوع. 3- الطمأنينة: أي أن يستقر في انحنائه قدر تسبيحة وهذا أقلها.</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6- الاعتدال بعد الركوع:</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الاعتدال: </a:t>
            </a:r>
            <a:r>
              <a:rPr lang="ar-SA" sz="2400" dirty="0">
                <a:solidFill>
                  <a:prstClr val="black"/>
                </a:solidFill>
                <a:latin typeface="Traditional Arabic" panose="02020603050405020304" pitchFamily="18" charset="-78"/>
                <a:cs typeface="Traditional Arabic" panose="02020603050405020304" pitchFamily="18" charset="-78"/>
              </a:rPr>
              <a:t>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ألا يقصد بالاعتدال من الركوع شيئاً آخر غير العبادة. 2- أن يطمئن في اعتداله قدر تسبيحة على الأقل. 3- ألا يطيل الوقوف فيه تطويلاً فاحشاً، بأن يزيد على مدة قراءة الفاتحة.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7-السجود مرتين كل ركعة: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وهو مباشرة جبهة المصلي موضع سجوده.،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شروط السجود: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كشف الجبهة عند ملامستها الأرض. 2- أن يكون السجود على سبعة أعضاء وهي التي ذكرها النبي ﷺ بقوله: «أمرت أن أسجد على سبعة أعظم على الجبهة - وأشار بيده إلى أنفه - واليدين والركبتين وأطراف القدمين». 3- أن ترتفع أسافله على أعاليه، ما أمكن ذلك.  4-ألا يسجد على ثوب متصل به بحيث يتحرك بحركته. 5- ألا يقصد بالسجود شيئاً آخر كخوف ونحوه.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6-و أن يتحامل بجبهته على الأرض تحاملاً بيناً، بحيث لو تحتها قطن لانكبس. 7- أن يطمئن في السجود بمقدار تسبيحة على الأقل.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1455403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3913E-8A41-2D6C-8F24-2348979A5AB7}"/>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BC4C03E6-D107-5765-FB94-298248BD45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906F0F6F-BE4A-3B1F-861A-07BC14D4AE32}"/>
              </a:ext>
            </a:extLst>
          </p:cNvPr>
          <p:cNvSpPr/>
          <p:nvPr/>
        </p:nvSpPr>
        <p:spPr>
          <a:xfrm>
            <a:off x="105878" y="0"/>
            <a:ext cx="11916076" cy="6857999"/>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وأكمل السجود: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يكبر لهويه، ويضع ركبتيه ثم يديه ثم جبهته وأنفه، ويضع يديه حذو منكبيه وينشر أصابعه مضمومة للقبلة، ويفرق بطنه عن فخذيه، ومرفقيه عن الأرض وعن جنبيه، ويقول سبحان ربي الأعلى، ثلاثاً. وتخالف المرأة الرجل في بعض ما سبق، فتضم بعضها إلى بعض أثناء السجود.</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8-الجلوس بين السجدتين: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شروطها 1-أن يقصد بجلوسه العبادة. 2- ألا يطوله تطويلاً فاحشاً بحيث يزيد عن مدة أقل التشهد.</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3- الطمأنينة بمقدار تسبيحة على الأقل.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9-الجلوس الأخير: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ويقصد به الجلوس الذي يكون في آخر ركعة من ركعات الصلاة بحيث يعقبه السلام.</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10- التشهد في الجلوس الأخير:</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ويشترط في التشهد: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يسمع نفسه إذا كان سمعه معتدلاً. 2-موالاة القراءة، فلو فصلها بفاصل سكوت طويل أو ذكر آخر بطلت ووجبت الإعادة. 3- أن يقرأ التشهد وهو قاعد. 4- أن يكون باللغة العربية، فإن عجز ترجم وأتى به بأي لغة شاء مع وجوب التعلم عليه. 5ـ- مراعاة المخارج والشدات، فلو لحن في كلمة واستلزم تغيير المعنى بطل التشهد ووجب عليه إعادته. 6-ترتيب كلماته حسب النص الوارد.</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۱۱- الصلاة على النبي ﷺ بعد التشهد الأخير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شروطها: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يسمع بها نفسه إذا كان معتدل السمع. 2- أن تكون بلفظ "محمد" أو بلفظ "رسول" أو "النبي". 3- أن تكون بالعربية، فإن عجز ترجم بأي لغة شاء مع وجوب المبادرة للتعلم.4-الترتيب في صيغة الصلاة، والترتيب بينها وبين التشهد.</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١٢- التسليمة الأولى: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وهي قول المصلي ملتفتاً إلى يمينه: السلام عليكم ورحمة الله مرتين الأولى عن يمينه والثانية عن شماله.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۱3- ترتيب هذه الأركان حسب ورودها: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فإن قدم بعض هذه الأركان على محله المشروع فيه، بطلت صلاته إن تعمد ذلك. أما إن فعل ذلك غير متعمد بطلت صلاته من أول الركن الذي فعله في غير موضعه، فيجب عليه أن يعيد ذلك كله. وعلى هذا، فإن استمر في صلاته بعد أن غير الترتيب المطلوب، إلى أن وصل إلى مثل ذلك الموضع من الركعة السابقة نزل الصحيح من الركعة التالية منزلة الفاسد من الركعة التي قبلها، فوجب عليه حينئذ أن يزيد على صلاته ركعة، بدلاً من الركعة التي فسدت بفساد الترتيب بين أركانها.</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3867934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E03A3-E32C-D574-94BF-23465C1918A2}"/>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D1A67B58-ADFE-267A-F987-366A5BCA2A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A10BE2FD-EC2B-355D-E62B-2F14C4124C34}"/>
              </a:ext>
            </a:extLst>
          </p:cNvPr>
          <p:cNvSpPr/>
          <p:nvPr/>
        </p:nvSpPr>
        <p:spPr>
          <a:xfrm>
            <a:off x="115503" y="0"/>
            <a:ext cx="12076497" cy="6858000"/>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سنن الصلاة: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وتنقسم في مجموعها إلى: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سنن تؤدى قبل الصلاة، وسنن تؤدى في أثنائها، وسنن تؤدى عقبها.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 السنن التي تؤدى قبل الصلاة</a:t>
            </a:r>
            <a:r>
              <a:rPr lang="ar-SA" sz="2400" b="1" dirty="0">
                <a:solidFill>
                  <a:prstClr val="black"/>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وهي ثلاثة أمور: ا لأول والثاني : الأذان والإقامة وقد تقدم بيانهما فيما سبق.  الثالث : اتخاذ سترة أمامه تحول بينه وبين المارين كجدار وعمود وعصا، أو كأن يبسط أمامه مصلى كسجادة ونحوها، فإن لم يجد خط خطاً. والأفضل أن تكون السترة قريبة من موضع سجوده.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 السنن التي تؤدى أثناء الصلاة</a:t>
            </a:r>
            <a:r>
              <a:rPr lang="ar-SA" sz="2400" b="1" dirty="0">
                <a:solidFill>
                  <a:prstClr val="black"/>
                </a:solidFill>
                <a:latin typeface="Traditional Arabic" panose="02020603050405020304" pitchFamily="18" charset="-78"/>
                <a:cs typeface="Traditional Arabic" panose="02020603050405020304" pitchFamily="18" charset="-78"/>
              </a:rPr>
              <a:t>:</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وهي تنقسم إلى قسمين: أبعاض، وهيئات</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1- فالأبعاض: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كل ما يجبر بسجود السهو في آخر الصلاة.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 الهيئات: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ما لا يجبر تركه بسجود السهو.</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أولاً الأبعاض:</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1-التشهد الأول ويقصد به التشهد في الجلوس الذي لا يعقبه سلام. 2-الصلاة على النبي ﷺ عقب التشهد الأول.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الجلوس للتشهد الأول.4</a:t>
            </a:r>
            <a:r>
              <a:rPr lang="ar-SA" sz="2400" dirty="0">
                <a:solidFill>
                  <a:prstClr val="black"/>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الصلاة على آل النبي له بعد التشهد الأخير الذي هو ركن.5-القنوت عند الاعتدال من الركعة الثانية في صلاة الفجر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ثانياً الهيئات:</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 رفع اليدين عند تكبيرة الإحرام وعند الركوع والرفع منه، ويستقبل بكفيه القبلة محاذياً بإبهاميه لشحمتي الأذنين.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2-وضع يده اليمنى على ظهر يده اليسرى، وذلك في الوقوف. وكيفية ذلك أن يضع يده اليمنى على ظهر كف ورسغ اليسرى، ويقبض على اليسرى بأصابع يده اليمنى ويكون محل ذلك تحت صدره وفوق سرته.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3-النظر إلى موضع سجوده.4-افتتاح الصلاة بعد التكبير بقراءة التوجه.5- الاستعاذة بعد التوجه. 6- الجهر بالقراءة في موضعه والاسرار في موضعه. 7- التأمين عند انتهاء الفاتحة. 8- قراءة شيء من القرآن بعد الفاتحة. 9- التكبير عند الانتقالات. 10- التسبيح عند الركوع والسجود. 11- وضع اليدين على أول الفخذين في جلستي التشهد.12- التورك في الجلسة الأخيرة والافتراش في غيرها. 13- الصلوات الإبراهيمية ثم الدعاء بعد التشهد الأخير. 14-التسليمة الثانية. 15- التزام الخشوع في سائر الصلاة</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1087200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052B8-8712-6DE4-DD36-A07D22597A77}"/>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D60F15D9-E58E-2562-AA40-8415BBFCA2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D28CAE10-8A48-969F-2ECB-749D86BC5E51}"/>
              </a:ext>
            </a:extLst>
          </p:cNvPr>
          <p:cNvSpPr/>
          <p:nvPr/>
        </p:nvSpPr>
        <p:spPr>
          <a:xfrm>
            <a:off x="60960" y="77002"/>
            <a:ext cx="12070080" cy="6780998"/>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3- السنن التي تؤدى عقب الصلاة:</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1-الاستغفار والذكر والدعاء.2- ان ينتقل للنفل من موضع فرضه لتكثر مواضع سجوده فإنها تشهد له. 3- المكوث في المسجد حتى ينصرف النساء لأن الاختلاط بهن مظنة الفساد.</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مكروهات الصلاة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معناه: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المكروه كل ما يثاب المصلي على تركه امتثالاً، ولا يبطل الصلاة فعله.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قاعدة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كل مخالفة لسنة من السنن التي مضى بيانها، يدخل في نطاق المكروه، وذلك كترك تكبيرات الانتقال وترك الافتتاح بالتوجه.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وثمة أمور أخرى مكروهة نذكر منها</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1- الالتفات في الصلاة بالعنق إلا لحاجة: هذا إذا كان الالتفات بالعنق، أما إذا التفت بصدره فحوله عن القبلة، فإنه تبطل صلاته لتركه شرط استقبال القبلة. 2-رفع بصره إلى السماء. 3-كف الشعر وتشمير أطراف الثوب أثناء الصلاة. 4-الصلاة عند حضرة طعام تتوق نفسه إليه لانشغال نفسه به مما يفوت عليه الخشوع في الصلاة.5- الصلاة عند حصر البول أو الغائط. 6- الصلاة في حالة النعاس الشديد. 7-الصلاة في الأماكن التالية: المزبلة والمجزرة والمقبرة وقارعة الطريق، وفي الحمام، وفي معاطن الإبل وفوق ظهر البيت.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أمور تخالف فيها المرأة الرجل: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يسن للمرأة أن تخالف الرجل في خمسة أشياء وهي:</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أولاً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تضم بعضها إلى بعض في السجود بأن تضم مرفقيها إلى جنبيها، وتلصق بطنها بفخذيها وذلك بخلاف الرجل.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ثانياً</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تخفض صوتها في حضرة الرجال الأجانب، فلا تجهر في الصلاة الجهرية خشية الفتنة بخلاف الرجل فإنه يسن له الجهر في مواطن الجهر.</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ثالثاً</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إذا ناب المرأة شيء أثناء الصلاة، وأرادت أن تنبه أحداً فإنها تصفق بأن تضرب يدها اليمنى على ظهر كف اليسرى، أما الرجل فيسبح بصوت مرتفع.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رابعاً</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جميع بدن المرأة عورة في الصلاة إلا وجهها وكفيها، وقد سبق بيانه، أما الرجل فعورته ما بين سرته وركبته.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خامساً</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 لا يسن للمرأة الأذان ويسن لها الإقامة بخلاف الرجل فإن الأذان له سنة في كل مكتوبة.</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lang="ar-SA" sz="2400" dirty="0">
              <a:solidFill>
                <a:schemeClr val="tx1"/>
              </a:solidFill>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939667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A9CE2-A703-9C1D-81DD-D171B9A1894E}"/>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E400A99D-B3AC-D879-8C3A-96A57B7883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1E4A8E11-ADE4-FF89-D2E3-1D106F92B139}"/>
              </a:ext>
            </a:extLst>
          </p:cNvPr>
          <p:cNvSpPr/>
          <p:nvPr/>
        </p:nvSpPr>
        <p:spPr>
          <a:xfrm>
            <a:off x="87087" y="0"/>
            <a:ext cx="11930742" cy="6807200"/>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مبطلات الصلاة: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تبطل الصلاة إذا تلبس المصلي بواحد من الأمور التالية: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1- الكلام العمد :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وعد الكلام المبطل ما كان مؤلفا من حرفين فصاعدا وإن لم يفهم منه معنى. أما إن تكلم ناسيا أنه في الصلاة أو جاهلاً لتحريمه لقرب عهده بالإسلام، فيعفا عن يسير الكلام، وهو مالم يزد على ست كلمات.</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2-الفعل الكثير: </a:t>
            </a:r>
            <a:r>
              <a:rPr lang="ar-SA" sz="2400" dirty="0">
                <a:solidFill>
                  <a:prstClr val="black"/>
                </a:solidFill>
                <a:latin typeface="Traditional Arabic" panose="02020603050405020304" pitchFamily="18" charset="-78"/>
                <a:cs typeface="Traditional Arabic" panose="02020603050405020304" pitchFamily="18" charset="-78"/>
              </a:rPr>
              <a:t>لأنه يتنافى مع نظام الصلاة، بشرط أن يكثر ويتوالى، وضابطا الكثرة ثلاث حركات فصاعدا، وضابط الموالاة أن تعد الأعمال متتابعة بالعرف.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3-ملاقاة النجاسة لثوب أو بدن </a:t>
            </a:r>
            <a:r>
              <a:rPr lang="ar-SA" sz="2400" dirty="0">
                <a:solidFill>
                  <a:prstClr val="black"/>
                </a:solidFill>
                <a:latin typeface="Traditional Arabic" panose="02020603050405020304" pitchFamily="18" charset="-78"/>
                <a:cs typeface="Traditional Arabic" panose="02020603050405020304" pitchFamily="18" charset="-78"/>
              </a:rPr>
              <a:t>فإذا أصابت النجاسة شيئا منهما ولم يبادر المصلي إلى إلقائها فورا تبطل صلاته، فهو حدث يتنافى مع شروط صحة الصلاة، وهو طهارة الثوب والبدن من النجاسة.</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4- انكشاف شيء من العورة: </a:t>
            </a:r>
            <a:r>
              <a:rPr lang="ar-SA" sz="2400" dirty="0">
                <a:solidFill>
                  <a:prstClr val="black"/>
                </a:solidFill>
                <a:latin typeface="Traditional Arabic" panose="02020603050405020304" pitchFamily="18" charset="-78"/>
                <a:cs typeface="Traditional Arabic" panose="02020603050405020304" pitchFamily="18" charset="-78"/>
              </a:rPr>
              <a:t>فإن كشف المصلي شيئا من عورته عمداً بطلت صلاته فوراً، أما إن انكشفت بدون قصد : فإن أسرع إلى سترها لم تبطل، وإلا بطلت.</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5-الأكل والشرب: </a:t>
            </a:r>
            <a:r>
              <a:rPr lang="ar-SA" sz="2400" dirty="0">
                <a:solidFill>
                  <a:prstClr val="black"/>
                </a:solidFill>
                <a:latin typeface="Traditional Arabic" panose="02020603050405020304" pitchFamily="18" charset="-78"/>
                <a:cs typeface="Traditional Arabic" panose="02020603050405020304" pitchFamily="18" charset="-78"/>
              </a:rPr>
              <a:t>إن كان عمداً تبطل صلاته مهما قل، وإن كان غير متعمد: فيشترط أن يكون كثيراً عرفاً، وقد قدر الفقهاء الكثير بما يبلغ مجموعه قدر حمصة. وتبطل الصلاة كذلك إذا وجدت سكرة في فمه فذاب شيء منها وبلعه.</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6- الحدث قبل التسليمة الأولى : </a:t>
            </a:r>
            <a:r>
              <a:rPr lang="ar-SA" sz="2400" dirty="0">
                <a:solidFill>
                  <a:prstClr val="black"/>
                </a:solidFill>
                <a:latin typeface="Traditional Arabic" panose="02020603050405020304" pitchFamily="18" charset="-78"/>
                <a:cs typeface="Traditional Arabic" panose="02020603050405020304" pitchFamily="18" charset="-78"/>
              </a:rPr>
              <a:t>ولا فرق في ذلك بين العمد والسهو.</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7-التنحنح والضحك والبكاء والأنين: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إن ظهر بكل من ذلك حرفان؛ هذا إذا كان عمداً، فإن كان مغلوباً على أمره كما إذا فاجأه السعال لم تبطل. أما التبسم فلا تبطل به الصلاة.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8- تغير النية :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ضابط ذلك: أن يعزم على الخروج من الصلاة، أو يعلق خروجه منها على أمر كمجيء شخص ونحوه، فإن صلاته تبطل بمجرد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طروء</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هذا القصد.</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9- استدبار القبلة: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إن كان عمداً تبطل صلاته مباشرة، أما إن أداره شخص غصباً فإن استدار إلى القبلة بسرعة لم تبطل، وإلا بطلت.</a:t>
            </a:r>
          </a:p>
        </p:txBody>
      </p:sp>
    </p:spTree>
    <p:extLst>
      <p:ext uri="{BB962C8B-B14F-4D97-AF65-F5344CB8AC3E}">
        <p14:creationId xmlns:p14="http://schemas.microsoft.com/office/powerpoint/2010/main" val="963517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A3BFC-F5F9-F168-D7BA-D715F9BC5BF9}"/>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4F76B6C1-B02D-D110-5E91-1AA63A44E9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DC17E4F5-D25F-B401-F699-3F1E0B3D4808}"/>
              </a:ext>
            </a:extLst>
          </p:cNvPr>
          <p:cNvSpPr/>
          <p:nvPr/>
        </p:nvSpPr>
        <p:spPr>
          <a:xfrm>
            <a:off x="571565" y="0"/>
            <a:ext cx="11349252" cy="6571397"/>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سجود السهو</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السهو: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خلل يوقعه المصلي في صلاته، سواء كان عمداً أو نسياناً، ويكون السجود جبراً لذلك الخلل.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سجود السهو: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سنة عند حدوث سبب من أسبابه، ولا تبطل الصلاة بتركه، فهو ليس بواجب لأنه لم يشرع لترك واجب.</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أسباب سجود السهو:</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يترك المصلي بعضا من أبعاض الصلاة.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أ-</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التشهد الأول ويقصد به التشهد في الجلوس الذي لا يعقبه سلام. ب-الصلاة على النبي ﷺ عقب التشهد الأول.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ج-الجلوس للتشهد الأول. د-الصلاة على آل النبي له بعد التشهد الأخير الذي هو ركن. ه-القنوت عند الاعتدال من الركعة الثانية في صلاة الفجر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الشك في عدد ما أتى به من الركعات: فيفرض العدد الأقل، ويتمم الباقي ثم يسجد للسهو، أما إن كان الشك بعد الخروج من الصلاة، فلا يلتفت إليه وصلاته صحيحة. وإذا سها المأموم حال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قدوته</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بالإمام، لا يلزمه شيء ويحمل الإمام سهوه.</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3</a:t>
            </a:r>
            <a:r>
              <a:rPr lang="ar-SA" sz="2400" dirty="0">
                <a:solidFill>
                  <a:prstClr val="black"/>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ارتكاب فعل منهى عنه سهواً، إذا كان عمده يبطل الصلاة: كما إذا تكلم بكلمات قليلة سهواً، أو زاد ركعة سهواً.</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4</a:t>
            </a:r>
            <a:r>
              <a:rPr lang="ar-SA" sz="2400" dirty="0">
                <a:solidFill>
                  <a:prstClr val="black"/>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نقل شيء من أفعال الصلاة ركناً كان أو بعضاً، أو سورة نقلها إلى غير محلها :مثال قرأ الفاتحة في التشهد الأول، أو قرأ القنوت في الركوع.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كيفية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سجود السهو ومحله: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سجدتان كسجدات الصلاة، ومحله آخر الصلاة قبل التسليم. فإن سلم عمداً قبل أن يسجد فاته السجود، وكذلك إن سلم سهواً وطال الفصل. أما إن سلم سهواً وقصر الفصل فله أن يتدارك السجود بأن يسجد مرتين بنية السهو ثم يسلم مرة أخرى.</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3868797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2C934-1F77-A4CF-C1FE-514F13C1958A}"/>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41269A42-6E1B-FC46-ADAE-2227B851EE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DB14C588-5621-D614-3327-AEBC56C3BB12}"/>
              </a:ext>
            </a:extLst>
          </p:cNvPr>
          <p:cNvSpPr/>
          <p:nvPr/>
        </p:nvSpPr>
        <p:spPr>
          <a:xfrm>
            <a:off x="115503" y="0"/>
            <a:ext cx="11964201" cy="6708808"/>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سجود التلاوة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یسن</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سجود التلاوة للقارئ داخل الصلاة وخارجها، وللمستمع خارج الصلاة.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عدد سجدات التلاوة: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سجدات التلاوة في القرآن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أربع عشر سجدة.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كيفيتها: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 أراد سجود التلاوة يكبر للإحرام رافعاً يديه، ثم يكبر للهوي، ويسجد سجدة واحدة كسجدات الصلاة، ثم يسلم</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وتكبيرة الإحرام والتسليم شرطان فيها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ويشترط أيضا ما يشترط في الصلاة من الطهارة واستقبال القبلة وغير ذلك.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صلاة الجماعة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تاريخ إقامتها: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أقام النبي الجماعة بعد الهجرة إلى المدينة المنورة.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الصحيح أنها - فيما عدا صلاة الجمعة-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فرض كفاية،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لا تسقط فرضيتها عن أهل البلد إلا حيث يظهر شعارها، فإن لم تؤد فيها مطلقا أو أديت في خفاء أثم أهل البلد كلهم.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حكمة مشروعيتها: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لها حكم كثيرة جداً منها تعارف المسلمين وتأخيهم وتعاونهم، وتساعد كذلك على تمزيق الأحقاد والضغائن </a:t>
            </a:r>
            <a:r>
              <a:rPr kumimoji="0" lang="ar-SA" sz="2400" i="0" u="none" strike="noStrike" kern="1200" cap="none" spc="0" normalizeH="0" baseline="0" noProof="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والفرقة.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الأعذار المقبولة في التخلف عن صلاة الجماعة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الأعذار قسمان: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أعذار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عامة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وأعذار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خاصة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أما الأعذار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العامة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فكمطر وريح عاصف بليل ووحل شديد في الطريق.</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وأما الأعذار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الخاصة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مرض وجوع وعطش شديدين، وكخوف من ظالم على نفسه ومدافعة حدث من بول أو غائط، وكأكل ذي ريح كريه.</a:t>
            </a:r>
          </a:p>
        </p:txBody>
      </p:sp>
    </p:spTree>
    <p:extLst>
      <p:ext uri="{BB962C8B-B14F-4D97-AF65-F5344CB8AC3E}">
        <p14:creationId xmlns:p14="http://schemas.microsoft.com/office/powerpoint/2010/main" val="2927602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C83CC-0ECB-867E-D8AD-0FEA3087AB57}"/>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83BC1656-FD7A-E798-169F-DA9AC79BAD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2D005CE0-C417-8E71-C08D-85AE0711D858}"/>
              </a:ext>
            </a:extLst>
          </p:cNvPr>
          <p:cNvSpPr/>
          <p:nvPr/>
        </p:nvSpPr>
        <p:spPr>
          <a:xfrm>
            <a:off x="125128" y="170596"/>
            <a:ext cx="11964203" cy="6687403"/>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من يقتدى به: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 ألا يعلم المقتدي بطلان صلاة إمامه أو يعتقد ذلك</a:t>
            </a:r>
            <a:r>
              <a:rPr lang="ar-SA" sz="2400" dirty="0">
                <a:solidFill>
                  <a:srgbClr val="FF0000"/>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مثاله</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يجتهد اثنان في جهة القبلة فاعتقد كل منهما أن القبلة في جهة غير التي اعتقد الأخر، فلا يجوز أن يقتدي أحدهما بالآخر.</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ألا يكون الإمام أمياً، والمقتدي قارئ: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والمقصود بالأمي هنا من لا يتقن قراءة الفاتحة بحيث يخل بحرف من حروفها أو شدة من شداتها، فإن كان المقتدي مثله جاز.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ألا يكون الإمام امرأة، والمقتدي رجلاً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فإن كان المقتدي امرأة جاز.</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من الصفات التي يستحب أن يتحلى بها الإمام: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يجدر بالإمام أن يكون أفقه القوم، وأقرأهم وأصلحهم وأسنهم.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روی</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مسلم عن ابن مسعود رضي الله عنه قال: قال رسول الله ﷺ «يؤم القوم أقرأهم الكتاب الله، فإن كانوا في القراءة سواء فأعلمهم بالسنة، فإن كانوا في السنة سواء فأقدمهم هجرة، فإن كانوا في الهجرة سواء فأقدمهم سناً».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كيفية الاقتداء: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لا يتحقق الاقتداء المشروع إلا بشروط وكيفيات نلخصها فيما يلي:</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1-ألا يتقدم المأموم على الإمام في المكان: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فإن تقدم عليه بطل اقتداؤه، وتكره مساواته للإمام لكن لا تبطل صلاته، بل يندب تخلفه عنه قليلاً، والاعتبار في التقدم والتأخر هو العقب، وهو مؤخر القدم.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فإن كان المتقدي اثنين فأكثر اصطفوا خلف الإمام. وإن كان واحداً وقف على يمين الإمام، فإن جاء آخر وقف عن يساره ثم رجعا أو تقدم الإمام. ويسن ألا يزيد ما بين الإمام والمأموم عن ثلاثة أذرع الذراع ٥٠ سم تقريباً وهكذا بين كل صفين.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وإذا صلى خلف الإمام رجال ونساء صف الرجال أولاً ثم النساء بعدهم. أما جماعة النساء فتقف إمامتهن وسطهن لثبوت ذلك عن عائشة وأم سلمة رضي الله عنهم.</a:t>
            </a:r>
          </a:p>
        </p:txBody>
      </p:sp>
    </p:spTree>
    <p:extLst>
      <p:ext uri="{BB962C8B-B14F-4D97-AF65-F5344CB8AC3E}">
        <p14:creationId xmlns:p14="http://schemas.microsoft.com/office/powerpoint/2010/main" val="1078318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8EB91-DA13-4E40-5F36-A116E2D6A3D8}"/>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4282F482-B807-9D96-E4FE-B2DDDD8336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8E9ECA7A-FCA0-1D95-5F73-8B45BAEA1ED7}"/>
              </a:ext>
            </a:extLst>
          </p:cNvPr>
          <p:cNvSpPr/>
          <p:nvPr/>
        </p:nvSpPr>
        <p:spPr>
          <a:xfrm>
            <a:off x="319015" y="67378"/>
            <a:ext cx="11770315" cy="6790622"/>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2-أن يتابعه في انتقالاته وسائر أركان الصلاة الفعلية: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فإن تأخر المأموم عن الإمام قدر ركن كره ذلك، وإن تأخر عنه قدر ركنين طويلين: كأن ركع واعتدل ثم سجد ورفع ولا يزال المأموم واقفاً من دون عذر بطلت صلاته.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3-العلم بانتقالات الإمام: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وذلك بأن يراه، أو يرى بعض صف، أو يسمع مبلغاً.</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٤</a:t>
            </a:r>
            <a:r>
              <a:rPr lang="ar-SA" sz="2400" b="1" dirty="0">
                <a:solidFill>
                  <a:srgbClr val="FF0000"/>
                </a:solidFill>
                <a:latin typeface="Traditional Arabic" panose="02020603050405020304" pitchFamily="18" charset="-78"/>
                <a:cs typeface="Traditional Arabic" panose="02020603050405020304" pitchFamily="18" charset="-78"/>
              </a:rPr>
              <a:t>-</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ألا يكون بين الإمام والمأموم فاصل مكاني كبير: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إذا لم يكونا في المسجد، أما إذا جمعهما مسجد، فإن الاقتداء صحيح مهما بعدت المسافة بينهما، أو حالت أبنية نافذة. أما إذا كانا في خارج المسجد أو كان الإمام في المسجد والمقتدي خارجه فيشترط عندئذ ألا تبتعد المسافة بين الإمام والمقتدي.</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5-</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أن ينوي المتقدي الجماعة أو الاقتداء: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ويشترط أن تكون النية مع تكبيرة الإحرام، فلو ترك نية الاقتداء وتابعه مع ذلك في الانتقالات والأفعال بطلت صلاته.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أما الإمام فلا يجب عليه أن ينوي ال</a:t>
            </a:r>
            <a:r>
              <a:rPr lang="ar-SA" sz="2400" dirty="0">
                <a:solidFill>
                  <a:prstClr val="black"/>
                </a:solidFill>
                <a:latin typeface="Traditional Arabic" panose="02020603050405020304" pitchFamily="18" charset="-78"/>
                <a:cs typeface="Traditional Arabic" panose="02020603050405020304" pitchFamily="18" charset="-78"/>
              </a:rPr>
              <a:t>إ</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مامة بل يستحب له ذلك لتحصل له فضيلة الجماعة فإن لم ينو لم تحصل له.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ويحصل المأموم على فضيلة الجماعة إذا أحرم قبل أن يسلم الإمام. ويدرك المأموم مع الإمام الركعة إذا أدركه في ركوعها، أما إذا أدركه بعد الركوع فقد فاتته الركعة، وكان عليه أن يتداركها أو يتدارك ما فاته إن كان أكثر من ركعة بعد سلام إمامه. </a:t>
            </a:r>
          </a:p>
        </p:txBody>
      </p:sp>
    </p:spTree>
    <p:extLst>
      <p:ext uri="{BB962C8B-B14F-4D97-AF65-F5344CB8AC3E}">
        <p14:creationId xmlns:p14="http://schemas.microsoft.com/office/powerpoint/2010/main" val="3313704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D9F6A-5C2F-1A65-F32E-A1A92306EAD7}"/>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FBE2C511-846A-D653-A460-75837760EF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D61162E9-E2AB-118F-BA5C-91456630CE95}"/>
              </a:ext>
            </a:extLst>
          </p:cNvPr>
          <p:cNvSpPr/>
          <p:nvPr/>
        </p:nvSpPr>
        <p:spPr>
          <a:xfrm>
            <a:off x="86627" y="0"/>
            <a:ext cx="11944951" cy="6858000"/>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صلاة لمسافر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رخص الله سبحانه للمسافر في صلاته رخصتين: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أولاهما: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اختصار في كمية الركعات، ويعني "قصر الصلاة".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الثانية: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ضم صلاتين إلى بعضهما في الأداء، ويسمى "الجمع بين الصلاتين".</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أن يؤدى الصلاة الرباعية (الظهر العصر، العشاء) ركعتين بدلاً من أربع.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أولاً: شروط القصر:</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1</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أن تتعلق بذمته في السفر، ويؤديها أيضاً في السفر: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أما الصلاة التي دخل وقتها قبل أن يسافر، ثم سافر قبل أن يصليها، فلا يجوز أن يصليها قصراً، لأنها تعلقت بذمته تامة، وكذلك لو دخل وقت الصلاة وهو مسافر لكنه لم يصلها حتى رجع إلى بلده، فلا تصلى إلا تامة، لأنه حين أدائها ليس بمسافر، بينما القصر للمسافر.</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أن يتجاوز سور البلد: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التي يسافر منها، أو يتجاوز عمرانها إن لم يكن لها سور.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ألا ينوي المسافر إقامة أربعة أيام غير يومي الدخول والخروج في المكان الذي يسافر إليه.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فإن نوى ذلك أصبحت البلدة التي يسافر إليها في حكم موطنه فلا يجوز له القصر، وأما إن كان ناوياً أن يقيم أقل من أربعة أيام، أو كان لا يعلم مدة بقائه فيها العمل يعالجه ولا يدري متى يتمه قصر في الحالة الأولى إلى أن يعود إلى خطة العمران من بلده، وقصر في الحالة الثانية إلى ثمانية عشر يوماً غير يومي الدخول والخروج.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4</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ألا يقتدي بمقيم: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فإن اقتدى بمقيم وجب عليه الإتمام ولم يجز له القصر. ولا مانع من أن يؤم المسافر مقيمين فيصلي هو ركعتين، وبعد سلامه يتمون صلاتهم.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ثانياً الجمع: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الصلوات التي يجمع بينها: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يصح فقط أن يجمع بين الظهر والعصر، وأن يجمع بين المغرب والعشاء فإن صلاهما في وقت الأولى سمي جمع تقديم، وإن صلاهما في وقت الثانية سمي جمع تأخير، ولكل منهما شروط.</a:t>
            </a:r>
          </a:p>
          <a:p>
            <a:pPr lvl="0">
              <a:defRPr/>
            </a:pPr>
            <a:endPar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1002019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CDA4A-B0CE-254F-8574-146FBA0E0B36}"/>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2EC6018F-CDA9-E3C8-2EDE-4A3368DDBA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F9FC38C0-476D-01E0-8331-A14E96377829}"/>
              </a:ext>
            </a:extLst>
          </p:cNvPr>
          <p:cNvSpPr/>
          <p:nvPr/>
        </p:nvSpPr>
        <p:spPr>
          <a:xfrm>
            <a:off x="109182" y="144379"/>
            <a:ext cx="12003206" cy="6713621"/>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أولاً شروط جمع التقديم:</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1- الترتيب بينهما</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بأن يبدأ بالصلاة الأولى صاحبة الوقت، ثم يتبعها بالأخرى.</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أن ينوي جمع الثانية مع الأولى قبل فراغه من الصلاة الأولى، ولكن يسن أن تكون النية مع تكبير الإحرام بها.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الموالاة بينهما: بأن يبادر إلى الثانية فور فراغه من الأولى، فإن فرق بينهما بشيء طويل عرفاً بطل الجمع ووجب تأخيرها إلى وقتها.</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4</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أن يدوم سفره إلى تلبسه بالثانية.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ثانياً شروط جمع التأخير</a:t>
            </a:r>
            <a:r>
              <a:rPr lang="ar-SA" sz="2400" b="1" dirty="0">
                <a:solidFill>
                  <a:schemeClr val="tx1"/>
                </a:solidFill>
                <a:latin typeface="Traditional Arabic" panose="02020603050405020304" pitchFamily="18" charset="-78"/>
                <a:cs typeface="Traditional Arabic" panose="02020603050405020304" pitchFamily="18" charset="-78"/>
              </a:rPr>
              <a:t>: </a:t>
            </a:r>
            <a:r>
              <a:rPr lang="ar-SA" sz="2400" dirty="0">
                <a:solidFill>
                  <a:schemeClr val="tx1"/>
                </a:solidFill>
                <a:latin typeface="Traditional Arabic" panose="02020603050405020304" pitchFamily="18" charset="-78"/>
                <a:cs typeface="Traditional Arabic" panose="02020603050405020304" pitchFamily="18" charset="-78"/>
              </a:rPr>
              <a:t>1</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أن ينوي جمع الأولى تأخيراً خلال وقتها الأصلي. 2- أن يدوم سفره إلى أن يفرغ من الصلاتين معاً.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السفر الذي يباح فيه القصر والجمع</a:t>
            </a:r>
            <a:r>
              <a:rPr lang="ar-SA" sz="2400" b="1" dirty="0">
                <a:solidFill>
                  <a:schemeClr val="tx1"/>
                </a:solidFill>
                <a:latin typeface="Traditional Arabic" panose="02020603050405020304" pitchFamily="18" charset="-78"/>
                <a:cs typeface="Traditional Arabic" panose="02020603050405020304" pitchFamily="18" charset="-78"/>
              </a:rPr>
              <a:t>:</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1- أن يكون السفر طويلاً يبلغ مسافة (۸۱) كم فصاعداً.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أن يكون السفر إلى جهة معينة مقصودة بذاتها، فلا يعتد بسفر رجل هائم على وجهه ليس له وجهة معينة.</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ألا يكون الغرض من السفر الوصول إلى معصية، كمن يسافر ليتاجر بخمر، أو ليقطع طريقاً، لأن القصر رخصة، والرخص لا تناط بالمعاصي، أي لا تتعلق بما فيه معصية.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الجمع بين الصلاتين في المطر: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يجوز الجمع بين صلاتين تقديماً في المطر. ولا يجوز جمعهما في وقت الثانية لأنه ربما انقطع المطر فيكون أخر الصلاة عن وقتها بلا عذر.</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ويشترط لهذا الجمع الشروط التالية:</a:t>
            </a:r>
            <a:endPar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1</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a:t>
            </a:r>
            <a:r>
              <a:rPr kumimoji="0" lang="ar-SA" sz="2400" b="1"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أن تكون الصلاة جماعة بمسجد بعيد عرفاً، يتأذى المسلم بالمطر في طريقه.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٢-استدامة المطر أول الصلاتين، وعند السلام من الأولى.</a:t>
            </a:r>
          </a:p>
        </p:txBody>
      </p:sp>
    </p:spTree>
    <p:extLst>
      <p:ext uri="{BB962C8B-B14F-4D97-AF65-F5344CB8AC3E}">
        <p14:creationId xmlns:p14="http://schemas.microsoft.com/office/powerpoint/2010/main" val="1161598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47892-D424-0B5C-3CEF-E44E7004819A}"/>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FEBBC109-55C1-018A-B835-996EDA3CB0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79228A66-8B4B-67A9-E4EE-67B5D616096B}"/>
              </a:ext>
            </a:extLst>
          </p:cNvPr>
          <p:cNvSpPr/>
          <p:nvPr/>
        </p:nvSpPr>
        <p:spPr>
          <a:xfrm>
            <a:off x="319015" y="77002"/>
            <a:ext cx="11731813" cy="6780998"/>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صلاة الجمعة: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مشروعيتها</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هي من الفضائل التي اختص الله عز وجل بها هذه الأمة، وقد فرضت بمكة قبل الهجرة إلا أنها لم تقم في مكة لضعف شوكة المسلمين. وأول من جمع لها وصلاها في المدينة المنورة قبل هجرة النبي ﷺ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أسعد بن زرارة رضي الله عنه.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دليل مشروعيتها: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الجمعة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واجبة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دل على ذلك قوله تعالى : ﴿يَا أَيُّهَا الَّذِينَ آمَنُوا إِذَا نُودِيَ لِلصَّلَاةِ مِنْ يَوْمِ الْجُمُعَةِ فَاسْعَوْا إِلَى ذِكْرِ اللَّهِ وَذَرُوا الْبَيْعَ ذَلِكُمْ خَيْرٌ لَكُمْ إِنْ كُنْتُمْ تَعْلَمُونَ﴾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شرائط وجوبها: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الإسلام</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فلا تجب على الكافر.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٢-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البلوغ: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فلا تجب على الصبي إذ هو غير مكلف.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3-</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العقل</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فلا تجب على المجنون لأنه غير مكلف أيضاً.</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4</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الحرية الكاملة: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فلا تجب على الرقيق، لأنه مشغول بحق سيده.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5-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الذكورة: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فلا تجب على النساء، لانشغالهن في الأولاد وشؤون البيت.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6</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الصحة الجسمية: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فلا تجب على المريض الذي يتألم بحضور المسجد،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ويلحق بالمريض من يمرضه ويخدمه ولا يوجد من يقوم مقامه خلال ذهابه إلى الصلاة.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7-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الإقامة بمحل الجمعة: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فلا تجب على مسافر سفراً مباحاً ولو قصيراً، إذا كان قد بدأ سفره قبل فجر يوم الجمعة، وكان لا يسمع من المكان الذي هو فيه صوت الأذان من بلدته التي سافر منها.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قال النبي ﷺ الجمعة حق واجب على كل مسلم في جماعة إلا أربعة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عبد مملوك، أو امرأة، أو صبي، أو مريض.</a:t>
            </a:r>
          </a:p>
        </p:txBody>
      </p:sp>
    </p:spTree>
    <p:extLst>
      <p:ext uri="{BB962C8B-B14F-4D97-AF65-F5344CB8AC3E}">
        <p14:creationId xmlns:p14="http://schemas.microsoft.com/office/powerpoint/2010/main" val="3600066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BC5C1-7F99-5249-DA16-4A6E26EAF2F1}"/>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F584723B-9670-3B38-ED1B-A93CAEA6E5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BFE48AF3-8FBE-ACB4-5075-32BFF741BEB7}"/>
              </a:ext>
            </a:extLst>
          </p:cNvPr>
          <p:cNvSpPr/>
          <p:nvPr/>
        </p:nvSpPr>
        <p:spPr>
          <a:xfrm>
            <a:off x="319016" y="95534"/>
            <a:ext cx="11656894" cy="6475863"/>
          </a:xfrm>
          <a:prstGeom prst="roundRect">
            <a:avLst>
              <a:gd name="adj" fmla="val 2412"/>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شرائط صحتها: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إذا توفرت الشرط السبعة السابقة وجبت صلاة الجمعة إلا أنها لا تصح إلا بأربعة شروط:</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تقام في خطة أبنية في بلدة يستوطنها ما لا يقل عن أربعين رجلاً ممن تجب عليهم صلاة الجمعة، فلا تقام في الصحراء، أو في بلدة لا يوجد فيها أربعون رجلاً تحب في حقهم صلاة الجمعة، فإن سمعوا الأذان من البلدة المجاورة لهم، وجب عليهم الخروج إليها لصلاة الجمعة، وإلا سقطت عنهم.</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٢-</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ألا يقل العدد الذي تقام به صلاة الجمعة عن أربعين رجلاً من أهل الجمعة.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lang="ar-SA" sz="2400" dirty="0">
                <a:solidFill>
                  <a:srgbClr val="FF0000"/>
                </a:solidFill>
                <a:latin typeface="Traditional Arabic" panose="02020603050405020304" pitchFamily="18" charset="-78"/>
                <a:cs typeface="Traditional Arabic" panose="02020603050405020304" pitchFamily="18" charset="-78"/>
              </a:rPr>
              <a:t>-</a:t>
            </a:r>
            <a:r>
              <a:rPr lang="ar-SA" sz="2400" dirty="0">
                <a:solidFill>
                  <a:prstClr val="black"/>
                </a:solidFill>
                <a:latin typeface="Traditional Arabic" panose="02020603050405020304" pitchFamily="18" charset="-78"/>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تقام في وقت الظهر.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٤-</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ألا تتعدد الجمعة في بلد واحد طالما كان ذلك ممكناً، بل يجب أن يجتمع أهل البلدة في مكان واحد، فلو تعددت الجماعات في البلدة الواحدة بدون حاجة، لم يصح منها إلا أسبقها، فالجمعة التي بدأ إمامها قبلاً هي الصحيحة، ويكون جمعات الباقين باطلة ويصلون في مكانها ظهراً.</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فرائض الجمعة: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تتكون شعيرة الجمعة من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فرضين</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الفريضة الأولى: خطبتان،</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ولهما شروط هي: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يقوم الخطيب فيهما إن استطاع، ويفصل بينهما بجلوس.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2</a:t>
            </a:r>
            <a:r>
              <a:rPr lang="ar-SA" sz="2400" dirty="0">
                <a:solidFill>
                  <a:prstClr val="black"/>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تكونا قبل الصلاة.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يكون الخطيب طاهراً من الحدثين الأصغر والأكبر، ومن نجاسة غير معفو عنها في ثوبه وبدنه ومكانه، وأن يكون ساتراً للعورة.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4</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تتلى أركان الخطبة باللغة العربية فإن عجزوا عن تعلم العربية وضاق الوقت تترجم أركان الخطبة باللغة التي يشاء، وصحت بذلك الجمعة. </a:t>
            </a:r>
            <a:endPar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5</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المولاة بين أركان الخطبة، وبين الخطبتين الأولى والثانية، وبين الثانية والصلاة.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6</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يسمع أركان الخطبة أربعون ممن تنعقد بهم الجمعة.</a:t>
            </a:r>
          </a:p>
        </p:txBody>
      </p:sp>
    </p:spTree>
    <p:extLst>
      <p:ext uri="{BB962C8B-B14F-4D97-AF65-F5344CB8AC3E}">
        <p14:creationId xmlns:p14="http://schemas.microsoft.com/office/powerpoint/2010/main" val="22518330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350F3-5739-A1F4-A90C-F60FEE505767}"/>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9B9DBD67-A5B2-3CBB-3C9E-27268740AA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7EF432C8-9A4D-5A36-C505-ABE050C3B5B5}"/>
              </a:ext>
            </a:extLst>
          </p:cNvPr>
          <p:cNvSpPr/>
          <p:nvPr/>
        </p:nvSpPr>
        <p:spPr>
          <a:xfrm>
            <a:off x="319015" y="109182"/>
            <a:ext cx="11643247" cy="6462215"/>
          </a:xfrm>
          <a:prstGeom prst="roundRect">
            <a:avLst>
              <a:gd name="adj" fmla="val 4808"/>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أركان الخطبتين:</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1- حمد الله تعالى بأي صيغة كان.</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 الصلاة على النبي ﷺ بأي صيغة من الصلوات.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 الوصية بتقوى الله تعالى بأي الألفاظ والأساليب كانت.-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فهذه الأركان الثلاثة لكلا الخطبتين لا يصح كل منهما إلا بها.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4-قراءة آية من القرآن في إحدى الخطبتين.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5- الدعاء للمؤمنين في الخطبة الثانية، بما يقع عليه اسم الدعاء عرفاً.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الفريضة الثانية: </a:t>
            </a:r>
            <a:r>
              <a:rPr lang="ar-SA" sz="2400" dirty="0">
                <a:solidFill>
                  <a:prstClr val="black"/>
                </a:solidFill>
                <a:latin typeface="Traditional Arabic" panose="02020603050405020304" pitchFamily="18" charset="-78"/>
                <a:cs typeface="Traditional Arabic" panose="02020603050405020304" pitchFamily="18" charset="-78"/>
              </a:rPr>
              <a:t>صلاة ركعتين في جماعة. </a:t>
            </a:r>
            <a:r>
              <a:rPr lang="ar-SA" sz="2400" dirty="0">
                <a:solidFill>
                  <a:srgbClr val="FF0000"/>
                </a:solidFill>
                <a:latin typeface="Traditional Arabic" panose="02020603050405020304" pitchFamily="18" charset="-78"/>
                <a:cs typeface="Traditional Arabic" panose="02020603050405020304" pitchFamily="18" charset="-78"/>
              </a:rPr>
              <a:t>وإنما يشترط إدراك الجمعة بركعة واحدة منها، فإن أدركها صحت وإلا وجب تحويلها ظهراً. </a:t>
            </a:r>
            <a:r>
              <a:rPr lang="ar-SA" sz="2400" dirty="0">
                <a:solidFill>
                  <a:prstClr val="black"/>
                </a:solidFill>
                <a:latin typeface="Traditional Arabic" panose="02020603050405020304" pitchFamily="18" charset="-78"/>
                <a:cs typeface="Traditional Arabic" panose="02020603050405020304" pitchFamily="18" charset="-78"/>
              </a:rPr>
              <a:t>وعلى ذلك لو جاء مسبوق فاقتدى بالإمام في الركعة الثانية صحت جمعته، ويقوم بعد سلام الإمام فيأتي بركعة أخرى متممة، أما إن أدركه بعد القيام من ركوع الركعة الثانية لم تقع صلاة جمعة، وإنما يتم بعد سلام الإمام ظهراً.</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 آداب الجمعة وهيئاتها:</a:t>
            </a:r>
          </a:p>
          <a:p>
            <a:pPr lvl="0">
              <a:defRPr/>
            </a:pPr>
            <a:r>
              <a:rPr lang="ar-SA" sz="2400" dirty="0">
                <a:solidFill>
                  <a:prstClr val="black"/>
                </a:solidFill>
                <a:latin typeface="Traditional Arabic" panose="02020603050405020304" pitchFamily="18" charset="-78"/>
                <a:cs typeface="Traditional Arabic" panose="02020603050405020304" pitchFamily="18" charset="-78"/>
              </a:rPr>
              <a:t>1- الغسل ٢- تنظيف الجسد من الأوساخ والروائح الكريهة، والتطيب. 3-لبس أحسن الثياب. 4- أخذ الظفر وتهذيب الشعر. 5-التبكير إلى المسجد. 6-صلاة ركعتين عند دخول المسجد. 7- الإنصات للخطبتين.</a:t>
            </a:r>
          </a:p>
          <a:p>
            <a:pPr lvl="0">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آداب عامة ليوم الجمعة:</a:t>
            </a:r>
          </a:p>
          <a:p>
            <a:pPr lvl="0">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أولاً: تسن قراءة سورة الكهف في يوم الجمعة وليلتها.</a:t>
            </a:r>
          </a:p>
          <a:p>
            <a:pPr lvl="0">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ثانياً: يسن الإكثار من الدعاء يومها وليلتها.</a:t>
            </a:r>
          </a:p>
          <a:p>
            <a:pPr lvl="0">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ثالثاً: يسن الإكثار من الصلاة على النبي ﷺ في يومها وليلتها</a:t>
            </a:r>
          </a:p>
          <a:p>
            <a:pPr lvl="0">
              <a:defRPr/>
            </a:pPr>
            <a:endPar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30081775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829AC-7842-EEDC-39E1-A539F9534C8C}"/>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DF9ECB74-38FE-3CBC-E40D-6D61C544B2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357DB6E0-A01F-AE9F-B59D-6D7F863CCE4E}"/>
              </a:ext>
            </a:extLst>
          </p:cNvPr>
          <p:cNvSpPr/>
          <p:nvPr/>
        </p:nvSpPr>
        <p:spPr>
          <a:xfrm>
            <a:off x="296091" y="1"/>
            <a:ext cx="11739155" cy="6783976"/>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صلاة النفل:</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النفل لغة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الزيادة،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واصطلاحاً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ما عدا الفرض. ويرادف النفل: المستحب، والسنة، والمندوب.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صلاة النفل قسمان: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قسم لا يسن فيه الجماعة، وقسم يسن فيه الجماعة.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القسم الأول: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وهو الذي لا يسن فيه الجماعة: وهو أيضا قسمان: </a:t>
            </a:r>
          </a:p>
          <a:p>
            <a:pPr marR="0" lvl="0" algn="r" defTabSz="914400" rtl="1" eaLnBrk="1" fontAlgn="auto" latinLnBrk="0" hangingPunct="1">
              <a:lnSpc>
                <a:spcPct val="100000"/>
              </a:lnSpc>
              <a:spcBef>
                <a:spcPts val="0"/>
              </a:spcBef>
              <a:spcAft>
                <a:spcPts val="0"/>
              </a:spcAft>
              <a:buClrTx/>
              <a:buSzTx/>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أ-النفل التابع للفرائض: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وينقسم إلى: مؤكد، وغير مؤكد.</a:t>
            </a:r>
          </a:p>
          <a:p>
            <a:pPr marR="0" lvl="0" algn="r" defTabSz="914400" rtl="1" eaLnBrk="1" fontAlgn="auto" latinLnBrk="0" hangingPunct="1">
              <a:lnSpc>
                <a:spcPct val="100000"/>
              </a:lnSpc>
              <a:spcBef>
                <a:spcPts val="0"/>
              </a:spcBef>
              <a:spcAft>
                <a:spcPts val="0"/>
              </a:spcAft>
              <a:buClrTx/>
              <a:buSzTx/>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1-أما المؤكد: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فهو الوارد في الحديث: عن ابن عمر رضي الله عنهما قال حفظت من رسول الله ﷺ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عشر ركعات: ركعتين قبل الظهر وركعتين بعدها، وركعتين بعد المغرب في بيته، وركعتين بعد العشاء في بيته، وركعتين قبل صلاة الصبح. </a:t>
            </a:r>
            <a:r>
              <a:rPr kumimoji="0" lang="ar-SA" sz="2400" b="1" i="0" u="none" strike="noStrike" kern="1200" cap="none" spc="0" normalizeH="0" baseline="0" noProof="0" dirty="0" err="1">
                <a:ln>
                  <a:noFill/>
                </a:ln>
                <a:solidFill>
                  <a:srgbClr val="FF0000"/>
                </a:solidFill>
                <a:effectLst/>
                <a:uLnTx/>
                <a:uFillTx/>
                <a:latin typeface="Traditional Arabic" panose="02020603050405020304" pitchFamily="18" charset="-78"/>
                <a:ea typeface="+mn-ea"/>
                <a:cs typeface="Traditional Arabic" panose="02020603050405020304" pitchFamily="18" charset="-78"/>
              </a:rPr>
              <a:t>وآكد</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هذه الركعات ركعتا الفجر </a:t>
            </a:r>
          </a:p>
          <a:p>
            <a:pPr marR="0" lvl="0" algn="r" defTabSz="914400" rtl="1" eaLnBrk="1" fontAlgn="auto" latinLnBrk="0" hangingPunct="1">
              <a:lnSpc>
                <a:spcPct val="100000"/>
              </a:lnSpc>
              <a:spcBef>
                <a:spcPts val="0"/>
              </a:spcBef>
              <a:spcAft>
                <a:spcPts val="0"/>
              </a:spcAft>
              <a:buClrTx/>
              <a:buSzTx/>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2-أما غير المؤكد: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فركعتان أخريان قبل الظهر ويزيد ركعتين أيضاً بعدها، والجمعة كالظهر فيما مر لأنها بدل عنها. وأربع ركعات قبل صلاة العصر يصليها ركعتين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ركعتين</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وركعتان خفيفتان قبل صلاة المغرب، وركعتان خفيفتان قبل صلاة العشاء.</a:t>
            </a:r>
          </a:p>
          <a:p>
            <a:pPr marR="0" lvl="0" algn="r" defTabSz="914400" rtl="1" eaLnBrk="1" fontAlgn="auto" latinLnBrk="0" hangingPunct="1">
              <a:lnSpc>
                <a:spcPct val="100000"/>
              </a:lnSpc>
              <a:spcBef>
                <a:spcPts val="0"/>
              </a:spcBef>
              <a:spcAft>
                <a:spcPts val="0"/>
              </a:spcAft>
              <a:buClrTx/>
              <a:buSzTx/>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ب-النفل الذي لا يتبع الفرائض: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وهو قسمان: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نوافل مسماة ذات أوقات معينة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ونوافل مطلقة عن التسمية والوقت.</a:t>
            </a:r>
          </a:p>
          <a:p>
            <a:pPr marR="0" lvl="0" algn="r" defTabSz="914400" rtl="1" eaLnBrk="1" fontAlgn="auto" latinLnBrk="0" hangingPunct="1">
              <a:lnSpc>
                <a:spcPct val="100000"/>
              </a:lnSpc>
              <a:spcBef>
                <a:spcPts val="0"/>
              </a:spcBef>
              <a:spcAft>
                <a:spcPts val="0"/>
              </a:spcAft>
              <a:buClrTx/>
              <a:buSzTx/>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أولاً النوافل المسماة ذات الأوقات المعينة:</a:t>
            </a:r>
          </a:p>
          <a:p>
            <a:pPr marR="0" lvl="0" algn="r" defTabSz="914400" rtl="1" eaLnBrk="1" fontAlgn="auto" latinLnBrk="0" hangingPunct="1">
              <a:lnSpc>
                <a:spcPct val="100000"/>
              </a:lnSpc>
              <a:spcBef>
                <a:spcPts val="0"/>
              </a:spcBef>
              <a:spcAft>
                <a:spcPts val="0"/>
              </a:spcAft>
              <a:buClrTx/>
              <a:buSzTx/>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1-تحية المسجد: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وهي ركعتان قبل الجلوس لكل دخول إلى المسجد.</a:t>
            </a:r>
          </a:p>
          <a:p>
            <a:pPr marR="0" lvl="0" algn="r" defTabSz="914400" rtl="1" eaLnBrk="1" fontAlgn="auto" latinLnBrk="0" hangingPunct="1">
              <a:lnSpc>
                <a:spcPct val="100000"/>
              </a:lnSpc>
              <a:spcBef>
                <a:spcPts val="0"/>
              </a:spcBef>
              <a:spcAft>
                <a:spcPts val="0"/>
              </a:spcAft>
              <a:buClrTx/>
              <a:buSzTx/>
              <a:tabLst/>
              <a:defRPr/>
            </a:pPr>
            <a:r>
              <a:rPr lang="ar-SA" sz="2400" dirty="0">
                <a:solidFill>
                  <a:srgbClr val="FF0000"/>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الوتر: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ووقته ما بين صلاة العشاء إلى طلوع الفجر، </a:t>
            </a:r>
            <a:r>
              <a:rPr kumimoji="0" lang="ar-SA" sz="2400" b="1"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والأفضل تأخيرها إلى آخر صلاة الليل، وأقل الوتر ركعة، لكن يكره الاقتصار عليها،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وأقل الكمال ثلاث ركعات، ومنتهى الكمال فيها إحدى عشرة ركعة، يسلم على رأس كل ركعتين ثم يختم بواحدة. </a:t>
            </a:r>
          </a:p>
          <a:p>
            <a:pPr marR="0" lvl="0" algn="r" defTabSz="914400" rtl="1" eaLnBrk="1" fontAlgn="auto" latinLnBrk="0" hangingPunct="1">
              <a:lnSpc>
                <a:spcPct val="100000"/>
              </a:lnSpc>
              <a:spcBef>
                <a:spcPts val="0"/>
              </a:spcBef>
              <a:spcAft>
                <a:spcPts val="0"/>
              </a:spcAft>
              <a:buClrTx/>
              <a:buSzTx/>
              <a:tabLst/>
              <a:defRPr/>
            </a:pPr>
            <a:r>
              <a:rPr lang="ar-SA" sz="2400" dirty="0">
                <a:solidFill>
                  <a:srgbClr val="FF0000"/>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قيام الليل: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وهو ما يسمى بالتهجد إن فعل بعد النوم، وهو غير محدد بعدد من الركعات</a:t>
            </a:r>
          </a:p>
        </p:txBody>
      </p:sp>
    </p:spTree>
    <p:extLst>
      <p:ext uri="{BB962C8B-B14F-4D97-AF65-F5344CB8AC3E}">
        <p14:creationId xmlns:p14="http://schemas.microsoft.com/office/powerpoint/2010/main" val="22668845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274B7-9F69-3B49-E477-47F4C1FD2639}"/>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FE6A230B-821E-E1EA-BEA3-83A88D9EAE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F0F69F94-43E0-7D5B-C5DB-CBA482889277}"/>
              </a:ext>
            </a:extLst>
          </p:cNvPr>
          <p:cNvSpPr/>
          <p:nvPr/>
        </p:nvSpPr>
        <p:spPr>
          <a:xfrm>
            <a:off x="338724" y="469932"/>
            <a:ext cx="11349252" cy="6100549"/>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4-صلاة الضحى: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وأقلها ركعتان وأكملها ثماني ركعات. ووقتها من ارتفاع الشمس حتى الزوال، والأفضل فعلها عند مضي ربع النهار.</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5-</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صلاة الاستخارة: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وهي صلاة ركعتين في غير الأوقات المكروهة، وتسن لمن أراد أمراً من الأمور المباحة ولم يعلم وجه الخير في ذلك، ويسن بعد الفراغ من الصلاة أن يدعو بالدعاء المأثور، فإن شرح الله صدره بعد ذلك الأمر فعل وإلا فلا.</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ثانياً: النوافل المطلقة عن التسمية والوقت: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وهي أن يصلي من النوافل ما شاء في أي وقت إلا في أوقات معينة يكره فيها الصلاة، وقد بيناها فيما سبق.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القسم الثاني: وهو الذي يسن فيه الجماعة وهي: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صلاة العيدين، وصلاة التراويح، وصلاة الكسوف والخسوف، وصلاة الاستسقاء.</a:t>
            </a:r>
          </a:p>
        </p:txBody>
      </p:sp>
    </p:spTree>
    <p:extLst>
      <p:ext uri="{BB962C8B-B14F-4D97-AF65-F5344CB8AC3E}">
        <p14:creationId xmlns:p14="http://schemas.microsoft.com/office/powerpoint/2010/main" val="3752352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81461-7CA9-E4A4-0B98-86B62AB73C79}"/>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5391D08F-C007-A805-2E8E-D7238214F9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69A55B71-BEDD-1BEE-6D0F-BA486B46CAA2}"/>
              </a:ext>
            </a:extLst>
          </p:cNvPr>
          <p:cNvSpPr/>
          <p:nvPr/>
        </p:nvSpPr>
        <p:spPr>
          <a:xfrm>
            <a:off x="338267" y="499724"/>
            <a:ext cx="11349252" cy="6100549"/>
          </a:xfrm>
          <a:prstGeom prst="roundRect">
            <a:avLst>
              <a:gd name="adj" fmla="val 3819"/>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صلاة العيدين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معنى العيد: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العيد مشتق من العود، وذلك إما لتكرره كل عام، أو لعود السرور بعوده، أو لكثرة عوائد الله تعالى فيه على العباد.</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زمن مشروعيتها: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أول عيد صلاه النبي عيد الفطر من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السنة الثانية للهجرة.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صلاة العيد: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هي سنة مؤكدة،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لم يتركها النبي الله منذ شرعت حتى توفاه الله سبحانه وتعالى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وتشرع جماعة، وتصح فرادى</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ويخاطب بها كل مكلف رجلاً كان أو امرأة، مقيماً أو مسافراً،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إلا المرأة المتزينة، أو التي قد تثير الفتنة، فتصلي في بيتها.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ولا يسن لها أذان ولا إقامة بل ينادى لها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«الصلاة جامعة»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وقت صلاة العيد: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يبدأ وقتها من طلوع الشمس ويستمر إلى الزوال.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كيفيتها: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صلاة العيد ركعتان، يبدأهما بتكبيرة الإحرام، ثم يقرأ دعاء الافتتاح، ثم يكبر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سبع تكبيرات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يرفع يديه عند كل منها إلى محاذاة كتفيه، يفصل بين كل اثنتين بقدر آية معتدلة، ويسن أن يقول بينهما: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سبحان الله والحمد لله ولا إله إلا الله والله أكبر»،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ثم يتعوذ ويقرأ الفاتحة، ثم يضم إليها سورة أو بعض آيات. فإذا قام إلى الركعة الثانية كبر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خمس تكبيرات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عدا تكبيرة الانتقال قبل أن يبدأ القراءة، وفصل بين كل تكبيرة وأخرى بما ذكرنا.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وهذه التكبيرات الزائدة سنة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فلو نسيها وشرع في القراءة فاتت وصحت صلاته.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لخطبة في العيد: </a:t>
            </a:r>
            <a:r>
              <a:rPr kumimoji="0" lang="ar-SA" sz="2400" b="1"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ویسن</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بعد الفراغ من صلاة العيد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خطبتان:</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ينبغي أن تليا صلاة العيد، أي بعكس خطبة الجمعة. فلو قدم الخطبة على الصلاة لم يعتد بها.</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-كل ما ذكرناه من أركان خطبتي الجمعة وسننهما ينطق على خطبة العيد أيضاً.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يسن أن يبدأ الخطبة الأولى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بتسع تكبيرات</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والخطبة الثانية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بسبع تكبيرات.</a:t>
            </a:r>
          </a:p>
        </p:txBody>
      </p:sp>
    </p:spTree>
    <p:extLst>
      <p:ext uri="{BB962C8B-B14F-4D97-AF65-F5344CB8AC3E}">
        <p14:creationId xmlns:p14="http://schemas.microsoft.com/office/powerpoint/2010/main" val="7446989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5EB84-AA5A-13FC-638F-3F9708BC1154}"/>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609FCABA-4A5A-0D90-91AE-706CC12BD1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28FBFA3F-E65B-D90B-3839-5E5DEA777E04}"/>
              </a:ext>
            </a:extLst>
          </p:cNvPr>
          <p:cNvSpPr/>
          <p:nvPr/>
        </p:nvSpPr>
        <p:spPr>
          <a:xfrm>
            <a:off x="69669" y="69669"/>
            <a:ext cx="11982994" cy="6501728"/>
          </a:xfrm>
          <a:prstGeom prst="roundRect">
            <a:avLst>
              <a:gd name="adj" fmla="val 7244"/>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أين تقام صلاة العيد</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تقام صلاة العيد بالمسجد أو الصحراء، وأفضلهما أكثرهما استيعاباً للمصلين، فإن تساويا كان المسجد أفضل لشرفه على غيره.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التكبير في العيد: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يسن التكبير لغير الحاج بغروب الشمس ليلتي عيد الفطر </a:t>
            </a:r>
            <a:r>
              <a:rPr kumimoji="0" lang="ar-SA" sz="2400" b="1"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والأضحى</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في المنازل والطرقات والمساجد والأسواق بصوت مرتفع إلى أن يحرم الإمام في الصلاة. قال تعالى: وَلِتُكْمِلُوا الْعِدَّةَ وَلِتُكَبِّرُوا اللهَ عَلَى مَا هَدَاكُمْ وَلَعَلَّكُمْ تَشْكُرُونَ.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ويسن في عيد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الأضحى</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يكبر عقب الصلوات المفروضات بأنواعها المختلفة بدءاً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 صبح يوم عرفة إلى ما بعد عصر آخر يوم من أيام التشريق، وهي الثلاثة التي تلي يوم عيد </a:t>
            </a:r>
            <a:r>
              <a:rPr kumimoji="0" lang="ar-SA" sz="2400" b="1"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الأضحى</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صيغة التكبير المفضلة: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الله أكبر، الله أكبر، الله أكبر، لا إله إلا الله، الله أكبر، الله أكبر، ولله الحمد».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من آداب العيد:</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يغتسل ويتطيب ويلبس الجديد من ثيابه.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2-يسن أن يبكر الناس بالحضور إلى المسجد صباح العيد.</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يسن في عيد الفطر أن يأكل شيئاً قبل خروجه إلى الصلاة، أما في عيد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الأضحى</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فيسن له أن يمسك عن الطعام حتى يعود من الصلاة.</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4-</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يسن للمصلى أن يذهب ماشياً إلى المصلى أو المسجد من طريق، وأن يعود من طريق أخر.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prstClr val="black"/>
                </a:solidFill>
                <a:latin typeface="Traditional Arabic" panose="02020603050405020304" pitchFamily="18" charset="-78"/>
                <a:cs typeface="Traditional Arabic" panose="02020603050405020304" pitchFamily="18" charset="-78"/>
              </a:rPr>
              <a:t>5-</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يكره للإمام أن يتنفل قبل صلاة العيد، ولا يكره لغيره ذلك بعد طلوع الشمس.</a:t>
            </a:r>
          </a:p>
        </p:txBody>
      </p:sp>
    </p:spTree>
    <p:extLst>
      <p:ext uri="{BB962C8B-B14F-4D97-AF65-F5344CB8AC3E}">
        <p14:creationId xmlns:p14="http://schemas.microsoft.com/office/powerpoint/2010/main" val="40015813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D298B-4023-38FC-969C-11F22DFE4DFE}"/>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3A89959A-9667-58B8-71ED-03F5082108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87C7E098-EFB2-C5D9-4CC4-BE83A559C373}"/>
              </a:ext>
            </a:extLst>
          </p:cNvPr>
          <p:cNvSpPr/>
          <p:nvPr/>
        </p:nvSpPr>
        <p:spPr>
          <a:xfrm>
            <a:off x="200529" y="143301"/>
            <a:ext cx="11664437" cy="6571397"/>
          </a:xfrm>
          <a:prstGeom prst="roundRect">
            <a:avLst>
              <a:gd name="adj" fmla="val 8186"/>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زكاة الفطر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تعريفها: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هي قدر معين من المال،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يجب إخراجه عند غروب شمس آخر يوم من أيام رمضان بشروط معينة</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عن كل مكلف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ومن تلزمه نفقته.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مشروعيتها: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المشهور أنها فرضت في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السنة الثانية من الهجرة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في العام الذي فرض فيه صوم رمضان.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والأصل في وجوبها ما رواه البخاري ومسلم عن ابن عمر رضي الله عنهما : أن رسول الله ﷺ فرض زكاة الفطر من رمضان على الناس صاعاً من تمر أو صاعاً من شعير، على كل حر أو عبد ذكر أو أنثى من المسلمين.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وجوبها</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الإسلام.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غروب شمس آخر يوم من أيام رمضان فهي تجب على من مات بعد الغروب ولا تجب على من مات قبله أو ولد بعد الغروب. </a:t>
            </a:r>
            <a:r>
              <a:rPr lang="ar-SA" sz="2400" dirty="0">
                <a:solidFill>
                  <a:srgbClr val="FF0000"/>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يوجد له الفضل من المال يزيد عن قوته وقوت عياله في يوم العيد وليلته وعن مسكن وخادم إن كان بحاجة إليه.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الذين يجب على المكلف إخراج زكاة الفطر عنهم: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 توفرت فيه الشروط السابقة يجب عليه أن يخرج الزكاة عن نفسه</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وعمن تلزمه نفقتهم كأصوله وفروعه وزوجته.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فإن أ</a:t>
            </a:r>
            <a:r>
              <a:rPr lang="ar-SA" sz="2400" dirty="0">
                <a:solidFill>
                  <a:prstClr val="black"/>
                </a:solidFill>
                <a:latin typeface="Traditional Arabic" panose="02020603050405020304" pitchFamily="18" charset="-78"/>
                <a:cs typeface="Traditional Arabic" panose="02020603050405020304" pitchFamily="18" charset="-78"/>
              </a:rPr>
              <a:t>ي</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سر بشيء لا يكفي جميع أقاربه الذين يكلف بالإنفاق عليهم،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قدم نفسه، ثم زوجته، ثم ولده الصغير، ثم أباه ثم أمه، ثم ولده الكبير العاجز عن الكسب.</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زكاة الفطر جنساً وقدراً: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هي صاع من غالب قوت البلد، والصاع أربعة أمداد أي حفنات، وتساوي بالوزن(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٢٤٠٠ غ</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تقريباً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وعند الشافعي لا يجوز إخراج زكاة الفطر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إلا طعاماً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فلا يصح إخراج القيمة فيها. ومذهب الإمام أبي حنيفة رحمه الله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دفع القيمة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ولا بأس باتباع هذا المذهب اليوم لأن القيمة أنفع للفقير اليوم من القوت نفسه.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وقت إخراج زكاة الفطر: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وقت الوجوب بغروب شمس آخر يوم من أيام رمضان، ويجوز إخراجها من بداية رمضان.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ويسن أداؤها صباح يوم العيد قبل الخروج لصلاة العيد، ويكره تأخيرها عن صلاة العيد إلى نهاية يوم العيد، فإن أخرها عنه أثم ولزمه القضاء.</a:t>
            </a:r>
          </a:p>
        </p:txBody>
      </p:sp>
    </p:spTree>
    <p:extLst>
      <p:ext uri="{BB962C8B-B14F-4D97-AF65-F5344CB8AC3E}">
        <p14:creationId xmlns:p14="http://schemas.microsoft.com/office/powerpoint/2010/main" val="3638746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B7D63-F6F4-5DFB-EA4C-8F25DAE77FD9}"/>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61874719-FF9D-44B4-F020-E1BBAFE812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25638" cy="6858000"/>
          </a:xfrm>
          <a:prstGeom prst="rect">
            <a:avLst/>
          </a:prstGeom>
        </p:spPr>
      </p:pic>
      <p:sp>
        <p:nvSpPr>
          <p:cNvPr id="4" name="مستطيل: زوايا مستديرة 3">
            <a:extLst>
              <a:ext uri="{FF2B5EF4-FFF2-40B4-BE49-F238E27FC236}">
                <a16:creationId xmlns:a16="http://schemas.microsoft.com/office/drawing/2014/main" id="{72D42F8D-16A1-5F59-1A00-3106DE5C5B84}"/>
              </a:ext>
            </a:extLst>
          </p:cNvPr>
          <p:cNvSpPr/>
          <p:nvPr/>
        </p:nvSpPr>
        <p:spPr>
          <a:xfrm>
            <a:off x="104503" y="69670"/>
            <a:ext cx="11906985" cy="6662056"/>
          </a:xfrm>
          <a:prstGeom prst="roundRect">
            <a:avLst>
              <a:gd name="adj" fmla="val 7475"/>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لأضحية</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معناها: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هي ما يذبح من الإبل أو البقر أو الغنم أو المعز تقرباً إلى الله تعالى، يوم عيد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الأضحى</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الأصل في مشروعيتها: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روى البخاري ومسلم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النبي ﷺ ضحى بكبشين أملحين أقرنين ذبحهما بيده وسمى وكبر، ووضع رجله على صفاحهما.</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الأضحية: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سنة مؤكدة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لكنها تجب بسببين</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الأول: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يشير إلى دابة يملكها ويقول هذه أضحيتي، فتجب حينئذ.</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الثاني: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يلتزم بها نذراً، كأن يقول: </a:t>
            </a:r>
            <a:r>
              <a:rPr lang="ar-SA" sz="2400" b="1" dirty="0" err="1">
                <a:solidFill>
                  <a:prstClr val="black"/>
                </a:solidFill>
                <a:latin typeface="Traditional Arabic" panose="02020603050405020304" pitchFamily="18" charset="-78"/>
                <a:cs typeface="Traditional Arabic" panose="02020603050405020304" pitchFamily="18" charset="-78"/>
              </a:rPr>
              <a:t>لل</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 عليّ أن أضحي</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من هو المخاطب بالأضحية: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تسن الأضحية في حق من وجدت فيه الشروط التالية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الإسلام.</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البلوغ والعقل.</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الاستطاعة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بأن يملك قيمتها زائدة عن نفقته ونفقة من هو مسؤول عنهم خلال يوم العيد وأيام التشريق.</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يشرع التضحية به: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لا تصح الأضحية إلا من الإبل ومن البقر ومن الغنم ومنه الماعز والأفضل فيها على الترتيب السابق. ويجوز أن يضحي بالبعير أو البقرة عن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سبعة.</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شروطها: أولاً السن: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شرط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الإبل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يكون طعن في السنة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السادسة</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والبقر والماعز طعن في السنة الثالثة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والغنم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يكون طعن في السنة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الثانية. </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ثانياً السلامة: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تكون سالمة من العيوب المنقصة للحم. عن البراء بن عازب رضي الله عنه عن النبي قال: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أربع لا تجزئ في الأضاحي العوراء البين عورها، والمريضة البين مرضها، والعرجاء البين عرجها، والعجفاء التي لا تنقي».</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(لا تنقي: أي لا مخ لها). وكذلك لا تجزئ مقطوعة بعض الأذن.</a:t>
            </a:r>
          </a:p>
        </p:txBody>
      </p:sp>
    </p:spTree>
    <p:extLst>
      <p:ext uri="{BB962C8B-B14F-4D97-AF65-F5344CB8AC3E}">
        <p14:creationId xmlns:p14="http://schemas.microsoft.com/office/powerpoint/2010/main" val="514769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49507-455F-7CAD-42AE-909412D84DF6}"/>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02FC23BA-DD45-523F-D629-258355871A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51" y="284085"/>
            <a:ext cx="11819139" cy="6858000"/>
          </a:xfrm>
          <a:prstGeom prst="rect">
            <a:avLst/>
          </a:prstGeom>
        </p:spPr>
      </p:pic>
      <p:sp>
        <p:nvSpPr>
          <p:cNvPr id="4" name="مستطيل: زوايا مستديرة 3">
            <a:extLst>
              <a:ext uri="{FF2B5EF4-FFF2-40B4-BE49-F238E27FC236}">
                <a16:creationId xmlns:a16="http://schemas.microsoft.com/office/drawing/2014/main" id="{B822EFF0-2A5F-7EF5-D5F7-D98D9B15BC03}"/>
              </a:ext>
            </a:extLst>
          </p:cNvPr>
          <p:cNvSpPr/>
          <p:nvPr/>
        </p:nvSpPr>
        <p:spPr>
          <a:xfrm>
            <a:off x="0" y="550416"/>
            <a:ext cx="11625943" cy="6307584"/>
          </a:xfrm>
          <a:prstGeom prst="roundRect">
            <a:avLst>
              <a:gd name="adj" fmla="val 8262"/>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وقت الأضحية: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يبدأ بعد طلوع شمس يوم عيد </a:t>
            </a:r>
            <a:r>
              <a:rPr kumimoji="0" lang="ar-SA" sz="2400" b="1"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الأضحى</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بمقدار ما يتسع لركعتين وخطبتين ويستمر إلى غروب آخر أيام التشريق.</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والوقت المفضل لذبحها بعد الفراغ من صلاة العيد.</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ماذا يصنع بالأضحية بعد ذبحها: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إن كانت الأضحية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واجبة: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كأن نذر أو عينها لم يصح له أن يأكل منها أو أحد من أهله، فإن فعل غرم بدله أو قيمته. وإن كانت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مسنونة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جاز أن يأكل منها ما شاء، على أن يتصدق بشيء منها، وله أن يأكل ثلثها ويتصدق بثلثها ويهدي ثلثها. ولا يصح له أن يبيع شيئاً منها، حتى الجلد فإنه يتصدق به أو ينتفع هو به.</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سنن وآداب تتعلق بالأضحية:</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أولاً: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إذا دخل عشر ذي الحجة، وكان عازماً على الأضحية فيندب له ألا يزيل شيئا من شعره أو ظفره حتى يضحي.</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ثانياً: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يسن له أن يتولى ذبحها بنفسه، فإن لم يفعل لعذر ونحوه فليشهد ذبحها. </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ثالثاً: يسن لحاكم المسلمين أو إمامهم أن ينحر أو يضحي من بيت المال عن المسلمين.</a:t>
            </a:r>
          </a:p>
        </p:txBody>
      </p:sp>
    </p:spTree>
    <p:extLst>
      <p:ext uri="{BB962C8B-B14F-4D97-AF65-F5344CB8AC3E}">
        <p14:creationId xmlns:p14="http://schemas.microsoft.com/office/powerpoint/2010/main" val="16572414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49CB3-4B33-204E-BFFD-D579015E83EA}"/>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3756B2F4-6EF8-3F41-E9D6-C0FA05094F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9017F303-8BCC-252A-1EA5-5C4CC904C477}"/>
              </a:ext>
            </a:extLst>
          </p:cNvPr>
          <p:cNvSpPr/>
          <p:nvPr/>
        </p:nvSpPr>
        <p:spPr>
          <a:xfrm>
            <a:off x="104503" y="78377"/>
            <a:ext cx="11956867" cy="6453052"/>
          </a:xfrm>
          <a:prstGeom prst="roundRect">
            <a:avLst>
              <a:gd name="adj" fmla="val 6705"/>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صلاة التراويح</a:t>
            </a:r>
          </a:p>
          <a:p>
            <a:pPr marL="0" marR="0" lvl="0" indent="0" algn="r" defTabSz="914400"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صلاة التراويح تشرع في رمضان خاصة،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وتسن فيها الجماعة، وتصح فرادى.</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وسميت بهذا الاسم لأنهم يتروحون أي يستريحون عقب كل أربع ركعات. </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وهي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عشرون ركعة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ويصلي كل ركعتين بتسليمة.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ووقتها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 بعد صلاة العشاء، وتصلى قبل الوتر.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ولو صلى أربعا بتسليمة لم يصح، لأنه خلاف المشروع.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أحكام الجنازة:</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يطلب فعله بالمسلم حين احتضاره:</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 إذا وصل المريض إلى درجة الاحتضار، ندب لأهله أن يضجعوه على جنبه الأيمن إلى القبلة.</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يسن تلقينه الشهادة، وهي كلمة لا إله إلا الله، وذلك بأن يرددها على سمعه.</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يسن أن يقرأ عنده سورة ياسين لحديث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إقرؤوا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على موتاكم ي</a:t>
            </a:r>
            <a:r>
              <a:rPr lang="ar-SA" sz="2400" dirty="0">
                <a:solidFill>
                  <a:prstClr val="black"/>
                </a:solidFill>
                <a:latin typeface="Traditional Arabic" panose="02020603050405020304" pitchFamily="18" charset="-78"/>
                <a:cs typeface="Traditional Arabic" panose="02020603050405020304" pitchFamily="18" charset="-78"/>
              </a:rPr>
              <a:t>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سين.</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4-</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ويسن للمريض كذلك أن يحسن ظنه بالله تعالى، وأنه مقبل على رب كريم يغفر له الذنوب كلها.</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يطلب بالمسلم فعله عقب موته:</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تغميض عينيه، وشد لحييه بعصابة،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ولئلا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يبقى فمه مفتوحاً. </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تليين مفاصله. 3</a:t>
            </a:r>
            <a:r>
              <a:rPr lang="ar-SA" sz="2400" dirty="0">
                <a:solidFill>
                  <a:prstClr val="black"/>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وضع شيء ثقيل على بطنه كي لا ينتفخ.</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4-</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نزع جميع ثيابه، ووضعه على سرير ونحوه مع ستر عورته.</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تجهيز الميت</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يندب المبادرة فوراً إلى تجهيزه؛ أي غسله وتكفينه والصلاة عليه ودفنه.</a:t>
            </a:r>
          </a:p>
        </p:txBody>
      </p:sp>
    </p:spTree>
    <p:extLst>
      <p:ext uri="{BB962C8B-B14F-4D97-AF65-F5344CB8AC3E}">
        <p14:creationId xmlns:p14="http://schemas.microsoft.com/office/powerpoint/2010/main" val="17040156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48189-E764-F25F-303D-991DE38E1276}"/>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4DD95DDA-D1F9-F915-9FDE-586E9A7886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9D128A42-2FEE-EC2A-7332-1FA0EF718BE6}"/>
              </a:ext>
            </a:extLst>
          </p:cNvPr>
          <p:cNvSpPr/>
          <p:nvPr/>
        </p:nvSpPr>
        <p:spPr>
          <a:xfrm>
            <a:off x="263781" y="0"/>
            <a:ext cx="11664437" cy="6435633"/>
          </a:xfrm>
          <a:prstGeom prst="roundRect">
            <a:avLst>
              <a:gd name="adj" fmla="val 2257"/>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غسل الميت: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وله كيفيتان: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الكيفية الأولى: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وهي أقل ما يتحقق به معنى الغسل بأن يزال ما على الميت من النجاسة، ثم يعمم سائر جسده بالماء.</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الكيفية الثانية: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وهي أكمل ما تتحقق به السنة، بأن يتبع غاسله ما يلي:</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1-يوضع على مكان مرتفع ونحوه وتستر عورته.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2- يجلسه الغاسل مائلاً إلى الوراء، ويسند رأسه بيده اليمنى، ويمر بيده اليسرى على بطنه، ليخرج ما يكون فيه، ثم يلف على يده اليسرى خرقة ويغسل سوأتيه، ويتعهد فمه ومنخريه فينظفهما، ثم </a:t>
            </a:r>
            <a:r>
              <a:rPr kumimoji="0" lang="ar-SA" sz="2400" i="0" u="none" strike="noStrike" kern="1200" cap="none" spc="0" normalizeH="0" baseline="0" noProof="0" dirty="0" err="1">
                <a:ln>
                  <a:noFill/>
                </a:ln>
                <a:solidFill>
                  <a:schemeClr val="tx1"/>
                </a:solidFill>
                <a:effectLst/>
                <a:uLnTx/>
                <a:uFillTx/>
                <a:latin typeface="Traditional Arabic" panose="02020603050405020304" pitchFamily="18" charset="-78"/>
                <a:ea typeface="+mn-ea"/>
                <a:cs typeface="Traditional Arabic" panose="02020603050405020304" pitchFamily="18" charset="-78"/>
              </a:rPr>
              <a:t>يوضئه</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كما يتوضأ الحي.</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3-يغسل رأسه ووجهه بصابون ونحوه، ويسرح شعره إن كان له شعر.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4-يغسل كامل شقه الأيمن مما يلي وجهه، ثم شقه الأيسر مما يلي وجهه، ثم يغسل شقه الأيمن مما يلي قفاه، ثم شقه الأيسر مما يلي قفاه، فهذه غسلة أولى، ويسن تكريرها مرتين أخريين، ويجعل في الأخيرة شيئاً من الكافور، إذا كان الميت غير محرم.</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ويجب أن يغسل الرجل </a:t>
            </a:r>
            <a:r>
              <a:rPr kumimoji="0" lang="ar-SA" sz="2400" b="1" i="0" u="none" strike="noStrike" kern="1200" cap="none" spc="0" normalizeH="0" baseline="0" noProof="0" dirty="0" err="1">
                <a:ln>
                  <a:noFill/>
                </a:ln>
                <a:solidFill>
                  <a:schemeClr val="tx1"/>
                </a:solidFill>
                <a:effectLst/>
                <a:uLnTx/>
                <a:uFillTx/>
                <a:latin typeface="Traditional Arabic" panose="02020603050405020304" pitchFamily="18" charset="-78"/>
                <a:ea typeface="+mn-ea"/>
                <a:cs typeface="Traditional Arabic" panose="02020603050405020304" pitchFamily="18" charset="-78"/>
              </a:rPr>
              <a:t>الرجل</a:t>
            </a:r>
            <a:r>
              <a:rPr kumimoji="0" lang="ar-SA" sz="2400" b="1"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والمرأة المرأة، ويجوز للرجل أن يغسل زوجته، وللمرأة أن تغسل زوجها.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٢- التكفين: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أقل المطلوب أن يلف الميت بثوب يستر جميع بدنه، والواجب ثوب يستر العورة على الأصح. والأكمل في ذلك: إن كان الميت ذكراً: كفن في </a:t>
            </a:r>
            <a:r>
              <a:rPr kumimoji="0" lang="ar-SA" sz="2400" b="1"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ثلاثة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أثواب بيض وتكون كلها لفائف طويلة على قدر طوله.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و</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إن كان الميت أنثى: تكفن في </a:t>
            </a:r>
            <a:r>
              <a:rPr kumimoji="0" lang="ar-SA" sz="2400" b="1"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خمسة</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أثواب بيض هي: إزار يستر من سرتها إلى أدنى جسمها، وخمار يستر رأسها، وقميص يستر أعلى جسمها إلى ما دون الإزار، ولفافتان تحتوي كل منهما على جميع بدنها. </a:t>
            </a:r>
          </a:p>
        </p:txBody>
      </p:sp>
    </p:spTree>
    <p:extLst>
      <p:ext uri="{BB962C8B-B14F-4D97-AF65-F5344CB8AC3E}">
        <p14:creationId xmlns:p14="http://schemas.microsoft.com/office/powerpoint/2010/main" val="34033034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C3FA6-42B3-F886-BD9B-52331620BA10}"/>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99350C5E-FC21-937C-9A27-2EE9FF9CF7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70448AFC-8F87-3199-31F5-6AAA80C6427B}"/>
              </a:ext>
            </a:extLst>
          </p:cNvPr>
          <p:cNvSpPr/>
          <p:nvPr/>
        </p:nvSpPr>
        <p:spPr>
          <a:xfrm>
            <a:off x="215653" y="143301"/>
            <a:ext cx="11664437" cy="6571397"/>
          </a:xfrm>
          <a:prstGeom prst="roundRect">
            <a:avLst>
              <a:gd name="adj" fmla="val 8186"/>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3-الصلاة على الميت: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ولا تصح إلا بعد غسله، وكيفيتها كما يلي:</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1-يكبر تكبيرة الإحرام، ناوياً الصلاة على الميت.</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2-</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يضع يديه على صدره مثل الصلاة العادية، ويقرأ الفاتحة.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3-إذا أتم الفاتحة كبر تكبيرة ثانية، رافعاً يديه إلى شحمتي أذنيه، ثم يقرأ أي صيغة من الصلاة على النبي، وأفضلها الصلاة الإبراهيمية.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4-يكبر التكبيرة الثالثة،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ويدعو للميت بعدها، وهو المقصود الأعظم من الصلاة على الميت</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5-ثم يكبر التكبيرة الرابعة ويقول بعدها «اللهم لا تحرمنا أجره، ولا تفتنا بعده، واغفر لنا وله»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6-</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ثم يسلم تسليمتين عن يمينه ويساره كتسليمة الصلاة العادية.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4</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دفن الميت</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a:t>
            </a: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أقل ما يجب في دفن الميت أن يدفن في حفرة تمنع انتشار رائحته وتسلط السباع عليه مستقبلا فيها القبلة.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والأكمل: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يدفن في قبر بعمق قامة الرجل المعتدل وبسطة يديه إلى الأعلى، وأن يوسع قدر ذراع وشير.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lang="ar-SA" sz="2400" dirty="0">
                <a:solidFill>
                  <a:prstClr val="black"/>
                </a:solidFill>
                <a:latin typeface="Traditional Arabic" panose="02020603050405020304" pitchFamily="18" charset="-78"/>
                <a:cs typeface="Traditional Arabic" panose="02020603050405020304" pitchFamily="18" charset="-78"/>
              </a:rPr>
              <a:t>2-</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يجب أن يضجع على يمينه وأن يوجه إلى القبلة، ويندب أن يلصق خده بالأرض.</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3-ويسن أن يكون القبر لحداً إن كانت الأرض صلبة، واللحد هو تجويف في الجدار القبلي للقبر، بمقدار ما يسع الميت، فيوضع فيه الميت، ثم يسد فم هذا التجويف بحجارة رقاق كي لا ينهال عليه التراب. فإن كانت الأرض رخوة ندب أن يكون القبر شقاً، وهو شق في أسفل القبر بمقدار ما يسع الميت فيوضع فيه الميت، ثم يسقف فوقه بحجارة رقاق، ثم يهال فوقه التراب.</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4-</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يسن أن يُسل الميت من قبل رأسه بعد أن يوضع عند أسفل القبر، ويمدد برفق في القبر.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ويسن أن يدخل القبر لتسويته أقرب الناس إليه من الذكور، وأن يقول الذي يلحده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بسم الله وعلى سنة رسول الله".</a:t>
            </a:r>
          </a:p>
        </p:txBody>
      </p:sp>
    </p:spTree>
    <p:extLst>
      <p:ext uri="{BB962C8B-B14F-4D97-AF65-F5344CB8AC3E}">
        <p14:creationId xmlns:p14="http://schemas.microsoft.com/office/powerpoint/2010/main" val="19156600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9210A-BC67-B78B-D7AB-2D2297D2AA9C}"/>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9F8E6E8E-B275-BA28-1B9B-94E4363B56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2BB2A7D3-A160-9C31-3DC5-5CCFF31FA478}"/>
              </a:ext>
            </a:extLst>
          </p:cNvPr>
          <p:cNvSpPr/>
          <p:nvPr/>
        </p:nvSpPr>
        <p:spPr>
          <a:xfrm>
            <a:off x="0" y="0"/>
            <a:ext cx="12638313" cy="6857999"/>
          </a:xfrm>
          <a:prstGeom prst="roundRect">
            <a:avLst>
              <a:gd name="adj" fmla="val 9048"/>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تشييع الجنازة (آدابها وبدعها)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تشييع الجنازة للرجال والنساء:</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اتباع الجنازة وتشييعها إلى القبر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مستحب</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للرجال</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أما النساء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فلا يستحب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لهن ذلك، بل خلاف السنة</a:t>
            </a:r>
            <a:r>
              <a:rPr lang="ar-SA" sz="2400" dirty="0">
                <a:solidFill>
                  <a:prstClr val="black"/>
                </a:solidFill>
                <a:latin typeface="Traditional Arabic" panose="02020603050405020304" pitchFamily="18" charset="-78"/>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من آداب تشييع الجنازة: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1-أن يشيعها ما شياً، فإن أحب أن يركب في العودة فلا بأس.</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يحرم حمل الجنازة على هيئة مزرية أو يخاف منها السقوط، ويسن أن يحمل في تابوت لا سيما إن كانت امرأة.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prstClr val="black"/>
                </a:solidFill>
                <a:latin typeface="Traditional Arabic" panose="02020603050405020304" pitchFamily="18" charset="-78"/>
                <a:cs typeface="Traditional Arabic" panose="02020603050405020304" pitchFamily="18" charset="-78"/>
              </a:rPr>
              <a:t>3</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-يكره اللغظ أثناء تشييع الجنازة، بل يسن ألا يرفع صوته بقراءة ولا بذكر ولا غيرها.</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prstClr val="black"/>
                </a:solidFill>
                <a:latin typeface="Traditional Arabic" panose="02020603050405020304" pitchFamily="18" charset="-78"/>
                <a:cs typeface="Traditional Arabic" panose="02020603050405020304" pitchFamily="18" charset="-78"/>
              </a:rPr>
              <a:t>4-</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الأفضل أن يمشي المشيعون أمام الجنازة على مقربة منها،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5-لا مانع من أن يشيع المسلم جنازة قريبه الكافر.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6-</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تسن تعزية أهل الميت خلال ثلاثة أيام من الموت، وتكره بعد ثلاثة أيام إلا لمسافر،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كما يكره تكرارها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وصيغتها المندوبة: «أعظم الله أجرك، وأحسن عزاك، وغفر لميتك، وعوضك الله عن مصيبتك خيراً».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بدع الجنائز:</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١-كل ما يخالف آداب التشييع الآنفة الذكر. 2-حمل الأكاليل ونحوها مع الجنازة فهي بدعة محرمة.3- القبور التي تحفر بطريقة مخالفة لما ذكرنا.</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4</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-يكره تشييد القبور، داخلها أو ظاهرها بكل ما دخل فيه النار كالأسمنت والجص ونحوهما.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5-يحرم تسنيم القبر والبناء عليه، والسنة ألا يرفع القبر عن الأرض أكثر من شير واحد</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.6- الندب على الميت والنياحة، وهي كل فعل أو قول يتضمن إظهار الجزع كضرب الصدر وشق الجيب ونحوه، فذلك كله حرام. 7-انشغال أهل الميت بصنع الطعام وجمع الناس عليه، فهذا بدعة تناقض السنة وتخالفها مخالفة شديدة، وإنما السنة عكس ذلك، أن يقوم بعض المشيعين بتحضير الطعام وإرساله إلى أهل الميت.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ومن البدع ما يفعله أهل الميت من جمع الناس على الطعام بمناسبة ما يسمون بمرور الأربعين ونحوه.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8- قراءة القرآن في محافل رسمية للتعزية، كما يحصل اليوم فهي أيضاً بدعة.</a:t>
            </a:r>
          </a:p>
        </p:txBody>
      </p:sp>
    </p:spTree>
    <p:extLst>
      <p:ext uri="{BB962C8B-B14F-4D97-AF65-F5344CB8AC3E}">
        <p14:creationId xmlns:p14="http://schemas.microsoft.com/office/powerpoint/2010/main" val="42279355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9949A-DDB9-FB08-9B68-3E9D52415189}"/>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E5C2A8F2-E792-776B-9649-C347E5CE76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58C2BCD7-A593-6437-471E-82399D576BF5}"/>
              </a:ext>
            </a:extLst>
          </p:cNvPr>
          <p:cNvSpPr/>
          <p:nvPr/>
        </p:nvSpPr>
        <p:spPr>
          <a:xfrm>
            <a:off x="78377" y="0"/>
            <a:ext cx="12017829" cy="6731725"/>
          </a:xfrm>
          <a:prstGeom prst="roundRect">
            <a:avLst>
              <a:gd name="adj" fmla="val 8776"/>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السقط والشهيد: </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السقط: </a:t>
            </a:r>
            <a:r>
              <a:rPr lang="ar-SA" sz="2400" dirty="0">
                <a:solidFill>
                  <a:schemeClr val="tx1"/>
                </a:solidFill>
                <a:latin typeface="Traditional Arabic" panose="02020603050405020304" pitchFamily="18" charset="-78"/>
                <a:cs typeface="Traditional Arabic" panose="02020603050405020304" pitchFamily="18" charset="-78"/>
              </a:rPr>
              <a:t>هو الولد النازل قيل تمامه.</a:t>
            </a:r>
            <a:endPar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الشهيد: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الذي يقتل في معركة تدار دفاعاً عن الإسلام، ولرفع لوائه. </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السقط له حالتان:</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الحالة الأولى</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ألا يصيح عند الولادة، فلا يجب فيه غسل ولا تكفين ولا صلاة عليه ، ولكن يستحب لفه بخرقة ودفنه دون الصلاة. </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الحالة الثانية: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يصيح عند الولادة، أو يتيقن حياته باختلاج ونحوه، فيجب في حقه الصلاة مع ما ذكر، لا فرق بينه وبين الكبير.</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الشهيد: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فلا يغسل ولا يصلى عليه، ويسن تكفينه في ثيابه التي قتل بها. وإن جرح بالمعركة وبقيت فيه حياة مستقرة بعد انتهاء القتال ثم مات، لم يعتبر شهيداً من حيث المعاملة الدنيوية، وغسل وصلي عليه كالعادة.</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زيارة القبور: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زيارة القبور التي دفن فيها مسلمون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مندوبة للرجل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بالإجماع لقوله ﷺ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كنت نهيتكم عن زيارة القبور فزوروها.</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ولا يندب لها وقت محدد.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أما النساء فيكره لهن زيارتها لأنها مظنة للتبرج والنواح ورفع الأصوات.</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من آداب زيارة القبور: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إذا دخل الزائر المقبرة، ندب له أن يسلم على الموتى قائلاً: «السلام عليكم دار قوم مؤمنين، وإنا إن شاء الله بكم لاحقون. </a:t>
            </a:r>
          </a:p>
        </p:txBody>
      </p:sp>
    </p:spTree>
    <p:extLst>
      <p:ext uri="{BB962C8B-B14F-4D97-AF65-F5344CB8AC3E}">
        <p14:creationId xmlns:p14="http://schemas.microsoft.com/office/powerpoint/2010/main" val="29241862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2F9B7-F105-251E-B455-CD979D42C7B9}"/>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0589CF1C-B407-9089-90E4-979DF87E89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D88C516C-8F85-EBB5-6E9C-56934E8398BC}"/>
              </a:ext>
            </a:extLst>
          </p:cNvPr>
          <p:cNvSpPr/>
          <p:nvPr/>
        </p:nvSpPr>
        <p:spPr>
          <a:xfrm>
            <a:off x="0" y="0"/>
            <a:ext cx="12108581" cy="6858000"/>
          </a:xfrm>
          <a:prstGeom prst="roundRect">
            <a:avLst>
              <a:gd name="adj" fmla="val 8527"/>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الزكاة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لغة</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النمو والزيادة،</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وتستعمل أيضاً بمعنى الطهارة. قد أفلح من زكاها: أي طهرها.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اصطلاحاً: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اسم لقدر مخصوص من بعض أنواع المال، يجب صرفه لأصناف معينة من الناس عند توفر شروط معينة.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err="1">
                <a:ln>
                  <a:noFill/>
                </a:ln>
                <a:solidFill>
                  <a:srgbClr val="FF0000"/>
                </a:solidFill>
                <a:effectLst/>
                <a:uLnTx/>
                <a:uFillTx/>
                <a:latin typeface="Traditional Arabic" panose="02020603050405020304" pitchFamily="18" charset="-78"/>
                <a:ea typeface="+mn-ea"/>
                <a:cs typeface="Traditional Arabic" panose="02020603050405020304" pitchFamily="18" charset="-78"/>
              </a:rPr>
              <a:t>تاریخ</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مشروعيتها: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الصحيح أنها شرعت في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السنة الثانية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 الهجرة، قبيل فرض الصوم.</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الزكاة واجبة وهي ركن من أركان الإسلام.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مانع الزكاة: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من أنكرها منكراً لها جاحداً لها: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أجمع العلماء على أن من جحد وأنكر فرضية الزكاة أنه كافر مرتد عن الإسلام وكان حلال الدم إن لم يتب.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وحكم من منعها بخلاً وشحاً: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فاسق, وتؤخذ منه قهراً عنه.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وجوب الزكاة: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الإسلام.٢- ملكية النصاب. 3-  حولان الحول، مرور سنة قمرية كاملة على ملكية النصاب ويستثنى من هذا الشرط الزروع والثمار والدفائن.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الزكاة في مال الصبي والمجنون: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لا يشترط لوجوب الزكاة في المال بلوغ صاحبه ولا عقله ولا رشده</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فحق الزكاة متعلق بالمال</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ويخرجها عنهما وليهما.</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الأموال التي تجب فيها الزكاة: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1-ا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لنقدان،  2-والأنعام، 3-والزروع والثمار، 4-وعروض التجارة.</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 النقدان: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الذهب والفضة، سواء كان التعامل الفعلي بهما أو بأوراق تقوم مقامهما.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أنواع الذهب والفضة التي تتعلق بها الزكاة</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1- الدراهم والدنانير وما في حكمهما من الأموال النقدية. ٢ - السبائك من كل من الذهب والفضة.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3</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-الأواني والقطع الفضية والذهبية المعدة للاستعمال أو الزينة.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ملحوظة: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لا زكاة في الحلي: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يستثنى من النوع الثالث الحلي المباح فلا زكاة فيه، إذا كان زينة للمرأة ولم يكن بالغاً حد السرف في عرف الناس، وكذلك خاتم الفضة للرجل فليس فيه زكاة.</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27933694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569FC-3EE2-CB76-73BD-4F4DA6AE1C7C}"/>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474B2095-E53D-7897-55D7-5B933D18CE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1AA50B74-FCD5-84B0-3CA7-D940D2A5563A}"/>
              </a:ext>
            </a:extLst>
          </p:cNvPr>
          <p:cNvSpPr/>
          <p:nvPr/>
        </p:nvSpPr>
        <p:spPr>
          <a:xfrm>
            <a:off x="215653" y="143301"/>
            <a:ext cx="11664437" cy="6571397"/>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2</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الأنعام: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وهي الإبل والبقر، والغنم، ويلحق بها الماعز.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3-</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الزروع والثمار: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تجب الزكاة في الزروع فيما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يقتاته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الناس في أحوالهم العادية، ويمكن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ادخاره</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دون أن يفسد مثل الحنطة والشعير، والأرز، والعدس، والحمص، والذرة.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والثمار</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التي تجب فيها الزكاة هي: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الرطب والعنب.</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lang="ar-SA" sz="2400" b="1" dirty="0">
                <a:solidFill>
                  <a:srgbClr val="FF0000"/>
                </a:solidFill>
                <a:latin typeface="Traditional Arabic" panose="02020603050405020304" pitchFamily="18" charset="-78"/>
                <a:cs typeface="Traditional Arabic" panose="02020603050405020304" pitchFamily="18" charset="-78"/>
              </a:rPr>
              <a:t>4-</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عروض التجارة: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والمقصود بالتجارة تقليب المال بالمعاوضة لغرض الربح، والعروض هي السلع التي تقلب في الأيدي بغرض الربح.</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وجوب الزكاة في العروض:</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1</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أن يملكه بعقد معاوضة: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كالبيع والشراء والإجارة والمهر، فلو ملكه بإرث أو هبة فليس بعرض تجارة.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٢- أن ينوي عند تملكه التجارة فيه.</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المعدن والركاز: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هما الذهب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والفضة المستخرجان من باطن الأرض، فإن استخرج من معدنه تصفية واستخلاصاً مما قد علق به فهو المقصود بالمعدن. وإن كان دفينا يرجع إلى ما قبل الإسلام فهو الركاز. أما المدفون في عهد الإسلام فهو من الأموال الضائعة. يأخذ أحكام اللقطة.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الأنصبة وشروطها وما يجب فيها: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النصاب: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الحد الأدنى الذي يعتبر وجوده شرطاً لتعلق الزكاة بالمال، فإن لم تبلغ كميته في ملك المكلف هذا الحد لم تجب الزكاة عليه.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ولكل نوع من أنواع الزكاة نصاب خاص به.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أولاً: نصاب النقدين الذهب والفضة: </a:t>
            </a:r>
            <a:endPar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1-لا زكاة في الذهب حتى يبلغ قدره عشرون مثقالاً، والمثقال (٤,٨ غ) فيكون نصاب الذهب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(٩٦ غ).</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2-لا زكاة في الفضة حتى تبلغ مائتي درهم وهي تساوي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(٦٧٢ غ).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 والذي يملك أوراقاً نقدية له أن يعتبر أي النصابين يشاء، ولكن الاحتياط أن يأخذ بما هو أصلح للفقير، والذي هو الآن نصاب الفضة. 4-يشترط لوجوب الزكاة في النقدين بعد النصاب حولان الحول، بأن يملك المكلف هذا النصاب سنة قمرية كاملة. </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33968585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A066C-1F70-047E-A6FD-C9214C114735}"/>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A2B8EB4B-7BD5-97F5-D6FE-809A2D6F37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4A121F1E-522C-6D0A-EC3E-3774E8A9CAAA}"/>
              </a:ext>
            </a:extLst>
          </p:cNvPr>
          <p:cNvSpPr/>
          <p:nvPr/>
        </p:nvSpPr>
        <p:spPr>
          <a:xfrm>
            <a:off x="425203" y="-143301"/>
            <a:ext cx="11664437" cy="6857999"/>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defTabSz="914400" rtl="1" eaLnBrk="1" fontAlgn="auto" latinLnBrk="0" hangingPunct="1">
              <a:lnSpc>
                <a:spcPct val="100000"/>
              </a:lnSpc>
              <a:spcBef>
                <a:spcPts val="0"/>
              </a:spcBef>
              <a:spcAft>
                <a:spcPts val="0"/>
              </a:spcAft>
              <a:buClrTx/>
              <a:buSzTx/>
              <a:buFontTx/>
              <a:buNone/>
              <a:tabLst/>
              <a:defRPr/>
            </a:pPr>
            <a:endParaRPr lang="ar-SA" sz="2400" dirty="0">
              <a:solidFill>
                <a:prstClr val="black"/>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النسبة الواجبة في زكاة النقدين: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إذا ملك المسلم النصاب وحال عليه الحول فيجب عليه أن يخرج من مجموع ماله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ربع العشر أي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(٢,٥) مسألة: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لا يجوز استبدال أموال الزكاة أو التصرف فيها، فزكاة النقدين إنما تخرج نقدين لا غير ولا يصح للمالك أن يخرج بدلاً عنهما سلعاً تساوي قيمتها المقدار الواجب فيها.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ثانياً: نصاب الأنعام ومقدار ما يجب فيها: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1- الإبل: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فإن أول نصابها أن يمتلك الرجل خمسة منها، فلا زكاة فيما دون ذلك، وتجب في الخمسة من الإبل شاة واحدة، ثم إن الزكاة تزداد كلما ازداد عددها كثرة.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5-9 شاة واحدة جذعة، عمرها سنة. أو ثنية معز، عمرها سنتان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ثم إن زادت الإبل على ذلك: وجب مقابل كل أربعين ابنة لبون، انثى البعير التي أتمت سنتها الثانية، ومقابل كل خمسين حقة، انثى البعير أتمت ثلاث سنوات.</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 البقر: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أدنى درجات نصابه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ثلاثون</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فلا زكاة فيما دون ذلك. ويجب فيه في كل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ثلاثين بقرة تبيع أو تبيعة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وهو من البقر ماله من العمر سنة. وفي كل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أربعين</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بقرة مسنة وهي من البقر مالها من العمر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سنتان.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3-أما الغنم: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فلا زكاة فيها حتى تبلغ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أربعين</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رأساً، فإذا بلغت أربعين رأساً وجب فيها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واحدة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منها، ثم إن القدر الواجب فيها يزداد كلما ازدادت الأغنام طبق ضابط محدد.  40-120 شاة، 121-200 شاتان، 201-300 ثلاث شياه.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خاصة لوجوب الزكاة في الأنعام: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إضافة إلى الشروط العامة لوجوب الزكاة فتختص الأنعام بشروط إضافية وهي:</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تكون سائمة أي ترعى الكلأ المباح أكثر السنة.</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٢-</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تتخذ الماشية للدر، أي الحليب أو النسل أو التسمين، أما لو اتخذها للعمل كالحراثة والتحميل ونضح الماء لم تجب فيها الزكاة.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يستثنى فيها من اشترط الحول ما تولد من الأصل ضمن الحول فإنه لا يشترط لوجوب الزكاة فيه مرور عام جديد على ولادته، وإنما يزكى عنها مع الكبار عند تمام حولها.</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38926035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6B1CD-47CC-23D2-0555-1990F740EF67}"/>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D935952D-8032-4119-BBBE-84629A671D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F9CB8F9F-B004-13AE-0A9F-9722983DFD9D}"/>
              </a:ext>
            </a:extLst>
          </p:cNvPr>
          <p:cNvSpPr/>
          <p:nvPr/>
        </p:nvSpPr>
        <p:spPr>
          <a:xfrm>
            <a:off x="105878" y="143301"/>
            <a:ext cx="11993077" cy="6571397"/>
          </a:xfrm>
          <a:prstGeom prst="roundRect">
            <a:avLst>
              <a:gd name="adj" fmla="val 9474"/>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ثالثاً: نصاب الزروع والثمار ومقدار ما يجب فيها: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نصاب الزروع أو الثمار: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ما لا يقل عن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خمسة أوسق كيلاً،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وقد قدرت دائرة المعارف الإسلامية الخمسة أوسق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بتسعمائة لتر كيلاً.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القدر الواجب فيها: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كل زرع أو ثمر سقي بماء الأمطار أو الأنهار دون الحاجة إلى بذل كلفة فيجب فيه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العشر.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أما إذا كان يسقي بكلفة كالمحركات ونحوها، فإن زكاته عندئذ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نصف العشر.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وتتعلق الزكاة بالزروع بعد أن يشتد وينعقد الحب وتتعلق بالثمار بعد أن يبدو صلاحها، أي نضجها. ويجب إخراج الزكاة في الزروع بعد تصفيتها من القشر وغيره، من دون الحاجة الحولان الحول.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ويجب إخراج الزكاة في الثمار عندما يصبح العنب </a:t>
            </a:r>
            <a:r>
              <a:rPr kumimoji="0" lang="ar-SA" sz="2400" b="1"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زبيباً</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والرطب تمراً.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رابعاً النصاب في أموال التجارة ومقدار ما يجب فيها: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كل سلعة يتاجر فيها الإنسان سواء أكانت صنفاً من أصناف الزكاة: كالزروع والماشية والذهب أم كانت من غيرها كالأقمشة والعقارات والسيارات، فتجب الزكاة فيها بشروطها. 1-عروض التجارة معتبرة بالذهب والفضة من حيث النصاب،</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2-وحولان الحول ومقدار ما يجب فيها. والعبرة ببلوغ الأموال التجارية نصاباً آخر الحول من البدء بالتجارة، إذاً فلا يشترط وجود النصاب عند بداية الحول ولا أثنائه.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فبناء عليه فإن التاجر يجري جرداً عاماً لكل هو تحت يده من الأموال التي يتاجر فيها، فإن بلغت نصاباً وجب أن يخرج ربع عشر قيمة هذه الأموال زكاة، وإن لم تبلغ نصاباً لم يجب فيها شيء. وهنا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لا يجزئ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الإخراج من نفس</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العروض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بل تخرج ربع عشر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قيمة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هذه العروض.</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خامساً: نصاب المعدن والركاز وما يجب فيها: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المعدن: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فنصابه هو نصاب الذهب والفضة نفسه إلا أنه هنا لا يشترط حولان الحول بل تجب الزكاة فور استخراجه بنسبة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ربع العشر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 المجموع.</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الركاز: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فنصابه أيضاً نصاب النقدين، ويجب إخراج زكاته فوراً دون اشتراط الحول، إنما المقدار الواجب إخراجه هنا إنما هو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الخمس</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أي عشرون بالمائة من مجموع ما قد استخرجه. </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1823884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A00CA-F88E-FB87-0FB2-C8CF71DD75B4}"/>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F61222BD-064B-6C7B-4F0B-EA67DE6E9E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17D90A1D-8D4F-D0DC-3AE3-49E65F29639F}"/>
              </a:ext>
            </a:extLst>
          </p:cNvPr>
          <p:cNvSpPr/>
          <p:nvPr/>
        </p:nvSpPr>
        <p:spPr>
          <a:xfrm>
            <a:off x="183224" y="154004"/>
            <a:ext cx="11825551" cy="6314173"/>
          </a:xfrm>
          <a:prstGeom prst="roundRect">
            <a:avLst>
              <a:gd name="adj" fmla="val 2676"/>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زكاة الخليطين: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مالان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زكويان</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لشخصين خلطا ببعضهما بقصد الشركة بحيث لا يتميز مال أحدهما عن الآخر بل لكل منهما جزء غير متعين من المملوك بنسبة ما يملك، وذلك كما لو ورث أخوان من أبيهما أربعين رأساً من الغنم، أو اشتريا ذلك الغنم معاً.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الخليطين بالنسبة للزكاة: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يعتبر الخليطان في حكم المال الواحد ولرجل واحد في تعلق الزكاة فيهما، فإذا بلغ مجموع الخليطين نصاباً، وحال عليه الحول، وجبت الزكاة فيهما وإن كانت حصة كل من المالكين منفردة لا تبلغ نصاباً.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كيفية أداء الزكاة: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عدم التأخر عن وقت الاستحقاق: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يجب على المالك إذا وجبت عليه الزكاة أن يدفعها إلى مستحقيها فوراً، وذلك بعد توفر شرطين اثنين: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الشرط الأول: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أن يتمكن من إخراجها وذلك بأن يكون المال حاضراً عنده.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الشرط الثاني: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حضور الأصناف المستحقين للزكاة، أو حضور الإمام أو وكيله الساعي على جمع الزكاة، فإن لم يحضر من يستحق كان له أن يؤخر إخراجها حتى يحضر المستحقون.</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الذي يترتب على التأخير: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أولاً الإثم: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إذ هو يحبس مال الفقراء دون عذر.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ثانياً الضمان: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فتصبح ذمة المالك مشغولة بحق الفقراء حتى وإن تلف جميع ماله، لأنه هو الذي قصر. والأمر نفسه بالنسبة لوكيل المالك في إخراج الزكاة، فليس له أن يؤخر إخراجها عن وقتها المحدد وإلا كان آثماً وضامناً للمال الذي قبضه، ومثل الوكيل في ذلك الجمعيات الخيرية التي تستقبل أموال الزكاة وتوزعها على مستحقيها.</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18585201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8DE7E-5220-65F8-0A13-08615AF30A54}"/>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D61A2E21-FFB8-FB9D-D39B-DD8FC40F3F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A0E8FDEE-FB8F-5754-641E-5CDA2F477D1A}"/>
              </a:ext>
            </a:extLst>
          </p:cNvPr>
          <p:cNvSpPr/>
          <p:nvPr/>
        </p:nvSpPr>
        <p:spPr>
          <a:xfrm>
            <a:off x="215653" y="143301"/>
            <a:ext cx="11664437" cy="6571397"/>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مصارف الزكاة: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ذكر الله عز وجل المستحقين للزكاة الذين تصرف إليهم بقوله: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إِنَّمَا الصَّدَقَاتُ لِلْفُقَرَاءِ وَالْمَسَاكِينِ وَالْعَامِلِينَ عَلَيْهَا وَالْمُؤَلَّفَةِ قُلُوبُهُمْ وَفِي الرِّقَابِ وَالْغَارِمِينَ وَفِي سَبِيلِ اللَّهِ وَابْنِ السَّبِيلِ فَرِيضَةً مِنَ اللَّهِ وَاللَّهُ عَلِيمٌ حَكِيمٌ. </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الأصناف:</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١-</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الفقراء: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جمع فقير: هو من لا مال له يقع موقعاً من كفايته مطعماً وملبساً ومسكناً، كمن يحتاج إلى عشرة فلا يقدر إلا على ثلاثة.</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2-المساكين</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جمع مسكين، وهو من له شيء يسد مسداً من حاجته، ولكنه لا يكفيه، كمن يحتاج إلى عشرة مثلاً فلا يجد إلا ثمانية، ويعطى هؤلاء ومن قبلهم كفاية العمر على الأصح.</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العاملون عليها: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هم العمال الموظفون الذين يستعين بهم الإمام الجمع الزكاة وتوزيعها، وهؤلاء يعطون أجرة مثل عملهم الذي قاموا به.</a:t>
            </a:r>
          </a:p>
          <a:p>
            <a:pPr>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4-المؤلفة قلوبهم: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وهم مسلمون حديثو عهد بالإسلام، فيعطون من الزكاة حتى يقوى إسلامهم، أوهم مسلمون ذو وجاهة ومكانة في قومهم، يتوقع بإعطائهم إسلام أمثالهم.</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 5-</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وفي الرقاب: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وهم المكاتبون الذين تعاقدوا مع أسيادهم المالكين لهم على أن يجلبوا إليهم أقساطاً من المال، فإذا أدوها صاروا أحراراً فيعطون من الزكاة ما عجزوا عن سداده من هذه الأقساط.</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6-الغارمون: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هم الذين أثقلتهم الديون وعجزوا عن سدادها، فيعطون ما يقدرون به على وفاء ديونهم التي حلت آجالها مع ما يكفيهم مطعماً وملبساً ومسكناً.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7-في سبيل الله: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وهم الرجال الغزاة المتطوعون بالجهاد دفاعاً عن الإسلام، ولا راتب لهم في بيت المال، فيعطى كل من هؤلاء ما يكفيه ويكفي من تجب عليه نفقته إلى أن يرجع مهما طالت غيبته، وإن كان غنياً.</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8-ابن السبيل: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المسافر الذي انقطع به السبيل وليس له مال يرجعه إلى وطنه، فيعطى من مال الزكاة ما يكفيه.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فهذه هي الأصناف الثمانية المستحقة للزكاة ولا يجوز صرفها إلى غيرهم.</a:t>
            </a:r>
          </a:p>
          <a:p>
            <a:pPr>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38505544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E7F8D-23D6-1D2F-5894-6025762E997B}"/>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18F19266-1D18-EA63-BB9B-ECD104BAD6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9C931AF8-B00F-E24F-978D-0A7D3F755514}"/>
              </a:ext>
            </a:extLst>
          </p:cNvPr>
          <p:cNvSpPr/>
          <p:nvPr/>
        </p:nvSpPr>
        <p:spPr>
          <a:xfrm>
            <a:off x="263781" y="1434164"/>
            <a:ext cx="11664437" cy="4533500"/>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defTabSz="914400" rtl="1" eaLnBrk="1" fontAlgn="auto" latinLnBrk="0" hangingPunct="1">
              <a:lnSpc>
                <a:spcPct val="100000"/>
              </a:lnSpc>
              <a:spcBef>
                <a:spcPts val="0"/>
              </a:spcBef>
              <a:spcAft>
                <a:spcPts val="0"/>
              </a:spcAft>
              <a:buClrTx/>
              <a:buSzTx/>
              <a:buFontTx/>
              <a:buNone/>
              <a:tabLst/>
              <a:defRPr/>
            </a:pPr>
            <a:endParaRPr lang="ar-SA" sz="2400" dirty="0">
              <a:solidFill>
                <a:srgbClr val="FF0000"/>
              </a:solidFill>
              <a:latin typeface="Traditional Arabic" panose="02020603050405020304" pitchFamily="18" charset="-78"/>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endParaRPr lang="ar-SA" sz="2400" dirty="0">
              <a:solidFill>
                <a:srgbClr val="FF0000"/>
              </a:solidFill>
              <a:latin typeface="Traditional Arabic" panose="02020603050405020304" pitchFamily="18" charset="-78"/>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endParaRPr lang="ar-SA" sz="2400" dirty="0">
              <a:solidFill>
                <a:srgbClr val="FF0000"/>
              </a:solidFill>
              <a:latin typeface="Traditional Arabic" panose="02020603050405020304" pitchFamily="18" charset="-78"/>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استحقاق الزكاة، ومن لا تدفع إليهم</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يشترط فيمن تدفع إليه الزكاة إن كان من أحد الأصناف الثمانية شروط حتى يستحق الزكاة.</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1-الإسلام: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فلا تدفع الزكاة الواجبة لغير المسلم.</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عدم القدرة على الكسب: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إذا كان الفقير قادراً على عمل يليق به ويحصل به على ما يكفيه، فلا يصح دفع الزكاة إليه.</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ألا تكون نفقته واجبة على </a:t>
            </a:r>
            <a:r>
              <a:rPr kumimoji="0" lang="ar-SA" sz="2400" i="0" u="none" strike="noStrike" kern="1200" cap="none" spc="0" normalizeH="0" baseline="0" noProof="0" dirty="0" err="1">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المزكي</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لأن فائدة الزكاة هنا عادت على المالك نفسه. </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4- أن يكون غير هاشمي ولا مطلبي:</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من ثبت نسبه إلى بني هاشم أو بني المطلب فلا يعطى من الزكاة.</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زكاة الدين: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أولاً: وجوب الزكاة فيه: من كان له ديون تبلغ نصاباً، وحدها أو مع ما عنده من أموال، تجب فيها الزكاة إذا حال عليها الحول، وكونها ليست في يده لا يمنع من وجوبها فيه.</a:t>
            </a:r>
          </a:p>
          <a:p>
            <a:pPr marL="0" marR="0" lvl="0" indent="0"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متى تخرج زكاة الدين:</a:t>
            </a: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R="0" lvl="0" defTabSz="914400" rtl="1" eaLnBrk="1" fontAlgn="auto" latinLnBrk="0" hangingPunct="1">
              <a:lnSpc>
                <a:spcPct val="100000"/>
              </a:lnSpc>
              <a:spcBef>
                <a:spcPts val="0"/>
              </a:spcBef>
              <a:spcAft>
                <a:spcPts val="0"/>
              </a:spcAft>
              <a:buClrTx/>
              <a:buSzTx/>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إن كان الدين حالاً، وكان قادراً على أخذ ماله من المدين، فيجب عليه إخراج الزكاة فوراً. </a:t>
            </a:r>
          </a:p>
          <a:p>
            <a:pPr marR="0" lvl="0" defTabSz="914400" rtl="1" eaLnBrk="1" fontAlgn="auto" latinLnBrk="0" hangingPunct="1">
              <a:lnSpc>
                <a:spcPct val="100000"/>
              </a:lnSpc>
              <a:spcBef>
                <a:spcPts val="0"/>
              </a:spcBef>
              <a:spcAft>
                <a:spcPts val="0"/>
              </a:spcAft>
              <a:buClrTx/>
              <a:buSzTx/>
              <a:tabLst/>
              <a:defRPr/>
            </a:pPr>
            <a:r>
              <a:rPr lang="ar-SA" sz="2400" dirty="0">
                <a:solidFill>
                  <a:srgbClr val="FF0000"/>
                </a:solidFill>
                <a:latin typeface="Traditional Arabic" panose="02020603050405020304" pitchFamily="18" charset="-78"/>
                <a:cs typeface="Traditional Arabic" panose="02020603050405020304" pitchFamily="18" charset="-78"/>
              </a:rPr>
              <a:t>ب-</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وإن كان الدين مؤجلاً، أو كان الدين حالاً ولكنه لا يستطيع أخذ ماله لعسر المدين أو إنكاره، فلا يجب عليه إخراج الزكاة فوراً، بل ينتظر إن قبض الدين زكى عنه وعن كل الفترة الماضية وإن كان مضى عليه سنوات.</a:t>
            </a:r>
          </a:p>
          <a:p>
            <a:pPr marL="0" marR="0" lvl="0" indent="0"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33905033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FD684-BF7A-4206-53C8-257359C0ACD0}"/>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C311F419-678F-632F-A574-5F57067EB5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6693F68F-9DD3-E8A4-E4C3-65ACE0FD91E1}"/>
              </a:ext>
            </a:extLst>
          </p:cNvPr>
          <p:cNvSpPr/>
          <p:nvPr/>
        </p:nvSpPr>
        <p:spPr>
          <a:xfrm>
            <a:off x="115504" y="221381"/>
            <a:ext cx="11935326" cy="6493318"/>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الصيام</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لغة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الإمساك عن الشيء.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شرعاً: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إمساك عن المفطرات من طلوع الفجر إلى غروب الشمس مع النية.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تاريخ تشريع الصيام: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فرض صيام شهر رمضان في شعبان من السنة الثانية الهجرة،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تارك الصيام: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الصيام ركن من أركان الإسلام ومن الفرائض المعلومة من الدين بالضرورة، فمن كان جاحداً لوجوبه كان كافراً، فيستتاب، فإن تاب قبل منه، وإلا قتل ردة. وأما تارك الصيام كسلاً بغير عذر وكان غير جاحد للوجوب، فإنه يكون فاسقاً وليس بكافر، فيحبسه الحاكم ويمنع عنه الطعام والشراب نهاراً ليحصل له الصوم بذلك ولو صورة.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ثبوت شهر رمضان يثبت شهر رمضان: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إما: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-رؤية الهلال ليلة الثلاثين من شعبان، وذلك بأن يشهد أمام القاضي شاهد عدل أنه قد رأى الهلال.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2</a:t>
            </a:r>
            <a:r>
              <a:rPr lang="ar-SA" sz="2400" dirty="0">
                <a:solidFill>
                  <a:prstClr val="black"/>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إكمال شعبان ثلاثين يوماً، وذلك إذا تعسرت رؤية الهلال، أو إذا لم يتقدم شاهد عدل يشهد بأنه قد رأى الهلال.</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ملحوظة: </a:t>
            </a:r>
            <a:r>
              <a:rPr lang="ar-SA" sz="2400" dirty="0">
                <a:solidFill>
                  <a:schemeClr val="tx1"/>
                </a:solidFill>
                <a:latin typeface="Traditional Arabic" panose="02020603050405020304" pitchFamily="18" charset="-78"/>
                <a:cs typeface="Traditional Arabic" panose="02020603050405020304" pitchFamily="18" charset="-78"/>
              </a:rPr>
              <a:t>إذا رؤي الهلال في بلد لزم الصوم أهل البلاد القريبة من بلد الرؤية، دون أهل البلاد البعيدة، فالبلاد القريبة في حكم البلد الواحد.</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 </a:t>
            </a:r>
            <a:r>
              <a:rPr lang="ar-SA" sz="2400" b="1" dirty="0">
                <a:solidFill>
                  <a:srgbClr val="FF0000"/>
                </a:solidFill>
                <a:latin typeface="Traditional Arabic" panose="02020603050405020304" pitchFamily="18" charset="-78"/>
                <a:cs typeface="Traditional Arabic" panose="02020603050405020304" pitchFamily="18" charset="-78"/>
              </a:rPr>
              <a:t>شروط وجوب الصوم</a:t>
            </a:r>
            <a:r>
              <a:rPr lang="ar-SA" sz="2400" dirty="0">
                <a:solidFill>
                  <a:srgbClr val="FF0000"/>
                </a:solidFill>
                <a:latin typeface="Traditional Arabic" panose="02020603050405020304" pitchFamily="18" charset="-78"/>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1- الإسلام،</a:t>
            </a:r>
            <a:r>
              <a:rPr lang="ar-SA" sz="2400" dirty="0">
                <a:solidFill>
                  <a:schemeClr val="tx1"/>
                </a:solidFill>
                <a:latin typeface="Traditional Arabic" panose="02020603050405020304" pitchFamily="18" charset="-78"/>
                <a:cs typeface="Traditional Arabic" panose="02020603050405020304" pitchFamily="18" charset="-78"/>
              </a:rPr>
              <a:t> </a:t>
            </a:r>
            <a:r>
              <a:rPr lang="ar-SA" sz="2400" dirty="0">
                <a:solidFill>
                  <a:srgbClr val="FF0000"/>
                </a:solidFill>
                <a:latin typeface="Traditional Arabic" panose="02020603050405020304" pitchFamily="18" charset="-78"/>
                <a:cs typeface="Traditional Arabic" panose="02020603050405020304" pitchFamily="18" charset="-78"/>
              </a:rPr>
              <a:t>٢- التكليف</a:t>
            </a:r>
            <a:r>
              <a:rPr lang="ar-SA" sz="2400" dirty="0">
                <a:solidFill>
                  <a:schemeClr val="tx1"/>
                </a:solidFill>
                <a:latin typeface="Traditional Arabic" panose="02020603050405020304" pitchFamily="18" charset="-78"/>
                <a:cs typeface="Traditional Arabic" panose="02020603050405020304" pitchFamily="18" charset="-78"/>
              </a:rPr>
              <a:t>. </a:t>
            </a:r>
            <a:r>
              <a:rPr lang="ar-SA" sz="2400" dirty="0">
                <a:solidFill>
                  <a:srgbClr val="FF0000"/>
                </a:solidFill>
                <a:latin typeface="Traditional Arabic" panose="02020603050405020304" pitchFamily="18" charset="-78"/>
                <a:cs typeface="Traditional Arabic" panose="02020603050405020304" pitchFamily="18" charset="-78"/>
              </a:rPr>
              <a:t>3-الخلو عن الأعذار المانعة من الصوم،</a:t>
            </a:r>
            <a:r>
              <a:rPr lang="ar-SA" sz="2400" dirty="0">
                <a:solidFill>
                  <a:schemeClr val="tx1"/>
                </a:solidFill>
                <a:latin typeface="Traditional Arabic" panose="02020603050405020304" pitchFamily="18" charset="-78"/>
                <a:cs typeface="Traditional Arabic" panose="02020603050405020304" pitchFamily="18" charset="-78"/>
              </a:rPr>
              <a:t> </a:t>
            </a:r>
            <a:r>
              <a:rPr lang="ar-SA" sz="2400" dirty="0">
                <a:solidFill>
                  <a:srgbClr val="FF0000"/>
                </a:solidFill>
                <a:latin typeface="Traditional Arabic" panose="02020603050405020304" pitchFamily="18" charset="-78"/>
                <a:cs typeface="Traditional Arabic" panose="02020603050405020304" pitchFamily="18" charset="-78"/>
              </a:rPr>
              <a:t>أو </a:t>
            </a:r>
            <a:r>
              <a:rPr lang="ar-SA" sz="2400" dirty="0" err="1">
                <a:solidFill>
                  <a:srgbClr val="FF0000"/>
                </a:solidFill>
                <a:latin typeface="Traditional Arabic" panose="02020603050405020304" pitchFamily="18" charset="-78"/>
                <a:cs typeface="Traditional Arabic" panose="02020603050405020304" pitchFamily="18" charset="-78"/>
              </a:rPr>
              <a:t>المبيحة</a:t>
            </a:r>
            <a:r>
              <a:rPr lang="ar-SA" sz="2400" dirty="0">
                <a:solidFill>
                  <a:srgbClr val="FF0000"/>
                </a:solidFill>
                <a:latin typeface="Traditional Arabic" panose="02020603050405020304" pitchFamily="18" charset="-78"/>
                <a:cs typeface="Traditional Arabic" panose="02020603050405020304" pitchFamily="18" charset="-78"/>
              </a:rPr>
              <a:t> للفطر: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أما الأعذار المانعة</a:t>
            </a:r>
            <a:r>
              <a:rPr lang="ar-SA" sz="2400" dirty="0">
                <a:solidFill>
                  <a:schemeClr val="tx1"/>
                </a:solidFill>
                <a:latin typeface="Traditional Arabic" panose="02020603050405020304" pitchFamily="18" charset="-78"/>
                <a:cs typeface="Traditional Arabic" panose="02020603050405020304" pitchFamily="18" charset="-78"/>
              </a:rPr>
              <a:t>: </a:t>
            </a:r>
            <a:r>
              <a:rPr lang="ar-SA" sz="2400" dirty="0">
                <a:solidFill>
                  <a:srgbClr val="FF0000"/>
                </a:solidFill>
                <a:latin typeface="Traditional Arabic" panose="02020603050405020304" pitchFamily="18" charset="-78"/>
                <a:cs typeface="Traditional Arabic" panose="02020603050405020304" pitchFamily="18" charset="-78"/>
              </a:rPr>
              <a:t>أ-</a:t>
            </a:r>
            <a:r>
              <a:rPr lang="ar-SA" sz="2400" dirty="0">
                <a:solidFill>
                  <a:schemeClr val="tx1"/>
                </a:solidFill>
                <a:latin typeface="Traditional Arabic" panose="02020603050405020304" pitchFamily="18" charset="-78"/>
                <a:cs typeface="Traditional Arabic" panose="02020603050405020304" pitchFamily="18" charset="-78"/>
              </a:rPr>
              <a:t> التلبس بالحيض أو النفاس ولو جزءاً صغيراً من أجزاء النهار. </a:t>
            </a:r>
            <a:r>
              <a:rPr lang="ar-SA" sz="2400" dirty="0">
                <a:solidFill>
                  <a:srgbClr val="FF0000"/>
                </a:solidFill>
                <a:latin typeface="Traditional Arabic" panose="02020603050405020304" pitchFamily="18" charset="-78"/>
                <a:cs typeface="Traditional Arabic" panose="02020603050405020304" pitchFamily="18" charset="-78"/>
              </a:rPr>
              <a:t>ب-</a:t>
            </a:r>
            <a:r>
              <a:rPr lang="ar-SA" sz="2400" dirty="0">
                <a:solidFill>
                  <a:schemeClr val="tx1"/>
                </a:solidFill>
                <a:latin typeface="Traditional Arabic" panose="02020603050405020304" pitchFamily="18" charset="-78"/>
                <a:cs typeface="Traditional Arabic" panose="02020603050405020304" pitchFamily="18" charset="-78"/>
              </a:rPr>
              <a:t> الجنون أو الإغماء طيلة النهار، فإن أفاق ولو لحظة من النهار سقط العذر ووجب إمساك بقية النهار.</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 </a:t>
            </a:r>
            <a:r>
              <a:rPr lang="ar-SA" sz="2400" dirty="0">
                <a:solidFill>
                  <a:srgbClr val="FF0000"/>
                </a:solidFill>
                <a:latin typeface="Traditional Arabic" panose="02020603050405020304" pitchFamily="18" charset="-78"/>
                <a:cs typeface="Traditional Arabic" panose="02020603050405020304" pitchFamily="18" charset="-78"/>
              </a:rPr>
              <a:t>وأما الأعذار </a:t>
            </a:r>
            <a:r>
              <a:rPr lang="ar-SA" sz="2400" dirty="0" err="1">
                <a:solidFill>
                  <a:srgbClr val="FF0000"/>
                </a:solidFill>
                <a:latin typeface="Traditional Arabic" panose="02020603050405020304" pitchFamily="18" charset="-78"/>
                <a:cs typeface="Traditional Arabic" panose="02020603050405020304" pitchFamily="18" charset="-78"/>
              </a:rPr>
              <a:t>المبيحة</a:t>
            </a:r>
            <a:r>
              <a:rPr lang="ar-SA" sz="2400" dirty="0">
                <a:solidFill>
                  <a:srgbClr val="FF0000"/>
                </a:solidFill>
                <a:latin typeface="Traditional Arabic" panose="02020603050405020304" pitchFamily="18" charset="-78"/>
                <a:cs typeface="Traditional Arabic" panose="02020603050405020304" pitchFamily="18" charset="-78"/>
              </a:rPr>
              <a:t> للإفطار: أ-</a:t>
            </a:r>
            <a:r>
              <a:rPr lang="ar-SA" sz="2400" dirty="0">
                <a:solidFill>
                  <a:schemeClr val="tx1"/>
                </a:solidFill>
                <a:latin typeface="Traditional Arabic" panose="02020603050405020304" pitchFamily="18" charset="-78"/>
                <a:cs typeface="Traditional Arabic" panose="02020603050405020304" pitchFamily="18" charset="-78"/>
              </a:rPr>
              <a:t> المرض الذي يسبب لصاحبه ضرراً شديداً، أو ألماً أو انزعاجاً شديدين. </a:t>
            </a:r>
            <a:r>
              <a:rPr lang="ar-SA" sz="2400" dirty="0">
                <a:solidFill>
                  <a:srgbClr val="FF0000"/>
                </a:solidFill>
                <a:latin typeface="Traditional Arabic" panose="02020603050405020304" pitchFamily="18" charset="-78"/>
                <a:cs typeface="Traditional Arabic" panose="02020603050405020304" pitchFamily="18" charset="-78"/>
              </a:rPr>
              <a:t>ب</a:t>
            </a:r>
            <a:r>
              <a:rPr lang="ar-SA" sz="2400" dirty="0">
                <a:solidFill>
                  <a:schemeClr val="tx1"/>
                </a:solidFill>
                <a:latin typeface="Traditional Arabic" panose="02020603050405020304" pitchFamily="18" charset="-78"/>
                <a:cs typeface="Traditional Arabic" panose="02020603050405020304" pitchFamily="18" charset="-78"/>
              </a:rPr>
              <a:t>- السفر الطويل الذي لا يقل عن (۸۳) كم بشرط أن يكون سفر مباحاً، وبشرط أن يستغرق طيلة اليوم، فلو أصبح صائماً مقيماً، ثم سافر لم يجز له الإفطار.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 </a:t>
            </a:r>
            <a:r>
              <a:rPr lang="ar-SA" sz="2400" dirty="0">
                <a:solidFill>
                  <a:srgbClr val="FF0000"/>
                </a:solidFill>
                <a:latin typeface="Traditional Arabic" panose="02020603050405020304" pitchFamily="18" charset="-78"/>
                <a:cs typeface="Traditional Arabic" panose="02020603050405020304" pitchFamily="18" charset="-78"/>
              </a:rPr>
              <a:t>ج</a:t>
            </a:r>
            <a:r>
              <a:rPr lang="ar-SA" sz="2400" dirty="0">
                <a:solidFill>
                  <a:schemeClr val="tx1"/>
                </a:solidFill>
                <a:latin typeface="Traditional Arabic" panose="02020603050405020304" pitchFamily="18" charset="-78"/>
                <a:cs typeface="Traditional Arabic" panose="02020603050405020304" pitchFamily="18" charset="-78"/>
              </a:rPr>
              <a:t>-العجز عن الصيام: فلا يجب الصوم على من لا يطيقه لكبر، أو مرض لا يرجى برؤه. </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26012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A7EDA-DD66-2C55-8EDC-7AD2F7AAF9AE}"/>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540BFF75-6471-4F8C-F0E4-6C2614F768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0F4B82CB-AFD2-C9F6-F9F9-89095D2BDA1A}"/>
              </a:ext>
            </a:extLst>
          </p:cNvPr>
          <p:cNvSpPr/>
          <p:nvPr/>
        </p:nvSpPr>
        <p:spPr>
          <a:xfrm>
            <a:off x="263781" y="1"/>
            <a:ext cx="11664437" cy="6858000"/>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صحة الصوم:</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الإسلام</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-العقل: أي التمييز، فالصبي المميز إذا صام صح منه.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الخلو من الأعذار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لمانعة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 الصوم: وهي الحيض والنفاس والإغماء والجنون طيلة النهار.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أركان الصوم:</a:t>
            </a: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1-النية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وهي قصد الصيام، ومحلها القلب، فإن كانت النية لصوم رمضان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يشترط فيها:</a:t>
            </a:r>
          </a:p>
          <a:p>
            <a:pPr marR="0" lvl="0" algn="just" defTabSz="914400" rtl="1" eaLnBrk="1" fontAlgn="auto" latinLnBrk="0" hangingPunct="1">
              <a:lnSpc>
                <a:spcPct val="100000"/>
              </a:lnSpc>
              <a:spcBef>
                <a:spcPts val="0"/>
              </a:spcBef>
              <a:spcAft>
                <a:spcPts val="0"/>
              </a:spcAft>
              <a:buClrTx/>
              <a:buSzTx/>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التبييت: وهو إيقاع النية ليلاً أي قبل طلوع الفجر.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التعيين: نوع الصوم، رمضان.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ج</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التكرار: أي ينوي كل ليلة عن صوم اليوم التالي فلا تكفي نية واحدة عن الشهر كله. </a:t>
            </a:r>
          </a:p>
          <a:p>
            <a:pPr marR="0" lvl="0" algn="just" defTabSz="914400" rtl="1" eaLnBrk="1" fontAlgn="auto" latinLnBrk="0" hangingPunct="1">
              <a:lnSpc>
                <a:spcPct val="100000"/>
              </a:lnSpc>
              <a:spcBef>
                <a:spcPts val="0"/>
              </a:spcBef>
              <a:spcAft>
                <a:spcPts val="0"/>
              </a:spcAft>
              <a:buClrTx/>
              <a:buSzTx/>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أما صوم النافلة فلا يشترط فيه تبييت ولا تعيين فيصح إيقاع النية نهاراً قبل الزوال، ويصح أيضاً بنية مطلقة.</a:t>
            </a:r>
          </a:p>
          <a:p>
            <a:pPr marR="0" lvl="0" algn="just" defTabSz="914400" rtl="1" eaLnBrk="1" fontAlgn="auto" latinLnBrk="0" hangingPunct="1">
              <a:lnSpc>
                <a:spcPct val="100000"/>
              </a:lnSpc>
              <a:spcBef>
                <a:spcPts val="0"/>
              </a:spcBef>
              <a:spcAft>
                <a:spcPts val="0"/>
              </a:spcAft>
              <a:buClrTx/>
              <a:buSzTx/>
              <a:tabLst/>
              <a:defRPr/>
            </a:pPr>
            <a:r>
              <a:rPr lang="ar-SA" sz="2400" b="1" dirty="0">
                <a:solidFill>
                  <a:srgbClr val="FF0000"/>
                </a:solidFill>
                <a:latin typeface="Traditional Arabic" panose="02020603050405020304" pitchFamily="18" charset="-78"/>
                <a:cs typeface="Traditional Arabic" panose="02020603050405020304" pitchFamily="18" charset="-78"/>
              </a:rPr>
              <a:t>2-</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الإمساك عن المفطرات:</a:t>
            </a:r>
          </a:p>
          <a:p>
            <a:pPr marR="0" lvl="0" algn="just" defTabSz="914400" rtl="1" eaLnBrk="1" fontAlgn="auto" latinLnBrk="0" hangingPunct="1">
              <a:lnSpc>
                <a:spcPct val="100000"/>
              </a:lnSpc>
              <a:spcBef>
                <a:spcPts val="0"/>
              </a:spcBef>
              <a:spcAft>
                <a:spcPts val="0"/>
              </a:spcAft>
              <a:buClrTx/>
              <a:buSzTx/>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الأكل والشرب: إذا كان عمداً مهما قل أو كثر، فإن أكل أو شرب ناسياً فلا شيء عليه مهما قل أو كثر، وصيامه صحيح.</a:t>
            </a:r>
          </a:p>
          <a:p>
            <a:pPr marR="0" lvl="0" algn="just" defTabSz="914400" rtl="1" eaLnBrk="1" fontAlgn="auto" latinLnBrk="0" hangingPunct="1">
              <a:lnSpc>
                <a:spcPct val="100000"/>
              </a:lnSpc>
              <a:spcBef>
                <a:spcPts val="0"/>
              </a:spcBef>
              <a:spcAft>
                <a:spcPts val="0"/>
              </a:spcAft>
              <a:buClrTx/>
              <a:buSzTx/>
              <a:tabLst/>
              <a:defRPr/>
            </a:pPr>
            <a:r>
              <a:rPr lang="ar-SA" sz="2400" dirty="0">
                <a:solidFill>
                  <a:srgbClr val="FF0000"/>
                </a:solidFill>
                <a:latin typeface="Traditional Arabic" panose="02020603050405020304" pitchFamily="18" charset="-78"/>
                <a:cs typeface="Traditional Arabic" panose="02020603050405020304" pitchFamily="18" charset="-78"/>
              </a:rPr>
              <a:t>2</a:t>
            </a:r>
            <a:r>
              <a:rPr lang="ar-SA" sz="2400" dirty="0">
                <a:solidFill>
                  <a:prstClr val="black"/>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وصول عين إلى الجوف من منفذ مفتوح، والمنفذ المفتوح هو: الفم والأنف والأذن والقبل والدبر من الذكر والأنثى. فالقطرة في العين لا تفطر، والحقن الوريدية لا تفطر، لأن كلاً منهما ليس بمنفذ مفتوح، أما القطرة في الأذن أو الحقن الشرجية فكل ذلك مفطر. </a:t>
            </a:r>
          </a:p>
          <a:p>
            <a:pPr marR="0" lvl="0" algn="just" defTabSz="914400" rtl="1" eaLnBrk="1" fontAlgn="auto" latinLnBrk="0" hangingPunct="1">
              <a:lnSpc>
                <a:spcPct val="100000"/>
              </a:lnSpc>
              <a:spcBef>
                <a:spcPts val="0"/>
              </a:spcBef>
              <a:spcAft>
                <a:spcPts val="0"/>
              </a:spcAft>
              <a:buClrTx/>
              <a:buSzTx/>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lang="ar-SA" sz="2400" dirty="0">
                <a:solidFill>
                  <a:prstClr val="black"/>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القيء المتعمد فيه فهو مفطر، لكن إن غلبه القيء لم يضر. </a:t>
            </a:r>
          </a:p>
          <a:p>
            <a:pPr marR="0" lvl="0" algn="just" defTabSz="914400" rtl="1" eaLnBrk="1" fontAlgn="auto" latinLnBrk="0" hangingPunct="1">
              <a:lnSpc>
                <a:spcPct val="100000"/>
              </a:lnSpc>
              <a:spcBef>
                <a:spcPts val="0"/>
              </a:spcBef>
              <a:spcAft>
                <a:spcPts val="0"/>
              </a:spcAft>
              <a:buClrTx/>
              <a:buSzTx/>
              <a:tabLst/>
              <a:defRPr/>
            </a:pPr>
            <a:r>
              <a:rPr lang="ar-SA" sz="2400" dirty="0">
                <a:solidFill>
                  <a:srgbClr val="FF0000"/>
                </a:solidFill>
                <a:latin typeface="Traditional Arabic" panose="02020603050405020304" pitchFamily="18" charset="-78"/>
                <a:cs typeface="Traditional Arabic" panose="02020603050405020304" pitchFamily="18" charset="-78"/>
              </a:rPr>
              <a:t>4</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-الوطء عمداً ولو من غير إنزال، أما لو وطئ ناسياً فإنه لا يفطر. </a:t>
            </a:r>
          </a:p>
          <a:p>
            <a:pPr marR="0" lvl="0" algn="just" defTabSz="914400" rtl="1" eaLnBrk="1" fontAlgn="auto" latinLnBrk="0" hangingPunct="1">
              <a:lnSpc>
                <a:spcPct val="100000"/>
              </a:lnSpc>
              <a:spcBef>
                <a:spcPts val="0"/>
              </a:spcBef>
              <a:spcAft>
                <a:spcPts val="0"/>
              </a:spcAft>
              <a:buClrTx/>
              <a:buSzTx/>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5</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-الاستمناء: وهو استخراج المني بمباشرة تقبيل ونحوه، أو بواسطة اليد، أما الاحتلام نهاراً فإنه غير مفطر.  </a:t>
            </a:r>
          </a:p>
          <a:p>
            <a:pPr marR="0" lvl="0" algn="just" defTabSz="914400" rtl="1" eaLnBrk="1" fontAlgn="auto" latinLnBrk="0" hangingPunct="1">
              <a:lnSpc>
                <a:spcPct val="100000"/>
              </a:lnSpc>
              <a:spcBef>
                <a:spcPts val="0"/>
              </a:spcBef>
              <a:spcAft>
                <a:spcPts val="0"/>
              </a:spcAft>
              <a:buClrTx/>
              <a:buSzTx/>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6</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الحيض والنفاس: فإذا طرأ على المرأة الصائمة حيض أو نفاس في جزء من النهار بطل صيامها. </a:t>
            </a:r>
          </a:p>
          <a:p>
            <a:pPr marR="0" lvl="0" algn="just" defTabSz="914400" rtl="1" eaLnBrk="1" fontAlgn="auto" latinLnBrk="0" hangingPunct="1">
              <a:lnSpc>
                <a:spcPct val="100000"/>
              </a:lnSpc>
              <a:spcBef>
                <a:spcPts val="0"/>
              </a:spcBef>
              <a:spcAft>
                <a:spcPts val="0"/>
              </a:spcAft>
              <a:buClrTx/>
              <a:buSzTx/>
              <a:tabLst/>
              <a:defRPr/>
            </a:pPr>
            <a:r>
              <a:rPr lang="ar-SA" sz="2400" dirty="0">
                <a:solidFill>
                  <a:srgbClr val="FF0000"/>
                </a:solidFill>
                <a:latin typeface="Traditional Arabic" panose="02020603050405020304" pitchFamily="18" charset="-78"/>
                <a:cs typeface="Traditional Arabic" panose="02020603050405020304" pitchFamily="18" charset="-78"/>
              </a:rPr>
              <a:t>7</a:t>
            </a:r>
            <a:r>
              <a:rPr lang="ar-SA" sz="2400" dirty="0">
                <a:solidFill>
                  <a:prstClr val="black"/>
                </a:solidFill>
                <a:latin typeface="Traditional Arabic" panose="02020603050405020304" pitchFamily="18" charset="-78"/>
                <a:cs typeface="Traditional Arabic" panose="02020603050405020304" pitchFamily="18" charset="-78"/>
              </a:rPr>
              <a:t>-الجنون والردة.</a:t>
            </a: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32222801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44992-2246-FE6F-E6BF-F5E27418FE34}"/>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EB29E1F4-3603-AD98-8631-AA7646A9EA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0D58ECF3-19AE-B4DE-68A1-FCF3F9A05F5D}"/>
              </a:ext>
            </a:extLst>
          </p:cNvPr>
          <p:cNvSpPr/>
          <p:nvPr/>
        </p:nvSpPr>
        <p:spPr>
          <a:xfrm>
            <a:off x="215653" y="143301"/>
            <a:ext cx="11796675" cy="6571397"/>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ملحوظة: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إن باشر الصائم شيئاً من هذه المفطرات ظاناً أن الفجر لم يطلع بعد، فتبين له خطؤه بطل صومه وأمسك بقية النهار، ثم قضى بدلاً عنه، وكذلك الحال إذا أفطر في آخر النهار ظاناً غروب الشمس، ثم تبين أنها لم تغرب بعد بطل صيامه ووجب عليه القضاء.</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آدا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 الصوم: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۱</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-تعجيل الفطر.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-السحور وتأخيره.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-ترك الهجر من الكلام. </a:t>
            </a:r>
            <a:r>
              <a:rPr lang="ar-SA" sz="2400" dirty="0">
                <a:solidFill>
                  <a:srgbClr val="FF0000"/>
                </a:solidFill>
                <a:latin typeface="Traditional Arabic" panose="02020603050405020304" pitchFamily="18" charset="-78"/>
                <a:cs typeface="Traditional Arabic" panose="02020603050405020304" pitchFamily="18" charset="-78"/>
              </a:rPr>
              <a:t>4-</a:t>
            </a:r>
            <a:r>
              <a:rPr lang="ar-SA" sz="2400" dirty="0">
                <a:solidFill>
                  <a:prstClr val="black"/>
                </a:solidFill>
                <a:latin typeface="Traditional Arabic" panose="02020603050405020304" pitchFamily="18" charset="-78"/>
                <a:cs typeface="Traditional Arabic" panose="02020603050405020304" pitchFamily="18" charset="-78"/>
              </a:rPr>
              <a:t>الاغتسال من الجنابة قبل الفجر.  </a:t>
            </a:r>
            <a:r>
              <a:rPr lang="ar-SA" sz="2400" dirty="0">
                <a:solidFill>
                  <a:srgbClr val="FF0000"/>
                </a:solidFill>
                <a:latin typeface="Traditional Arabic" panose="02020603050405020304" pitchFamily="18" charset="-78"/>
                <a:cs typeface="Traditional Arabic" panose="02020603050405020304" pitchFamily="18" charset="-78"/>
              </a:rPr>
              <a:t>5-</a:t>
            </a:r>
            <a:r>
              <a:rPr lang="ar-SA" sz="2400" dirty="0">
                <a:solidFill>
                  <a:prstClr val="black"/>
                </a:solidFill>
                <a:latin typeface="Traditional Arabic" panose="02020603050405020304" pitchFamily="18" charset="-78"/>
                <a:cs typeface="Traditional Arabic" panose="02020603050405020304" pitchFamily="18" charset="-78"/>
              </a:rPr>
              <a:t>ترك الحجامة والفصد.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6</a:t>
            </a:r>
            <a:r>
              <a:rPr lang="ar-SA" sz="2400" dirty="0">
                <a:solidFill>
                  <a:prstClr val="black"/>
                </a:solidFill>
                <a:latin typeface="Traditional Arabic" panose="02020603050405020304" pitchFamily="18" charset="-78"/>
                <a:cs typeface="Traditional Arabic" panose="02020603050405020304" pitchFamily="18" charset="-78"/>
              </a:rPr>
              <a:t>- أن يقول عند فطره اللهم لك صمت، وعلى رزقك أفطرت، ذهب الظمأ، وابتلت العروق، وثبت الأجر إن شاء الله.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7</a:t>
            </a:r>
            <a:r>
              <a:rPr lang="ar-SA" sz="2400" dirty="0">
                <a:solidFill>
                  <a:prstClr val="black"/>
                </a:solidFill>
                <a:latin typeface="Traditional Arabic" panose="02020603050405020304" pitchFamily="18" charset="-78"/>
                <a:cs typeface="Traditional Arabic" panose="02020603050405020304" pitchFamily="18" charset="-78"/>
              </a:rPr>
              <a:t>-أن يفطر الصائمين ولو على تمرة أو شربة ماء. </a:t>
            </a:r>
            <a:r>
              <a:rPr lang="ar-SA" sz="2400" dirty="0">
                <a:solidFill>
                  <a:srgbClr val="FF0000"/>
                </a:solidFill>
                <a:latin typeface="Traditional Arabic" panose="02020603050405020304" pitchFamily="18" charset="-78"/>
                <a:cs typeface="Traditional Arabic" panose="02020603050405020304" pitchFamily="18" charset="-78"/>
              </a:rPr>
              <a:t>8</a:t>
            </a:r>
            <a:r>
              <a:rPr lang="ar-SA" sz="2400" dirty="0">
                <a:solidFill>
                  <a:prstClr val="black"/>
                </a:solidFill>
                <a:latin typeface="Traditional Arabic" panose="02020603050405020304" pitchFamily="18" charset="-78"/>
                <a:cs typeface="Traditional Arabic" panose="02020603050405020304" pitchFamily="18" charset="-78"/>
              </a:rPr>
              <a:t>-كثرة الصدقة وتلاوة القرآن </a:t>
            </a:r>
            <a:r>
              <a:rPr lang="ar-SA" sz="2400" dirty="0" err="1">
                <a:solidFill>
                  <a:prstClr val="black"/>
                </a:solidFill>
                <a:latin typeface="Traditional Arabic" panose="02020603050405020304" pitchFamily="18" charset="-78"/>
                <a:cs typeface="Traditional Arabic" panose="02020603050405020304" pitchFamily="18" charset="-78"/>
              </a:rPr>
              <a:t>ومدارسته</a:t>
            </a:r>
            <a:r>
              <a:rPr lang="ar-SA" sz="2400" dirty="0">
                <a:solidFill>
                  <a:prstClr val="black"/>
                </a:solidFill>
                <a:latin typeface="Traditional Arabic" panose="02020603050405020304" pitchFamily="18" charset="-78"/>
                <a:cs typeface="Traditional Arabic" panose="02020603050405020304" pitchFamily="18" charset="-78"/>
              </a:rPr>
              <a:t>، والاعتكاف في المسجد لا سيما في العشر الأواخر.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قضاء رمضان والفدية والكفارة: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1</a:t>
            </a:r>
            <a:r>
              <a:rPr lang="ar-SA" sz="2400" dirty="0">
                <a:solidFill>
                  <a:prstClr val="black"/>
                </a:solidFill>
                <a:latin typeface="Traditional Arabic" panose="02020603050405020304" pitchFamily="18" charset="-78"/>
                <a:cs typeface="Traditional Arabic" panose="02020603050405020304" pitchFamily="18" charset="-78"/>
              </a:rPr>
              <a:t>-المسافر والمريض: من أفطر في رمضان لسفر أو مرض وجب عليه القضاء قبل حلول شهر رمضان من العام الذي يليه، فإن لم يقض تساهلاً حتى دخل رمضان آخر أثم، ولزمه مع القضاء الفدية وهي أن يطعم عن كل يوم مد من غالب قوت البلد يتصدق به على الفقراء، والمد يساوي ( ٦٠٠ غ) تقريباً. فإن مات ولم يقض فلا يخلو إما أن يكون قد مات قبل أن يتمكن من القضاء أو مات بعد التمكن ولكنه لم يقض تقصيراً. فإن مات قبل التمكن فلا إثم عليه، وليس على وليه شيء. وإن مات بعد التمكن من القضاء، فوليه مخير بين أمرين إما أن يصوم عنه، وإما أن يطعم عنه عن كل يوم مد طعام.</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٢</a:t>
            </a:r>
            <a:r>
              <a:rPr lang="ar-SA" sz="2400" dirty="0">
                <a:solidFill>
                  <a:prstClr val="black"/>
                </a:solidFill>
                <a:latin typeface="Traditional Arabic" panose="02020603050405020304" pitchFamily="18" charset="-78"/>
                <a:cs typeface="Traditional Arabic" panose="02020603050405020304" pitchFamily="18" charset="-78"/>
              </a:rPr>
              <a:t>-الكبير العاجز، والمريض الذي لا يرجى برؤه: يجب عليهما أن يتصدقا عن كل يوم بمد طعام من غالب قوت البلد ولا يجب عليهما شيء غير ذلك.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3</a:t>
            </a:r>
            <a:r>
              <a:rPr lang="ar-SA" sz="2400" dirty="0">
                <a:solidFill>
                  <a:prstClr val="black"/>
                </a:solidFill>
                <a:latin typeface="Traditional Arabic" panose="02020603050405020304" pitchFamily="18" charset="-78"/>
                <a:cs typeface="Traditional Arabic" panose="02020603050405020304" pitchFamily="18" charset="-78"/>
              </a:rPr>
              <a:t>-الحامل والمرضع: إن أفطرتا خوفاً على نفسيهما فعليهما القضاء فقط قبل حلول رمضان الذي يليه، وإن أفطرتا خوفاً على أولادهما فعليهما القضاء والفدية لكل يوم مد طعام.</a:t>
            </a: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25767554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123A5-1C83-C79C-9FD7-61F5882B8AEB}"/>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01CAF96C-7BAD-949C-74F3-F512DEB4A3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5B5CCBC4-27E8-744E-7667-0A546C7C4793}"/>
              </a:ext>
            </a:extLst>
          </p:cNvPr>
          <p:cNvSpPr/>
          <p:nvPr/>
        </p:nvSpPr>
        <p:spPr>
          <a:xfrm>
            <a:off x="215653" y="683394"/>
            <a:ext cx="11664437" cy="5755907"/>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كفارة الإفطار في رمضان: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موجب الكفارة: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إفساد صوم يوم من أيام رمضان بجماع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بشرط أن يكون المجامع ذاكراً للصوم، عالماً بالحرمة، غير مترخص بالسفر.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من تجب عليه الكفارة: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إنما تجب على الزوج المجامع، ولا تجب على الزوجة بل عليها القضاء فقط.</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هي الكفارة: 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عتق رقبة مؤمنة، فإن لم يجد أو لم يستطع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-فصيام شهرين متتابعين، فإن لم يستطع أيضاً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-فإطعام ستين مسكيناً لكل مسكين مد من غالب قوت البلد، فإن عجز عن الكل ثبتت الكفارة في ذمته حتى يقدر على خصلة منها. ويجب على المجامع بالإضافة للكفار قضاء اليوم الذي أفطره بالجماع. والكفارة تتكرر أيضاً بتكرر الأيام، فلو أفطر يومين من رمضان بالجماع لزمه كفارتان وهكذا.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صوم التطوع: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الصوم المسنون.</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1</a:t>
            </a:r>
            <a:r>
              <a:rPr lang="ar-SA" sz="2400" dirty="0">
                <a:solidFill>
                  <a:prstClr val="black"/>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صوم يوم عرفة: وهو تاسع ذي الحجة وذلك لغير الحاج.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-صوم يوم عاشوراء وتاسوعاء: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-صوم يومي الإثنين والخميس.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4</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-صوم ثلاثة أيام من كل شهر: والأفضل أن تكون الأيام البيض..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5</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-صوم ستة أيام من شوال.</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قطع الصيام المسنون: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إذا تلبس المسلم بصيام مسنون جاز له أن يقطعه بالإفطار متى شاء، ولا قضاء عليه، وإن كان يكره له ذلك،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أما إذا تلبس بصيام قضاء فرض فإنه يحرم عليه قطعه، لأن التلبس بالفرض يوجب إتمامه.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ال</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صوم المكروه: </a:t>
            </a:r>
            <a:r>
              <a:rPr lang="ar-SA" sz="2400" dirty="0">
                <a:solidFill>
                  <a:srgbClr val="FF0000"/>
                </a:solidFill>
                <a:latin typeface="Traditional Arabic" panose="02020603050405020304" pitchFamily="18" charset="-78"/>
                <a:cs typeface="Traditional Arabic" panose="02020603050405020304" pitchFamily="18" charset="-78"/>
              </a:rPr>
              <a:t>1</a:t>
            </a:r>
            <a:r>
              <a:rPr lang="ar-SA" sz="2400" dirty="0">
                <a:solidFill>
                  <a:prstClr val="black"/>
                </a:solidFill>
                <a:latin typeface="Traditional Arabic" panose="02020603050405020304" pitchFamily="18" charset="-78"/>
                <a:cs typeface="Traditional Arabic" panose="02020603050405020304" pitchFamily="18" charset="-78"/>
              </a:rPr>
              <a:t>-إفراد يوم الجمعة بالصوم </a:t>
            </a:r>
            <a:r>
              <a:rPr lang="ar-SA" sz="2400" dirty="0">
                <a:solidFill>
                  <a:srgbClr val="FF0000"/>
                </a:solidFill>
                <a:latin typeface="Traditional Arabic" panose="02020603050405020304" pitchFamily="18" charset="-78"/>
                <a:cs typeface="Traditional Arabic" panose="02020603050405020304" pitchFamily="18" charset="-78"/>
              </a:rPr>
              <a:t>2</a:t>
            </a:r>
            <a:r>
              <a:rPr lang="ar-SA" sz="2400" dirty="0">
                <a:solidFill>
                  <a:prstClr val="black"/>
                </a:solidFill>
                <a:latin typeface="Traditional Arabic" panose="02020603050405020304" pitchFamily="18" charset="-78"/>
                <a:cs typeface="Traditional Arabic" panose="02020603050405020304" pitchFamily="18" charset="-78"/>
              </a:rPr>
              <a:t>- إفراد يوم السبت بالصوم. </a:t>
            </a:r>
            <a:r>
              <a:rPr lang="ar-SA" sz="2400" dirty="0">
                <a:solidFill>
                  <a:srgbClr val="FF0000"/>
                </a:solidFill>
                <a:latin typeface="Traditional Arabic" panose="02020603050405020304" pitchFamily="18" charset="-78"/>
                <a:cs typeface="Traditional Arabic" panose="02020603050405020304" pitchFamily="18" charset="-78"/>
              </a:rPr>
              <a:t>3</a:t>
            </a:r>
            <a:r>
              <a:rPr lang="ar-SA" sz="2400" dirty="0">
                <a:solidFill>
                  <a:prstClr val="black"/>
                </a:solidFill>
                <a:latin typeface="Traditional Arabic" panose="02020603050405020304" pitchFamily="18" charset="-78"/>
                <a:cs typeface="Traditional Arabic" panose="02020603050405020304" pitchFamily="18" charset="-78"/>
              </a:rPr>
              <a:t>- صيام الدهر.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الصوم المحرم: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-صيام يومي عيد الفطر </a:t>
            </a:r>
            <a:r>
              <a:rPr kumimoji="0" lang="ar-SA" sz="2400" i="0" u="none" strike="noStrike" kern="1200" cap="none" spc="0" normalizeH="0" baseline="0" noProof="0" dirty="0" err="1">
                <a:ln>
                  <a:noFill/>
                </a:ln>
                <a:solidFill>
                  <a:schemeClr val="tx1"/>
                </a:solidFill>
                <a:effectLst/>
                <a:uLnTx/>
                <a:uFillTx/>
                <a:latin typeface="Traditional Arabic" panose="02020603050405020304" pitchFamily="18" charset="-78"/>
                <a:ea typeface="+mn-ea"/>
                <a:cs typeface="Traditional Arabic" panose="02020603050405020304" pitchFamily="18" charset="-78"/>
              </a:rPr>
              <a:t>والأضحى</a:t>
            </a:r>
            <a:r>
              <a:rPr lang="ar-SA" sz="2400" dirty="0">
                <a:solidFill>
                  <a:schemeClr val="tx1"/>
                </a:solidFill>
                <a:latin typeface="Traditional Arabic" panose="02020603050405020304" pitchFamily="18" charset="-78"/>
                <a:cs typeface="Traditional Arabic" panose="02020603050405020304" pitchFamily="18" charset="-78"/>
              </a:rPr>
              <a:t>. </a:t>
            </a:r>
            <a:r>
              <a:rPr lang="ar-SA" sz="2400" dirty="0">
                <a:solidFill>
                  <a:srgbClr val="FF0000"/>
                </a:solidFill>
                <a:latin typeface="Traditional Arabic" panose="02020603050405020304" pitchFamily="18" charset="-78"/>
                <a:cs typeface="Traditional Arabic" panose="02020603050405020304" pitchFamily="18" charset="-78"/>
              </a:rPr>
              <a:t>2</a:t>
            </a:r>
            <a:r>
              <a:rPr lang="ar-SA" sz="2400" dirty="0">
                <a:solidFill>
                  <a:schemeClr val="tx1"/>
                </a:solidFill>
                <a:latin typeface="Traditional Arabic" panose="02020603050405020304" pitchFamily="18" charset="-78"/>
                <a:cs typeface="Traditional Arabic" panose="02020603050405020304" pitchFamily="18" charset="-78"/>
              </a:rPr>
              <a:t>- صوم أيام التشريق الثلاثة. </a:t>
            </a:r>
            <a:r>
              <a:rPr lang="ar-SA" sz="2400" dirty="0">
                <a:solidFill>
                  <a:srgbClr val="FF0000"/>
                </a:solidFill>
                <a:latin typeface="Traditional Arabic" panose="02020603050405020304" pitchFamily="18" charset="-78"/>
                <a:cs typeface="Traditional Arabic" panose="02020603050405020304" pitchFamily="18" charset="-78"/>
              </a:rPr>
              <a:t>3</a:t>
            </a:r>
            <a:r>
              <a:rPr lang="ar-SA" sz="2400" dirty="0">
                <a:solidFill>
                  <a:schemeClr val="tx1"/>
                </a:solidFill>
                <a:latin typeface="Traditional Arabic" panose="02020603050405020304" pitchFamily="18" charset="-78"/>
                <a:cs typeface="Traditional Arabic" panose="02020603050405020304" pitchFamily="18" charset="-78"/>
              </a:rPr>
              <a:t>-صوم يوم الشك. </a:t>
            </a:r>
            <a:r>
              <a:rPr lang="ar-SA" sz="2400" dirty="0">
                <a:solidFill>
                  <a:srgbClr val="FF0000"/>
                </a:solidFill>
                <a:latin typeface="Traditional Arabic" panose="02020603050405020304" pitchFamily="18" charset="-78"/>
                <a:cs typeface="Traditional Arabic" panose="02020603050405020304" pitchFamily="18" charset="-78"/>
              </a:rPr>
              <a:t>4</a:t>
            </a:r>
            <a:r>
              <a:rPr lang="ar-SA" sz="2400" dirty="0">
                <a:solidFill>
                  <a:schemeClr val="tx1"/>
                </a:solidFill>
                <a:latin typeface="Traditional Arabic" panose="02020603050405020304" pitchFamily="18" charset="-78"/>
                <a:cs typeface="Traditional Arabic" panose="02020603050405020304" pitchFamily="18" charset="-78"/>
              </a:rPr>
              <a:t>- صوم النصف الثاني من شعبان.</a:t>
            </a:r>
            <a:endPar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36319486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52C86-9812-2659-0DE4-BE2D492A4833}"/>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F3DDE282-629F-E0CC-F96F-F3282D75F3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B352E82A-760A-A3F5-8362-24BCB3944815}"/>
              </a:ext>
            </a:extLst>
          </p:cNvPr>
          <p:cNvSpPr/>
          <p:nvPr/>
        </p:nvSpPr>
        <p:spPr>
          <a:xfrm>
            <a:off x="263781" y="1"/>
            <a:ext cx="11664437" cy="6343048"/>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الاعتكاف</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لغة: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الإقامة على شيء والملازمة له.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شرعاً: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اللبث في المسجد بنية مخصوصة.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الاعتكاف: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سنة في كل وقت، وهو في شهر رمضان أشد استجاباً، وفي العشر الأخير منه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آكد</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صحة الاعتكاف: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1-</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النية: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بأن ينوي اللبث في المسجد للتعبد</a:t>
            </a:r>
            <a:r>
              <a:rPr lang="ar-SA" sz="2400" dirty="0">
                <a:solidFill>
                  <a:prstClr val="black"/>
                </a:solidFill>
                <a:latin typeface="Traditional Arabic" panose="02020603050405020304" pitchFamily="18" charset="-78"/>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اللبث في المسجد: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وينبغي أن يستمر اللبث إلى مدة تسمى في العرف اعتكافاً.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آداب الاعتكاف: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١</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-يستحب للمعتكف الاشتغال بطاعة الله عز وجل.</a:t>
            </a:r>
            <a:endParaRPr lang="ar-SA" sz="2400" dirty="0">
              <a:solidFill>
                <a:prstClr val="black"/>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lang="ar-SA" sz="2400" dirty="0">
                <a:solidFill>
                  <a:prstClr val="black"/>
                </a:solidFill>
                <a:latin typeface="Traditional Arabic" panose="02020603050405020304" pitchFamily="18" charset="-78"/>
                <a:cs typeface="Traditional Arabic" panose="02020603050405020304" pitchFamily="18" charset="-78"/>
              </a:rPr>
              <a:t>-الصيام: فإن الاعتكاف مع الصيام أفضل.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3</a:t>
            </a:r>
            <a:r>
              <a:rPr lang="ar-SA" sz="2400" dirty="0">
                <a:solidFill>
                  <a:prstClr val="black"/>
                </a:solidFill>
                <a:latin typeface="Traditional Arabic" panose="02020603050405020304" pitchFamily="18" charset="-78"/>
                <a:cs typeface="Traditional Arabic" panose="02020603050405020304" pitchFamily="18" charset="-78"/>
              </a:rPr>
              <a:t>-أن يكون الاعتكاف في المسجد الجامع، وهو الذي تقام فيه الجمعة. </a:t>
            </a:r>
            <a:r>
              <a:rPr lang="ar-SA" sz="2400" dirty="0">
                <a:solidFill>
                  <a:srgbClr val="FF0000"/>
                </a:solidFill>
                <a:latin typeface="Traditional Arabic" panose="02020603050405020304" pitchFamily="18" charset="-78"/>
                <a:cs typeface="Traditional Arabic" panose="02020603050405020304" pitchFamily="18" charset="-78"/>
              </a:rPr>
              <a:t>٤</a:t>
            </a:r>
            <a:r>
              <a:rPr lang="ar-SA" sz="2400" dirty="0">
                <a:solidFill>
                  <a:prstClr val="black"/>
                </a:solidFill>
                <a:latin typeface="Traditional Arabic" panose="02020603050405020304" pitchFamily="18" charset="-78"/>
                <a:cs typeface="Traditional Arabic" panose="02020603050405020304" pitchFamily="18" charset="-78"/>
              </a:rPr>
              <a:t>-ألا يتكلم إلا بخير.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مكروهات الاعتكاف:</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1-</a:t>
            </a:r>
            <a:r>
              <a:rPr lang="ar-SA" sz="2400" dirty="0">
                <a:solidFill>
                  <a:prstClr val="black"/>
                </a:solidFill>
                <a:latin typeface="Traditional Arabic" panose="02020603050405020304" pitchFamily="18" charset="-78"/>
                <a:cs typeface="Traditional Arabic" panose="02020603050405020304" pitchFamily="18" charset="-78"/>
              </a:rPr>
              <a:t>الحجامة والفصد إذا أمن من تلويث المسجد، أما إذا خشي تلويثه حرم عليه.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2</a:t>
            </a:r>
            <a:r>
              <a:rPr lang="ar-SA" sz="2400" dirty="0">
                <a:solidFill>
                  <a:prstClr val="black"/>
                </a:solidFill>
                <a:latin typeface="Traditional Arabic" panose="02020603050405020304" pitchFamily="18" charset="-78"/>
                <a:cs typeface="Traditional Arabic" panose="02020603050405020304" pitchFamily="18" charset="-78"/>
              </a:rPr>
              <a:t>-الإكثار من تعاطي صنعة من الصنائع، كنسج صوف، والخياطة والبيع والشراء.</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مفسدات الاعتكاف:</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 </a:t>
            </a:r>
            <a:r>
              <a:rPr lang="ar-SA" sz="2400" dirty="0">
                <a:solidFill>
                  <a:srgbClr val="FF0000"/>
                </a:solidFill>
                <a:latin typeface="Traditional Arabic" panose="02020603050405020304" pitchFamily="18" charset="-78"/>
                <a:cs typeface="Traditional Arabic" panose="02020603050405020304" pitchFamily="18" charset="-78"/>
              </a:rPr>
              <a:t>1</a:t>
            </a:r>
            <a:r>
              <a:rPr lang="ar-SA" sz="2400" dirty="0">
                <a:solidFill>
                  <a:prstClr val="black"/>
                </a:solidFill>
                <a:latin typeface="Traditional Arabic" panose="02020603050405020304" pitchFamily="18" charset="-78"/>
                <a:cs typeface="Traditional Arabic" panose="02020603050405020304" pitchFamily="18" charset="-78"/>
              </a:rPr>
              <a:t>- الجماع عمداً، ولو من غير إنزال. </a:t>
            </a:r>
            <a:r>
              <a:rPr lang="ar-SA" sz="2400" dirty="0">
                <a:solidFill>
                  <a:srgbClr val="FF0000"/>
                </a:solidFill>
                <a:latin typeface="Traditional Arabic" panose="02020603050405020304" pitchFamily="18" charset="-78"/>
                <a:cs typeface="Traditional Arabic" panose="02020603050405020304" pitchFamily="18" charset="-78"/>
              </a:rPr>
              <a:t>2</a:t>
            </a:r>
            <a:r>
              <a:rPr lang="ar-SA" sz="2400" dirty="0">
                <a:solidFill>
                  <a:prstClr val="black"/>
                </a:solidFill>
                <a:latin typeface="Traditional Arabic" panose="02020603050405020304" pitchFamily="18" charset="-78"/>
                <a:cs typeface="Traditional Arabic" panose="02020603050405020304" pitchFamily="18" charset="-78"/>
              </a:rPr>
              <a:t>-الخروج عمداً من المسجد لغير حاجة</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3</a:t>
            </a:r>
            <a:r>
              <a:rPr lang="ar-SA" sz="2400" dirty="0">
                <a:solidFill>
                  <a:prstClr val="black"/>
                </a:solidFill>
                <a:latin typeface="Traditional Arabic" panose="02020603050405020304" pitchFamily="18" charset="-78"/>
                <a:cs typeface="Traditional Arabic" panose="02020603050405020304" pitchFamily="18" charset="-78"/>
              </a:rPr>
              <a:t>-الردة، والسكر، والجنون. </a:t>
            </a:r>
            <a:r>
              <a:rPr lang="ar-SA" sz="2400" dirty="0">
                <a:solidFill>
                  <a:srgbClr val="FF0000"/>
                </a:solidFill>
                <a:latin typeface="Traditional Arabic" panose="02020603050405020304" pitchFamily="18" charset="-78"/>
                <a:cs typeface="Traditional Arabic" panose="02020603050405020304" pitchFamily="18" charset="-78"/>
              </a:rPr>
              <a:t>٤</a:t>
            </a:r>
            <a:r>
              <a:rPr lang="ar-SA" sz="2400" dirty="0">
                <a:solidFill>
                  <a:prstClr val="black"/>
                </a:solidFill>
                <a:latin typeface="Traditional Arabic" panose="02020603050405020304" pitchFamily="18" charset="-78"/>
                <a:cs typeface="Traditional Arabic" panose="02020603050405020304" pitchFamily="18" charset="-78"/>
              </a:rPr>
              <a:t>- الحيض والنفاس.</a:t>
            </a: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19133053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E7983-E383-3509-6A05-1E3FAE0165CF}"/>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9BD6DCA9-377E-6318-33C1-BB0F46DC2A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69AA573C-E5B4-35C5-421F-7BFC9A705489}"/>
              </a:ext>
            </a:extLst>
          </p:cNvPr>
          <p:cNvSpPr/>
          <p:nvPr/>
        </p:nvSpPr>
        <p:spPr>
          <a:xfrm>
            <a:off x="356825" y="143301"/>
            <a:ext cx="11835175" cy="6571397"/>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الأيمان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لغة: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القوة.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اصطلاحاً: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فهي توثيق كلام غير ثابت المضمون بذكر أحد أسماء الله عز وجل، أو ذكر صفة من صفاته، بصياغة مخصوصة.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اليمين شرعاً: مكروه،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وَلَا تَجْعَلُوا اللَّهَ عُرْضَةً لِأَيْمَنِكُمْ</a:t>
            </a:r>
            <a:r>
              <a:rPr lang="ar-SA" sz="2400" dirty="0">
                <a:solidFill>
                  <a:prstClr val="black"/>
                </a:solidFill>
                <a:latin typeface="Traditional Arabic" panose="02020603050405020304" pitchFamily="18" charset="-78"/>
                <a:cs typeface="Traditional Arabic" panose="02020603050405020304" pitchFamily="18" charset="-78"/>
              </a:rPr>
              <a:t>.   لكن قد تعتريه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أحكاماً حسب الدوافع والنتائج، فتكون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-حراماً: وذلك إذا كانت على فعل حرام، أو ترك واجب، أو على شيء كاذب، لا أصل له.</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-واجباً: وذلك إذا كانت اليمين هي السبيل التي لا يوجد غيرها لإنصاف مظلوم، أو بيان حق.</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-مباحاً: وذلك إذا كانت على فعل طاعة، أو تجنب معصية، أو إرشاد إلى حق، أو تحذير من باطل.</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4</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-مندوباً: وذلك إذا كانت اليمين وسيلة للتأثير على السامعين، وسببا في تصديقهم الموعظة، أو نصيحة.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انعقاد اليمين</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r>
              <a:rPr lang="ar-SA" sz="2400" dirty="0">
                <a:solidFill>
                  <a:prstClr val="black"/>
                </a:solidFill>
                <a:latin typeface="Traditional Arabic" panose="02020603050405020304" pitchFamily="18" charset="-78"/>
                <a:cs typeface="Traditional Arabic" panose="02020603050405020304" pitchFamily="18" charset="-78"/>
              </a:rPr>
              <a:t>  </a:t>
            </a:r>
            <a:r>
              <a:rPr lang="ar-SA" sz="2400" dirty="0">
                <a:solidFill>
                  <a:srgbClr val="FF0000"/>
                </a:solidFill>
                <a:latin typeface="Traditional Arabic" panose="02020603050405020304" pitchFamily="18" charset="-78"/>
                <a:cs typeface="Traditional Arabic" panose="02020603050405020304" pitchFamily="18" charset="-78"/>
              </a:rPr>
              <a:t>يشترط لانعقاد اليمين تحقق الأمور التالية: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يكون الحالف بالغاً عاقلا.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ألا يكون اليمين لغواً: كقولهم: بلى والله، ولا والله.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يكون القسم بذات الله أو صفة من صفاته.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البر باليمين والحنث بها: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 البر باليمين: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البر باليمين هو أن يحقق ما التزمه بيمينه، إن كان وعداً. وأن يكون صادقاً فيها إن كان إخباراً عن شيء ثابت.</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2-الحنث فيه: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لا يحقق ما قد التزمه، إن كان وعداً والتزاماً. أو يكون كاذبا فيه إن كان إخباراً.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البر باليمين: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يرفع عهدة المسئولية عن صاحبها.</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حكم الحنث فيها</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ويكون في حالتين: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الحنث باليمين عبارة عن عدم تحقيق المقسم لما التزمه بيمينه؛ كأن أقسم بالله تعالى ليتصدقن على فقير في يوم كذا، فلم يتصدق في اليوم المحدود. وحكم هذا الحنث هو وجوب تكفير </a:t>
            </a:r>
            <a:r>
              <a:rPr kumimoji="0" lang="ar-SA" sz="2400" b="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الحانث</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عن يمينه.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2-</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الحنث باليمين عبارة عن الكذب في إخباره، الذي أبى إلا أن يوثقه باليمين، كأن يقول: والله إن هذا المتاع ملكي، وهو يعلم أنه ليس ملكه، ويسمى مثل هذا اليمين يميناً غموساً.</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وحكمه استحقاق صاحبه العقاب الكبير من الله عز وجل مع وجوب الكفارة، لأنه من اليمين المنعقدة.</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lvl="0" algn="ju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19946333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CCBF8-E57E-E1D1-BA3D-63D527780BA4}"/>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0D35A638-DD07-F2D8-B904-97CE48A1B4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876"/>
            <a:ext cx="12192000" cy="6858000"/>
          </a:xfrm>
          <a:prstGeom prst="rect">
            <a:avLst/>
          </a:prstGeom>
        </p:spPr>
      </p:pic>
      <p:sp>
        <p:nvSpPr>
          <p:cNvPr id="4" name="مستطيل: زوايا مستديرة 3">
            <a:extLst>
              <a:ext uri="{FF2B5EF4-FFF2-40B4-BE49-F238E27FC236}">
                <a16:creationId xmlns:a16="http://schemas.microsoft.com/office/drawing/2014/main" id="{F1031149-94E2-EA5B-6238-12E76D6957BA}"/>
              </a:ext>
            </a:extLst>
          </p:cNvPr>
          <p:cNvSpPr/>
          <p:nvPr/>
        </p:nvSpPr>
        <p:spPr>
          <a:xfrm>
            <a:off x="77002" y="28877"/>
            <a:ext cx="12114998" cy="6800248"/>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كفارة اليمين: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ومن حنث في يمين غموس أو غير غموس، وجبت عليه كفارة، وهو</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مخير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فيها: أولا بين ثلاثة أشياء:</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1</a:t>
            </a:r>
            <a:r>
              <a:rPr lang="ar-SA" sz="2400" dirty="0">
                <a:solidFill>
                  <a:prstClr val="black"/>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عتق رقبة مؤمنة، والمراد بالرقبة عبد أو أمة.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-إطعام عشرة مساكين.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-كسوة عشرة مساكين.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فإن عجز عن تحقيق شيء من هذه الأمور الثلاثة بأن كان معسراً، وجب عليه صيام ثلاثة أيام، ولا يشترط فيها التتابع، بل يجوز له تفريقها.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النذور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لغة: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الوعد بخير أو شر.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واصطلاحاً:</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التزام قربة غير واجبة في الشرع، مطلقاً، أو معلقاً على شيء.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النذر: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مشروع</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وهو من نوع القربات، إلا أن الأفضل أن يباشر الإنسان القربة التي يريدها بدون أن يلزم نفسه بها، ويجعلها عليه نذراً. فالصدقة التي يتقرب بها الإنسان إلى الله تعالى اختياراً، أفضل من الصدقة التي يلتزمها نذراً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أنواع النذر</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1-نذر اللجاج: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وهو ما يقع حال الخصومة، بسائق من الغضب، كأن يقول أثناء خصومته: إن كلمت فلاناً، فلله على صيام شهر.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حكمه: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المعلق عليه إذا وقع وجب على الناذر إنجاز ما التزمه، أو إخراج كفارة يمين يختار واحداً منهما، لأن هذا النوع يشبه النذر من جانب كونه التزاماً، ويشبه اليمين من جانب كونه وسيلة امتناع عن أمر.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2-نذر المجازاة أي المكافأة</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وهو أن يعلق التزامه بقربة ما على حصول غرض للناذر، دون أن يكون مدفوعاً إلى ذلك بخصومة، أو لجاج، وذلك كأن يقول: إن شفي الله مريضي، فلله علي أن أتصدق بشاة.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حكمه: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المعلق عليه إذا وقع؛ كأن شفى الله مريضه، أو قدم غائبه، وجب على النادر إنجاز ما قد التزمه،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لا يغنيه عن ذلك شيء.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ودليل ذلك قول الله عز وجل: وأوفوا بعهد الله إذا عاهدتم.</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3-النذر المطلق: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وهو أن يلتزم قربة ما الله تعالى دون تعليق حصول على غرض له، ودون دافع خصومة، أو غضب، كأن يقول: لله على صيام يوم الخميس.</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حكمه:</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يجب على الناذر تحقيق ما التزمه مطلقاً، أي دون أي تعليق على شيء. وليس له أن يستبدل به كفارة يمين، لأن معنى اليمين مفقودة في هذا النوع من النذور.</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3045822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319EB-B038-11DD-F3E2-803C7892BDB4}"/>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E7C1D312-A0FB-6FD4-B015-7B0B8266F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3E947EEC-9C11-55B7-3AA2-F49BF9393332}"/>
              </a:ext>
            </a:extLst>
          </p:cNvPr>
          <p:cNvSpPr/>
          <p:nvPr/>
        </p:nvSpPr>
        <p:spPr>
          <a:xfrm>
            <a:off x="0" y="0"/>
            <a:ext cx="12192000" cy="6857999"/>
          </a:xfrm>
          <a:prstGeom prst="roundRect">
            <a:avLst>
              <a:gd name="adj" fmla="val 10226"/>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النذر: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أولا: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من حيث الناذر</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-الإسلام.٢- التكليف 3- الاختيار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ثانياً: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من حيث المنذور: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يكون المنذور قربة فلا نذر في المباحات. </a:t>
            </a:r>
            <a:r>
              <a:rPr lang="ar-SA" sz="2400" dirty="0">
                <a:solidFill>
                  <a:prstClr val="black"/>
                </a:solidFill>
                <a:latin typeface="Traditional Arabic" panose="02020603050405020304" pitchFamily="18" charset="-78"/>
                <a:cs typeface="Traditional Arabic" panose="02020603050405020304" pitchFamily="18" charset="-78"/>
              </a:rPr>
              <a:t>2-ألا يكون المنذور من الواجبات العينية </a:t>
            </a:r>
            <a:r>
              <a:rPr lang="ar-SA" sz="2400" dirty="0" err="1">
                <a:solidFill>
                  <a:prstClr val="black"/>
                </a:solidFill>
                <a:latin typeface="Traditional Arabic" panose="02020603050405020304" pitchFamily="18" charset="-78"/>
                <a:cs typeface="Traditional Arabic" panose="02020603050405020304" pitchFamily="18" charset="-78"/>
              </a:rPr>
              <a:t>ابتداءاً</a:t>
            </a:r>
            <a:r>
              <a:rPr lang="ar-SA" sz="2400" dirty="0">
                <a:solidFill>
                  <a:prstClr val="black"/>
                </a:solidFill>
                <a:latin typeface="Traditional Arabic" panose="02020603050405020304" pitchFamily="18" charset="-78"/>
                <a:cs typeface="Traditional Arabic" panose="02020603050405020304" pitchFamily="18" charset="-78"/>
              </a:rPr>
              <a:t>: فلو نذر أن يصلي صلاة الظهر، كان ذلك النذر باطلا، إذ ليس له من أثر جديد على المنذور، لكونه واجباً في حق الناذر </a:t>
            </a:r>
            <a:r>
              <a:rPr lang="ar-SA" sz="2400" dirty="0" err="1">
                <a:solidFill>
                  <a:prstClr val="black"/>
                </a:solidFill>
                <a:latin typeface="Traditional Arabic" panose="02020603050405020304" pitchFamily="18" charset="-78"/>
                <a:cs typeface="Traditional Arabic" panose="02020603050405020304" pitchFamily="18" charset="-78"/>
              </a:rPr>
              <a:t>إبتداءاً</a:t>
            </a:r>
            <a:r>
              <a:rPr lang="ar-SA" sz="2400" dirty="0">
                <a:solidFill>
                  <a:prstClr val="black"/>
                </a:solidFill>
                <a:latin typeface="Traditional Arabic" panose="02020603050405020304" pitchFamily="18" charset="-78"/>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الآثار المترتبة على النذر الصحيح:</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 </a:t>
            </a:r>
            <a:r>
              <a:rPr lang="ar-SA" sz="2400" dirty="0">
                <a:solidFill>
                  <a:prstClr val="black"/>
                </a:solidFill>
                <a:latin typeface="Traditional Arabic" panose="02020603050405020304" pitchFamily="18" charset="-78"/>
                <a:cs typeface="Traditional Arabic" panose="02020603050405020304" pitchFamily="18" charset="-78"/>
              </a:rPr>
              <a:t>إذا صح النذر بأن توفرت فيه الشرائط وجب على الناذر تحقيق ما التزم به عند حصول الشيء المعلق به في النذر المعلق، ومطلقاً في النذر الناجز، أي المطلق. و</a:t>
            </a:r>
            <a:r>
              <a:rPr lang="ar-SA" sz="2400" dirty="0">
                <a:solidFill>
                  <a:srgbClr val="FF0000"/>
                </a:solidFill>
                <a:latin typeface="Traditional Arabic" panose="02020603050405020304" pitchFamily="18" charset="-78"/>
                <a:cs typeface="Traditional Arabic" panose="02020603050405020304" pitchFamily="18" charset="-78"/>
              </a:rPr>
              <a:t>النذر المطلق لا يتحدد بوقت</a:t>
            </a:r>
            <a:r>
              <a:rPr lang="ar-SA" sz="2400" dirty="0">
                <a:solidFill>
                  <a:prstClr val="black"/>
                </a:solidFill>
                <a:latin typeface="Traditional Arabic" panose="02020603050405020304" pitchFamily="18" charset="-78"/>
                <a:cs typeface="Traditional Arabic" panose="02020603050405020304" pitchFamily="18" charset="-78"/>
              </a:rPr>
              <a:t>: إذا كان النذر مطلقاً عن تحديد الزمان، فإن وجوبه يكون من نوع الواجب الموسع، أي فلناذر أن يتأخر في الوفاء بنذره ما دامت الفرصة سانحة له، ولم يغلب على ظنه أن التراخي سيحول دون قدرته على الوفاء بالنذر. إلا أنه يسن تعجيل الوفاء بالنذر، وذلك مسارعة إلى براءة ذمته من النذر. أما إذا كان النذر مقيداً بزمن مخصوص، وجب التقيد بذلك الزمن، فإن أخر الوفاء به عن ذلك الزمن بدون عذر أثم، ووجب عليه القضاء، وإن أخر لعذر، لم يأثم، ووجب عليه القضاء أيضاً في أي فرصة ممكنة.</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الصيد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الصيد: في الأصل مصدر صاد يصيد أي قنصه، وأخذه خلسة، وبحيلة، سواء أكان مأكولا، أم غير مأكول.</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اصطلاحاً: خاص بما كان مأكولا.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مشروعية الصيد:</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مشروع وجائز. وإِذَا حَلَلْتُمْ </a:t>
            </a:r>
            <a:r>
              <a:rPr kumimoji="0" lang="ar-SA" sz="2400" b="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فَأَصْطَادُوا</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فالآية صرحت بإباحة الصيد بعد التحلل من الإحرام.</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يحل من الصيد وما لا يحل: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الأصل حل الصيد بأنواعه، مهما كان نوع الحيوانات </a:t>
            </a:r>
            <a:r>
              <a:rPr kumimoji="0" lang="ar-SA" sz="2400" b="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المصادة</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إلا أنه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يستثنى من عموم ذلك ما يلي:</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1-صيد الحيوانات التي لا يحل أكلها، ولا يجوز قتلها، مما لا يعد ضاراً، </a:t>
            </a:r>
            <a:r>
              <a:rPr kumimoji="0" lang="ar-SA" sz="2400" b="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ولامؤذياً</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2-كل صيد يبتغي منه مجرد العبث،، سواء كان الحيوان مما يحل أكله، أو مما يحرم.</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3-صيد الحيوانات البرية المأكولة بالنسبة للمحرم.</a:t>
            </a:r>
          </a:p>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dirty="0">
              <a:solidFill>
                <a:prstClr val="black"/>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15394458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E5110-C759-D0EE-9038-DCD8CEE9D090}"/>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DCBF670E-9774-9D9A-E46D-7384683047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E7AC032B-0407-A669-B933-FE3AD73CEEFD}"/>
              </a:ext>
            </a:extLst>
          </p:cNvPr>
          <p:cNvSpPr/>
          <p:nvPr/>
        </p:nvSpPr>
        <p:spPr>
          <a:xfrm>
            <a:off x="96254" y="-1"/>
            <a:ext cx="12095746" cy="6857999"/>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الوسيلة المشروعة في الاصطياد: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ويقصد بها ما يترتب على اصطياد الحيوان جواز أكله، وبالوسيلة غير المشروعة ما لا يترتب على الاصطياد بها جواز ذلك. ووسيلة الاصطياد المشروعة تكون بواحدة من السببين التاليين: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الأول: كل ما يجرح من محدد: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سواء كان حديداً، أو رصاصاً، أو قصباً، أو زجاجاً، أو غير ذلك مما يجرح الحيوان. فلو كان ما يصاد به شيئاً لا حد له، وإنما يقتل بضغطه، أو </a:t>
            </a:r>
            <a:r>
              <a:rPr lang="ar-SA" sz="2400" dirty="0">
                <a:solidFill>
                  <a:prstClr val="black"/>
                </a:solidFill>
                <a:latin typeface="Traditional Arabic" panose="02020603050405020304" pitchFamily="18" charset="-78"/>
                <a:cs typeface="Traditional Arabic" panose="02020603050405020304" pitchFamily="18" charset="-78"/>
              </a:rPr>
              <a:t>ب</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ثقلة: كحجر لا حد فيه، أو كان شيئاً يقتل بالحرق، ومات الحيوان بسببه لم يجز أكله.</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الثاني: إرسال جارحة من سباع البهائم أو جوارح الطير: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ومثال سباع البهائم: الكلب والفهد، والنمر، ونحوها. ومثال جوارح الطير: الصقر، والباز، والشاهين، ونحوها. وإنما تعتبر الاستعانة بسباع البهائم، وجوارح الطير وسيلة مشروعة للاصطياد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إذا تحققت فيها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الشروط الأربعة التالية</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1-أن تندفع إلى الحيوان الذي يراد صيده إذا أرسلت إليه، بحيث تتجه إليه، ولا تقصد شيئاً غيره.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2-تنزجر إذا زجرت.</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3-أن </a:t>
            </a:r>
            <a:r>
              <a:rPr kumimoji="0" lang="ar-SA" sz="2400" b="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لاتأكل</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شيئاً من الصيد إذا قتلته قبل أن تصل به إلى صاحبها الذي أرسلها.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4-أن يتكرر ذلك منها : أي هذه الشروط الثلاثة مرتين فأكثر، بحيث يغلب على الظن تعودها، وتعلمها ذلك.</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متى ينزل الصيد وحده منزلة التذكية ومتى لا ينزل؟</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إذا كانت وسيلة الصيد مشروعة: فإما أن يستطيع الصائد إدراك ما اصطاده، وفيه حياة مستقرة، أو لا.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الحالة الأولى: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حياة مستقرة، فإن الصيد لا ينزل منزلة التذكية، بل لابد من تذكيته بذبح شرعي، فإن أهمل الصائد ذلك، وترك الصيد فلم يذبحه حتى مات، كان نجساً ولم يجز أكله.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الحالة الثانية: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وهي ما إذا لم يتمكن الصائد من إدراك الصيد حياً، وذلك بأن أسرع محاولا اللحاق به، فمات قبل أن يصل إليه، فإن موته بمجرد الصيد في هذه الحالة ينزل منزلة تذكيته، ويجوز أكله، وتسمى تذكية الضرورة.</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4576663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A2D29-01CB-9BE5-7E6E-73657020CDEF}"/>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AA4B4594-1C6E-2CAC-B7C0-A49E1C25C4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8390036A-AC72-9E01-DD4A-AD7CA0327F9A}"/>
              </a:ext>
            </a:extLst>
          </p:cNvPr>
          <p:cNvSpPr/>
          <p:nvPr/>
        </p:nvSpPr>
        <p:spPr>
          <a:xfrm>
            <a:off x="407008" y="-154983"/>
            <a:ext cx="12118206" cy="6766560"/>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الذبائح</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الذبائح: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جمع ذبيحة، بمعنى: مذبوحة.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والمقصود به: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الحيوان الذي تمت تذكيته على وجه شرعي، وكان مما يجوز أكله.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صحة الذبح:  </a:t>
            </a:r>
            <a:r>
              <a:rPr lang="ar-SA" sz="2400" b="1" dirty="0">
                <a:solidFill>
                  <a:srgbClr val="FF0000"/>
                </a:solidFill>
                <a:latin typeface="Traditional Arabic" panose="02020603050405020304" pitchFamily="18" charset="-78"/>
                <a:cs typeface="Traditional Arabic" panose="02020603050405020304" pitchFamily="18" charset="-78"/>
              </a:rPr>
              <a:t>أ</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-شروط تتعلق بالذابح.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-شروط تتعلق بالمذبوح.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ج</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-شروط تتعلق بآلة الذبح.</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الشروط المتعلقة بالذابح: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1-أن يكون الذابح مسلماً أو كتابياً والكتابي يقصد به اليهودي والنصراني.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2-أن لايكون الكتابي ممن أصبح هو، أو واحد من آبائه، كتابيا بعد التحريف أو النسخ.</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3-أن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لايذبح</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لغير الله عز وجل، أو على غير اسمه. فلو ذبح لصنم، أو مسلم، أو نبي، لم تحل الذبيحة.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الشروط المتعلقة بالمذبوح:</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1-أن يدرك الذابح الحيوان قبل الذبح، وفيه حياة مستقرة، والمقصود بالحياة المستقرة، ألا ينتهي الحيوان بسبب مرض أو جرح،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أونحوهما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إلى سياق الموت، بحيث تصبح حركته اضطرابا كاضطراب المذبوح.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2-قطع كل من الحلقوم، والمريء. فلو بقي شيء من أحدهما، ولو يسيراً لم تحل الذبيحة.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3-الإسراع بالقطع، وبدفعة واحدة، بحيث لو تأنى، فبلغ الحيوان حركة المذبوح قبل قطع جميع الحلقوم والمريء بطلت التذكية، ولم تحل الذبيحة. وتعرف الحياة المستقرة في الذبيحة بشدة الحركة بعد الذبح.</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الشروط المتعلقة بآلة الذبح: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1-أن تكون الآلة مما يجرح بحده من حديد ونحاس ورصاص، وقصب وزجاج، وحجر، وغير ذلك.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2-ألا تكون آلة الذبح سناً، ولا ظفراً. فلا تحل الذبيحة التي ذبحت بأحدهما، ولو كان جارحاً، بما له من حد، واستنزف الدم كله.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ملحوظة: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يحرم أكل الميتة. وهي ما أزهقت روحه بغير ذكاة شرعية، كما يحرم أكل الدم المسفوح من أي حيوان كان.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يستثنى من الميتة والدم: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لقد استثني من ميتة الحيوان السمك والجراد، واستني من الدم الكبد والطحال. </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36198749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51E21-CA4B-FCBD-10FD-4D62326F00E8}"/>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48707682-CEAA-CFAD-B4A2-B8EB688061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C4E999CA-5A1C-CF51-5C54-E31B005E5865}"/>
              </a:ext>
            </a:extLst>
          </p:cNvPr>
          <p:cNvSpPr/>
          <p:nvPr/>
        </p:nvSpPr>
        <p:spPr>
          <a:xfrm>
            <a:off x="133149" y="64970"/>
            <a:ext cx="11925701" cy="6728059"/>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العقيقة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لغة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مشتقة من العق، وهو القطع. والعقيقة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شرعاً: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ما يذبح للمولود عند حلق شعره.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العقيقة: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سنة مؤكدة.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وقت العقيقة: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يدخل وقت جواز ذبح العقيقة بانفصال جميع المولود من بطن أمه، لكن يسن أن يعق عن المولود في اليوم السابع من ولادته.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يذبح عن الغلام والجارية: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تتحقق السنة بأن يذبح الولي شاة عن الغلام، وشاة عن الجارية، ولكن الأفضل أن يذبح الولي عن الصبي شاتين وعن البنت شاة.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العقيقة: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ويشترط في العقيقة حتى تكون مجزئة، ما يشترط في الأضحية من حيث الجنس والسن، والسلامة من العيوب التي تسبب نقصاً في اللحم، وذلك لأن العقيقة ذبيحة مندوب إليها، فأشبهت الأضحية.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تسمية المولود وحلق شعره: </a:t>
            </a:r>
            <a:r>
              <a:rPr kumimoji="0" lang="ar-SA" sz="2400" i="0" u="none" strike="noStrike" kern="1200" cap="none" spc="0" normalizeH="0" baseline="0" noProof="0" dirty="0" err="1">
                <a:ln>
                  <a:noFill/>
                </a:ln>
                <a:solidFill>
                  <a:schemeClr val="tx1"/>
                </a:solidFill>
                <a:effectLst/>
                <a:uLnTx/>
                <a:uFillTx/>
                <a:latin typeface="Traditional Arabic" panose="02020603050405020304" pitchFamily="18" charset="-78"/>
                <a:ea typeface="+mn-ea"/>
                <a:cs typeface="Traditional Arabic" panose="02020603050405020304" pitchFamily="18" charset="-78"/>
              </a:rPr>
              <a:t>یسن</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تسمية المولود في اليوم السابع من ولادته، ويسن أن يختار له من الأسماء ما كان حسناً. كما يسن حلق رأس المولود ذكراً كان أو أنثى، يوم سابعه بعد ذبح العقيقة، ويتصدق بزنة شعره ذهباً أو فضة.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التأذين في أذن المولود: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ويسن أن يؤذن أذان الصلاة في أذن المولود اليمنى، حين يولد، وتقام الصلاة في أذنه اليسرى.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تحنيك المولود: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ويستحب أن يحنك المولود بتمر، سواء كان ذكراً، أم أنثى. والتحنيك: أن يمضغ التمر، ويدلك به حنك المولود، حتى ينزل إلى جوفه شيء منه، فإن لم يكن هناك تمر، حنك بشيء حلو.</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ختان الطفل: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قطع الجلدة التي تغطي الحشفة.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الختان: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الختان </a:t>
            </a:r>
            <a:r>
              <a:rPr kumimoji="0" lang="ar-SA" sz="2400" b="1"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واجب</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عند الشافعية على الذكور والإناث. وقيل على الذكور دون النساء.</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وقت الختان: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الختان واجب، ولكن لا يشترط أن يكون في حال الصغر، بل يجوز في الصغر، والكبر. ويسن لولي الطفل أن يختنه في اليوم السابع من ولادته.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التهنئة بالمولود: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يستحب أن يهنئ الرجال الوالد، والنساء الوالدة بالمولود، يقولون له: بارك الله لك في الموهوب لك، وشكرت الواهب، وبلغ أشده، ورزقت بره. ويستحب للوالد أن يجيبهم بقوله: بارك الله لكم، وبارك عليكم، وأجزل ثوابكم.</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13427597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07856-6BF1-5F79-4DDB-19E9936260D7}"/>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C8D95D6E-DFD0-5CA7-E9C4-6438F8BBB5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237" y="-143302"/>
            <a:ext cx="12307503" cy="6858000"/>
          </a:xfrm>
          <a:prstGeom prst="rect">
            <a:avLst/>
          </a:prstGeom>
        </p:spPr>
      </p:pic>
      <p:sp>
        <p:nvSpPr>
          <p:cNvPr id="4" name="مستطيل: زوايا مستديرة 3">
            <a:extLst>
              <a:ext uri="{FF2B5EF4-FFF2-40B4-BE49-F238E27FC236}">
                <a16:creationId xmlns:a16="http://schemas.microsoft.com/office/drawing/2014/main" id="{7C7FE4D0-2FC2-A798-DF92-65B4831E6C56}"/>
              </a:ext>
            </a:extLst>
          </p:cNvPr>
          <p:cNvSpPr/>
          <p:nvPr/>
        </p:nvSpPr>
        <p:spPr>
          <a:xfrm>
            <a:off x="0" y="-1"/>
            <a:ext cx="12175266" cy="6714699"/>
          </a:xfrm>
          <a:prstGeom prst="roundRect">
            <a:avLst>
              <a:gd name="adj" fmla="val 5473"/>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الأطعمة والأشربة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يحل من الأطعمة وما يحرم:</a:t>
            </a:r>
          </a:p>
          <a:p>
            <a:pPr lvl="0" algn="ju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المبدأ الأول</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كل حيوان استطابته العرب، وفي عصر النبي ﷺ فهو حلال، كطعام البحر وكالإبل والبقر والغنم وغيرها، ويستثنى ما ورد الشرع بتحريمه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كالبغال والحمر الأهلية. وما </a:t>
            </a:r>
            <a:r>
              <a:rPr kumimoji="0" lang="ar-SA" sz="2400" i="0" u="none" strike="noStrike" kern="1200" cap="none" spc="0" normalizeH="0" baseline="0" noProof="0" dirty="0" err="1">
                <a:ln>
                  <a:noFill/>
                </a:ln>
                <a:solidFill>
                  <a:srgbClr val="FF0000"/>
                </a:solidFill>
                <a:effectLst/>
                <a:uLnTx/>
                <a:uFillTx/>
                <a:latin typeface="Traditional Arabic" panose="02020603050405020304" pitchFamily="18" charset="-78"/>
                <a:ea typeface="+mn-ea"/>
                <a:cs typeface="Traditional Arabic" panose="02020603050405020304" pitchFamily="18" charset="-78"/>
              </a:rPr>
              <a:t>استخبثته</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العرب في عصر النبي </a:t>
            </a:r>
            <a:r>
              <a:rPr lang="ar-SA" sz="2400" dirty="0">
                <a:solidFill>
                  <a:prstClr val="black"/>
                </a:solidFill>
                <a:latin typeface="Traditional Arabic" panose="02020603050405020304" pitchFamily="18" charset="-78"/>
                <a:cs typeface="Traditional Arabic" panose="02020603050405020304" pitchFamily="18" charset="-78"/>
              </a:rPr>
              <a:t>ﷺ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كالحشرات ونحوها،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فهو حرام إلا ما ورد الشرع بإباحته خصوصاً كالضب والقنفذ.</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المبدأ الثاني: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يحرم من السباع كل ما له ناب قوي يفترس به كالكلب، والخنزير، والذئب والدب والهرة، والفهد والقرد، وأمثالها مما له ناب قوي يفترس به، فإن كان نابه ضعيفاً، لا يبلغ أن يفترس به، لم يحرم أكله؛ كالضبع والثعلب.</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ويحرم من الطيور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كل ما له مخلب؛ أي ظفر قوي يجرح به كالنسر، والصقر، والباز، والشاهين والعقاب.</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المبدأ الثالث: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يحرم كل حيوان ندب قتله كحية وعقرب وغراب وحدأة، وفأر، وكل ما ثبت ضرره، عن عائشة رضي الله عنها، أن رسول الله ﷺ قال: «خمس من الدواب كلهن فاسق يقتلن في الحرم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الغراب والحدأة، والعقرب والفأرة، والكلب العقور</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حالة الضرورة: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يستثنى من عموم الحكم الذي اقتضته هذه المبادئ الثلاثة حال ضرورة تلبست بإنسان، فيحل له إذا اضطر أن يأكل من الميتة المحرمة ومن الحيوانات التي ثبتت حرمة أكلها، يأكل ما يسد رمقه ويبقي عليه حياته.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فَمَنِ اضْطُرَ في مَخْمَصَةٍ غَيْرَ مُتَجَانِفٍ لِإِثْمِ فَإِنَّ اللَّهَ غَفُورٌ رَحِيمٌ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خاتمة في بعض ما يحل وما يحرم:</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أولاً: ما يحرم: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تحرم الحشرات كلها وهي صغار دواب الأرض، وصغار هوامها كالنمل والذباب، والخنافس والحيات والدود والبق، والقمل والصرصر، والوزغ وهو سام أبرص، وغيرها. وذوات الإبر والسموم كالنحل والزنبور، والعقرب وغيرها.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إلا ما استثنى من ذلك: كالجراد، والقنفذ، والضب،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واليربوع. ويعفى عن دود الخل، والفاكهة إذا أكل معهما.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يحرم من الطيور: الببغاء، والطاووس، والرخمة وهي طائر يشبه النسر في الخلقة. والخفاش.</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كل متنجس لا يمكن تطهيره وهو كل مائع وقعت فيه نجاسة كخل، </a:t>
            </a:r>
            <a:r>
              <a:rPr kumimoji="0" lang="ar-SA" sz="2400" b="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وزیت</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ودبس وغيرها.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4-</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ما يضر البدن كالأحجار والتراب والزجاج، والسم، والأفيون وغيرها.</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p>
        </p:txBody>
      </p:sp>
    </p:spTree>
    <p:extLst>
      <p:ext uri="{BB962C8B-B14F-4D97-AF65-F5344CB8AC3E}">
        <p14:creationId xmlns:p14="http://schemas.microsoft.com/office/powerpoint/2010/main" val="23030105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FA5D-185C-5DCD-6BB5-B8CEC2D4EC99}"/>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B01FF9C9-CFA5-2A51-C448-C5DC4E5A8F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3301"/>
            <a:ext cx="12192000" cy="6858000"/>
          </a:xfrm>
          <a:prstGeom prst="rect">
            <a:avLst/>
          </a:prstGeom>
        </p:spPr>
      </p:pic>
      <p:sp>
        <p:nvSpPr>
          <p:cNvPr id="4" name="مستطيل: زوايا مستديرة 3">
            <a:extLst>
              <a:ext uri="{FF2B5EF4-FFF2-40B4-BE49-F238E27FC236}">
                <a16:creationId xmlns:a16="http://schemas.microsoft.com/office/drawing/2014/main" id="{D20D5CE8-EE36-3638-BFCF-5CDF55A6BC13}"/>
              </a:ext>
            </a:extLst>
          </p:cNvPr>
          <p:cNvSpPr/>
          <p:nvPr/>
        </p:nvSpPr>
        <p:spPr>
          <a:xfrm>
            <a:off x="202131" y="1"/>
            <a:ext cx="11877574" cy="6858000"/>
          </a:xfrm>
          <a:prstGeom prst="roundRect">
            <a:avLst>
              <a:gd name="adj" fmla="val 5029"/>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ثانياً: ما يحل: </a:t>
            </a:r>
            <a:r>
              <a:rPr lang="ar-SA" sz="2400" dirty="0">
                <a:solidFill>
                  <a:srgbClr val="FF0000"/>
                </a:solidFill>
                <a:latin typeface="Traditional Arabic" panose="02020603050405020304" pitchFamily="18" charset="-78"/>
                <a:cs typeface="Traditional Arabic" panose="02020603050405020304" pitchFamily="18" charset="-78"/>
              </a:rPr>
              <a:t>1-</a:t>
            </a:r>
            <a:r>
              <a:rPr lang="ar-SA" sz="2400" dirty="0">
                <a:solidFill>
                  <a:schemeClr val="tx1"/>
                </a:solidFill>
                <a:latin typeface="Traditional Arabic" panose="02020603050405020304" pitchFamily="18" charset="-78"/>
                <a:cs typeface="Traditional Arabic" panose="02020603050405020304" pitchFamily="18" charset="-78"/>
              </a:rPr>
              <a:t>ويحل النعامة، والبط، والإوز، والدجاج، وغراب الزرع، والقطا، والحجل والحمام وهو كل ما عب وهدر، وما على شكل عصفور، وإن اختلف لونه ونوعه: كعندليب، وزرزور، وبلبل، وغيرها</a:t>
            </a:r>
            <a:r>
              <a:rPr lang="ar-SA" sz="2400" dirty="0">
                <a:solidFill>
                  <a:srgbClr val="FF0000"/>
                </a:solidFill>
                <a:latin typeface="Traditional Arabic" panose="02020603050405020304" pitchFamily="18" charset="-78"/>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كل طاهر لا ضرر فيه، ولا هو مما تعافه الأنفس، وتستقذره: كالزهور والثمار، والحبوب والبيض والجبن، وغيرها. أما ما تعافه الأنفس، وتستقذره فحرام كالمخاط، والمني وغيرهما.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ألبان الحيوانات المأكولة اللحم، أما ألبان غير مأكول اللحم فحرام، </a:t>
            </a:r>
            <a:r>
              <a:rPr kumimoji="0" lang="ar-SA" sz="2400" b="1"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إلاّ لبن الإنسان فطاهر، ويحل أكله وشربه.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الأشربة المحرمة والمخدرات: الأصل في الأشربة الحل والإباحة</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لكن يستثنى من عموم ما ذكر ما دل الدليل على حرمته.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يحرم من الأشربة: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ما كان منها ضاراً، كالسم، وغيره، لأن ذلك يفسد الجسم، ويتلفه.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ما كان نجسا كالدم المسفوح، والبول.</a:t>
            </a:r>
            <a:endPar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ما كان مسكراً، سواء كان خمراً، وهو المتخذ من العنب، أو كان غير خمر، وهو المتخذ مما سوى ذلك.</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نجاسة المسكر: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الخمر، وكل مائع مسكر نجس في مذهب الشافعية.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يترتب على شرب المسكر: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قضائي، يتحقق أثره في دار الدنيا. واستحقاق الشارب للحد.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دياني، لا يظهر أثره إلاّ يوم القيامة. وهو الإثم الذي </a:t>
            </a:r>
            <a:r>
              <a:rPr kumimoji="0" lang="ar-SA" sz="2400" b="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يستوجبه</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على ذلك.</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حد شرب المسكر: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حد شرب المسكر، خمراً كان أو غيره، أربعون جلدة، ويجوز أن يزيد الإمام إذا رأى ذلك، إلى أن يبلغ به ثمانين جلدة.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ثبوت حد شرب المسكر: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لا يثبت الحد على المتهم بشرب المسكر إلا بأحد أمرين اثنين: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الأول:</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البيئة الكاملة: وهي شهادة رجلين عدلين. </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الثاني:</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الإقرار وذلك بأن يعترف أنه شرب مسكراً أو خمراً.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من يتولى تنفيذ الحد</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يتولى تنفيذه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الحاكم،</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فلو لم يعلم الحاكم بالأمر، أو لم يثبت عنده موجب الحد لم يجز لغيره من عامة الناس أن يتولى عنه إقامة الحد، درءاً للفتنة.</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المخدرات المختلفة</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معنى التخدير :الخدر: مأخوذ من الخدر، وهو الستر. والمراد بالتخدير هنا: الحالة التي تغشي العقل والفكر من الكسل والثقل والفتور فكأنه يستتر بشيء. ونحوها. والمخدرات كل ما يسبب هذه الحالة للعقل من بنج، وأفيون وحشيشة.</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a:t>
            </a: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27863693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5D6C9-D1D0-9CE0-C42A-2EFD85241F30}"/>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3B468E6D-58CF-43C1-B351-ADEE9A525C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655F3B75-9CE4-EC92-54CC-869B2CFBF074}"/>
              </a:ext>
            </a:extLst>
          </p:cNvPr>
          <p:cNvSpPr/>
          <p:nvPr/>
        </p:nvSpPr>
        <p:spPr>
          <a:xfrm>
            <a:off x="215653" y="0"/>
            <a:ext cx="11864052" cy="6756935"/>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المخدرات</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يحرم تعاطي المخدرات على اختلافها، كيفما كان تعاطيها، لما فيها من الإضرار بالعقل والجسم، ولما تستلزم من الأمراض والنتائج الضارة المختلفة.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حالات استثنائية: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حالة الضرورة: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غص بلقمة طعام وليس حوله ما يسيغها به إلا جرعة خمر، أو نحوها من المسكرات جاز له أن يسيغ لقمته تلك، بجرعة الخمر، اتقاء الهلاك.</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2--التداوي: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وصف الطبيب دواء للمريض، وكان ممزوجاً بمسكر مزجاً استهلك صفات المسكر، وخصائصه، وليس في الظاهر دواء آخر يقوم مقامه، جاز للمريض تناوله للضرورة، والحاجة لذلك.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أما المسكر الذي لم يستهلك في غيره من الأدوية، فلا يجوز تناوله للاستشفاء، وإن أشار به الطبيب، أو أمر بذلك.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3-العمليات الجراحية: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اضطر الطبيب إلى الاستعانة بمخدر من أجل إجراء عملية جراحية، ونحوها للمريض، بمعنى أن المريض لا يكاد يتحمل ألم الجراحة بدون مخدر: (والآلام الشديدة تنزل منزلة الضرورة فلا مانع في مثل هذه الحالة من الاستعانة بالمخدر سواء كان على كيفية حقنة، أو شرب، أو ابتلاع.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p:txBody>
      </p:sp>
    </p:spTree>
    <p:extLst>
      <p:ext uri="{BB962C8B-B14F-4D97-AF65-F5344CB8AC3E}">
        <p14:creationId xmlns:p14="http://schemas.microsoft.com/office/powerpoint/2010/main" val="33893166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2B740-AA1E-6178-8E40-0E50E80260FA}"/>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A231B05D-8AAE-7889-4299-C1512B73C2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5CB757EF-4D83-7AC6-3C13-936370A97103}"/>
              </a:ext>
            </a:extLst>
          </p:cNvPr>
          <p:cNvSpPr/>
          <p:nvPr/>
        </p:nvSpPr>
        <p:spPr>
          <a:xfrm>
            <a:off x="215653" y="143301"/>
            <a:ext cx="11664437" cy="6536467"/>
          </a:xfrm>
          <a:prstGeom prst="roundRect">
            <a:avLst>
              <a:gd name="adj" fmla="val 9587"/>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للباس والزينة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الأصل في أحكام اللباس والزينة الحل: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إن الأصل في أحكام اللباس والزينة، سواء كان في البدن أو في الثياب، أو المكان إنما هو الحل والإباحة.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استثني من عموم الحل</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-تحريم الذهب والفضة في غير البيع والشراء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ونحوهما، فلا يجوز أن يتخذ منهما أواني للأكل والشرب، ولا أن يجعل منهما أدوات الكتابة، أو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الإكتحال</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أو تزيين البيوت والمجالس والمساجد وغيرها.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ويجوز استعمال الأواني المتخذة من المعادن النفيسة غير النقدين كالماس واللؤلؤ والمرجان والياقوت والزمرد والزجاج وغيرها لعدم ورود نص بالنهي عنها، والأصل في هذه الأشياء الإباحة.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ويستثنى من هذا التحريم أمور ثلاثة: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1-اتخاذ النساء من الذهب والفضة حليا للزينة بالقدر المعتاد.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اتخاذ خاتم من فضة. أما خاتم الذهب للرجال فحرام مطلقاً.</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حالة الضرورة، وذلك كما إذا لم يجد غير آنية الذهب أو الفضة فإنه يباح له عندئذ استعمالها للضرورة.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a:t>
            </a:r>
            <a:r>
              <a:rPr kumimoji="0" lang="ar-SA" sz="2400" b="1" i="0" u="none" strike="noStrike" kern="1200" cap="none" spc="0" normalizeH="0" baseline="0" noProof="0" dirty="0">
                <a:ln>
                  <a:noFill/>
                </a:ln>
                <a:solidFill>
                  <a:schemeClr val="accent6">
                    <a:lumMod val="75000"/>
                  </a:schemeClr>
                </a:solidFill>
                <a:effectLst/>
                <a:uLnTx/>
                <a:uFillTx/>
                <a:latin typeface="Traditional Arabic" panose="02020603050405020304" pitchFamily="18" charset="-78"/>
                <a:ea typeface="+mn-ea"/>
                <a:cs typeface="Traditional Arabic" panose="02020603050405020304" pitchFamily="18" charset="-78"/>
              </a:rPr>
              <a:t>-</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تحريم لبس الحرير للرجال</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والحرير أيضا حرام على الرجال لبساً، واستعمالا في أي وجه من وجوه الاستعمال: كالجلوس عليه، والتستر </a:t>
            </a:r>
            <a:r>
              <a:rPr kumimoji="0" lang="ar-SA" sz="2400" i="0" u="none" strike="noStrike" kern="1200" cap="none" spc="0" normalizeH="0" baseline="0" noProof="0" dirty="0" err="1">
                <a:ln>
                  <a:noFill/>
                </a:ln>
                <a:solidFill>
                  <a:schemeClr val="tx1"/>
                </a:solidFill>
                <a:effectLst/>
                <a:uLnTx/>
                <a:uFillTx/>
                <a:latin typeface="Traditional Arabic" panose="02020603050405020304" pitchFamily="18" charset="-78"/>
                <a:ea typeface="+mn-ea"/>
                <a:cs typeface="Traditional Arabic" panose="02020603050405020304" pitchFamily="18" charset="-78"/>
              </a:rPr>
              <a:t>والتدثر</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به لكنه حل للنساء والصغار.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-تحريم الخضاب بالسواد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يحرم صبغ شعر الرأس واللحية بالسواد للرجال والنساء. ويستحب خضاب الشيب، وصبغ الشعر بغير السواد للرجال والنساء، بصفرة، أو حمرة.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a:t>
            </a: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15807299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BB102-5E4A-93B0-6C42-DF11F2F5EE1F}"/>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CFE4D3E9-D5BB-0AA1-0577-0A02B4873F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6DCC9178-064A-0F76-97DB-6E3A2CE82772}"/>
              </a:ext>
            </a:extLst>
          </p:cNvPr>
          <p:cNvSpPr/>
          <p:nvPr/>
        </p:nvSpPr>
        <p:spPr>
          <a:xfrm>
            <a:off x="215653" y="143301"/>
            <a:ext cx="11664437" cy="6571397"/>
          </a:xfrm>
          <a:prstGeom prst="roundRect">
            <a:avLst>
              <a:gd name="adj" fmla="val 13011"/>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4-تحريم مواصلة الشعر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وصل الشعر كبيرة من الكبائر، لورود اللعن لفاعله، والمعاون فيه.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أما تحمير الوجه، وتطريف الأصابع، فإن أذن به الزوج جاز، وإن لم يأذن لم يجز.</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أما وصل الشعر بخيوط من الحرير، ونحوه، مما لا يشبه الشعر فجائز</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وليس منهيا عنه، لأنه ليس له حكم الوصل، إنما هو مجرد الزينة.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5-تحريم الوشم، والنمص، </a:t>
            </a:r>
            <a:r>
              <a:rPr kumimoji="0" lang="ar-SA" sz="2400" b="1" i="0" u="none" strike="noStrike" kern="1200" cap="none" spc="0" normalizeH="0" baseline="0" noProof="0" dirty="0" err="1">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والتفليج</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الوشم</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هو أن تغرز إبرة، أو نحوها في ظهر الكف أو المعصم، أو الوجه، أو غير ذلك من البدن، حتى يسيل الدم، ثم يحشى محل الغرز بكحل ونحوه، فيخضر.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النمص: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نتف الشعر من الوجه.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err="1">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التفليج</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تفريق ما بين الثنايا والرباعيات من الأسنان بالمبرد، ونحوه. وهذه الثلاثة الوشم والنمص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والتفليج</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حرام على الرجال والنساء، لا فرق بين الفاعل والمفعول به، ذلك لورود اللعن عليه، ولا يلعن إلاّ على فعل محرم، بل على كبيرة من الكبائر. ويستدل على تحريم كل من الوشم والنمص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والتفليج</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بما رواه البخاري ومسلم عن عبد الله بن مسعود رضي الله عنه قال: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لعن الله الواشمات </a:t>
            </a:r>
            <a:r>
              <a:rPr kumimoji="0" lang="ar-SA" sz="2400" b="1"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والمستوشمات</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والمتنمصات والمتفلجات للحسن المغيرات خلق الله ما لي لا ألعن من لعنه رسول الله ﷺ وهو في كتاب الله: وما آتاكم الرسول فخذوه وما نهاكم عنه </a:t>
            </a:r>
            <a:r>
              <a:rPr kumimoji="0" lang="ar-SA" sz="2400" b="1"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فانتهو</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يستثنى من تحريم ما سبق:</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يستثنى من تحريم النمص إزالة ما نبت في وجه المرأة، من لحية، وشارب، فلا يحرم إزالتهما، بل يستحب، لأن النهي إنما هو لما في الحواجب، وما في أطراف الوجه.</a:t>
            </a:r>
          </a:p>
        </p:txBody>
      </p:sp>
    </p:spTree>
    <p:extLst>
      <p:ext uri="{BB962C8B-B14F-4D97-AF65-F5344CB8AC3E}">
        <p14:creationId xmlns:p14="http://schemas.microsoft.com/office/powerpoint/2010/main" val="16515377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4174D-FA2A-C446-A04F-773E8A9E6DD5}"/>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72F8026E-32EC-D5D8-65D0-FBC50ADBBF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D2426725-55D4-301F-8B3D-41AB8FE5E5F6}"/>
              </a:ext>
            </a:extLst>
          </p:cNvPr>
          <p:cNvSpPr/>
          <p:nvPr/>
        </p:nvSpPr>
        <p:spPr>
          <a:xfrm>
            <a:off x="263781" y="69743"/>
            <a:ext cx="11664437" cy="6302182"/>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6</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-تشبه الرجال بالنساء، والنساء بالرجال:</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تشبه الرجال بالنساء إنما يكون في اللباس والزينة مثل لبس الأساور والأقراط، والأطواق. وكذلك في الكلام والمشي: كتكلّف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التثني</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والتكسر، وترقيق الصوت، وتليين الكلام، وغير ذلك مما تكون عليه النساء في العادة.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وتشبه النساء في الرجال إنما يكون بالزي وبعض الصفات: كتكلّف الخشونة والرجولة، وحلق الشعر، ونحو ذلك مما عليه الرجال في العادة.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هذا التشبه: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وهذا التشبه من كل من الجنسين بالآخر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حرام، بل هو كبيرة من الكبائر</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لورود اللعن لفاعله، وهو أيضا من المنكرات التي انتشرت وشاعت بين المسلمين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7</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-تحريم التصوير: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تصوير الإنسان والحيوان، وكل ما فيه روح حرام، وهو من كبائر الإثم. أما تصوير ما لا روح فيه، كالشجر، والنبات والجماد، فليس بحرام، ولا إثم في فعله.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وأما اتخاذ ما فيه صورة حيوان، أو إنسان واقتناؤه فنقول: إن كانت هذه الصور معلقة على حائط، أو منقوشة في ثوب مما لا يعد ممتهناً، فاتخاذها حرام</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ولا يجوز إبقاؤها، بل يجب نزعها، وإزالتها من مكانها. وإن كانت في بساط يداس، أو وسادة ومخدة </a:t>
            </a:r>
            <a:r>
              <a:rPr lang="ar-SA" sz="2400" dirty="0">
                <a:solidFill>
                  <a:prstClr val="black"/>
                </a:solidFill>
                <a:latin typeface="Traditional Arabic" panose="02020603050405020304" pitchFamily="18" charset="-78"/>
                <a:cs typeface="Traditional Arabic" panose="02020603050405020304" pitchFamily="18" charset="-78"/>
              </a:rPr>
              <a:t>ي</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تكأ</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ويجلس عليهما، ونحوهما مما يمتهن، فليس بحرام.</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ويستثنى من عموم تحريم اتخاذ الصور الترخيص الصغار البنات والصبيان في لعب الأولاد. </a:t>
            </a:r>
          </a:p>
        </p:txBody>
      </p:sp>
    </p:spTree>
    <p:extLst>
      <p:ext uri="{BB962C8B-B14F-4D97-AF65-F5344CB8AC3E}">
        <p14:creationId xmlns:p14="http://schemas.microsoft.com/office/powerpoint/2010/main" val="33323137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8EC75-82CC-47D4-238E-CF5999F24B73}"/>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F750D33B-5A98-0122-EC58-AC1728DBD6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B0E81F62-AD32-331B-982A-C1CD48B0F5B4}"/>
              </a:ext>
            </a:extLst>
          </p:cNvPr>
          <p:cNvSpPr/>
          <p:nvPr/>
        </p:nvSpPr>
        <p:spPr>
          <a:xfrm>
            <a:off x="92077" y="724487"/>
            <a:ext cx="11735712" cy="6621709"/>
          </a:xfrm>
          <a:prstGeom prst="roundRect">
            <a:avLst>
              <a:gd name="adj" fmla="val 1688"/>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النكاح</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النكاح: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لغة الضم والجمع.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والنكاح شرعًا: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عقد يتضمن إباحة استمتاع كل من الزوجين بالآخر على الوجه المشروع. وسمي بذلك لأنه يجمع بين شخصين، ويضم أحدهما إلى الآخر. والعرب تستعمل لفظ النكاح بمعنى العقد، وبمعنى الوطء والاستمتاع. لكن النكاح حقيقة يطلق على العقد، ويستعمل مجازا في الوطء. وعامة استعمال القرآن للفظ النكاح إنما هو في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العقد</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لا في الوطء.</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مشروعية النكاح: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يستدل المشروعية النكاح بالقرآن الكريم والسنة النبوية، وإجماع الأمة.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فَانكِحُوا مَا طَابَ لَكُم مِّنَ النِّسَاءِ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ومن السنة قوله صلى الله عليه وسلم: يا معشر الشباب من استطاع منكم الباءة فليتزوج، فإنه أغض للبصر وأحصن للفرج، ومن لم يستطع فعليه بالصوم،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فإنه له وجاء وأما الإجماع: فقد اتفقت كلمة العلماء في كل العصور على مشروعيته.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النِّكَاحِ شَرْعًا:.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1-مستحب: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وذلك إذا كان الشخص محتاجا إلى الزواج: بمعنى أن نفسه تتوق إليه، وترغب فيه، وكان يملك مؤنته ونفقته من مهر، ونفقة معيشة له ولزوجته وهو في نفس الوقت لا يخشى على نفسه الوقوع في الفاحشة إن لم يتزوج. والزواج في هذه الحالة أفضل من التفرغ للعبادة، والانقطاع لها. وعلى هذا يحمل توجيه الرسول صلى الله عليه وسلم لأولئك النفر من أصحابه الذين تعاهدوا على الانقطاع للعبادة، وترك الزواج. والمرأة في هذا الحكم مثل الرجل، فإذا كانت محتاجة للزواج لصيانة نفسها، وحفظ دينها، وتحصيل نفقتها، استحب لها الزواج أيضا.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2-مستحب تركه: أي مكروه وفعله خلاف الأولى</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وذلك إذا كان محتاجا للزواج، لكنه لا يملك أهبة النكاح ونفقاته. وعليه في هذه الحالة أن يعف ويستعين على ذلك بالعبادة والصوم، لأن الانشغال بالعبادة والصوم، يشغله عن التفكير في الزواج، واستثارة الرغبة فيه، ريثما يغنيه الله من فضله. ودليل ذلك قوله تعالى: </a:t>
            </a:r>
            <a:r>
              <a:rPr kumimoji="0" lang="ar-SA" sz="2400" b="1"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وَلْيَسْتَعْفِفِ الَّذِينَ لَا يَجِدُونَ نِكَاحًا حَتَّى يُغْنِيَهُمُ اللَّهُ مِن فَضْلِهِ.</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3-مكروه: </a:t>
            </a: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وذلك إذا كان غير محتاج إلى الزواج: كأن لا يجد الرغبة فيه، إما فطرة، أو لمرض، أو علة، ولا يجد أهبة له، وذلك لما فيه من التزام ما لا يقدر على القيام به، لأن النكاح يترتب عليه المهر، والنفقة، وهو لا يقدر على ذلك، فيكره النكاح له. </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11442505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B767E-BA71-1528-C7E7-E68F2190042F}"/>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7DD44869-D041-A7BB-9A84-82A76CD85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45D7821F-FD14-92C6-0674-3F67CD5502CF}"/>
              </a:ext>
            </a:extLst>
          </p:cNvPr>
          <p:cNvSpPr/>
          <p:nvPr/>
        </p:nvSpPr>
        <p:spPr>
          <a:xfrm>
            <a:off x="192504" y="91441"/>
            <a:ext cx="11999496" cy="6766559"/>
          </a:xfrm>
          <a:prstGeom prst="roundRect">
            <a:avLst>
              <a:gd name="adj" fmla="val 5673"/>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4-الأفضل تركه: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وذلك إذا كان يجد الأهبة، ولكنه ليس محتاجا إلى النكاح، لأن نفسه لا تتوق إليه، وكان منشغلاً بالعبادة، أو منقطعًا لطلب العلم، فإن التفرغ للعبادة وطلب العلم أفضل من النكاح في هذه الحالة، لأن النكاح ربما يشغله عن ذلك.</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5-الأفضل فعله: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فإذا كان ليس منشغلاً بالعبادة، ولا متفرغا لطلب العلم، وهو يجد الأهبة للنكاح، لكنه غير محتاج إليه، فالنكاح في هذه الحالة أفضل، حتى لا تقضي به البطالة والفراغ إلى الفواحش، وبالزواج يحصل له الاستعانة على قضاء المصالح، وإنجاب الذرية، وزيادة النسل.</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المحرمات بالنكاح</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والحرمة في نكاح بعض النساء على قسمين: 1-حرمة مؤبدة. 2-وحرمة مؤقتة.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1-الحرمة المؤبدة: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ويقصد بها النساء اللاتي لا يجوز للرجل أن يتزوج بواحدة منهن أبدا، مهما كانت الظروف والأحوال.</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أسباب الحرمة المؤبدة: </a:t>
            </a:r>
            <a:r>
              <a:rPr lang="ar-SA" sz="2400" dirty="0">
                <a:solidFill>
                  <a:srgbClr val="FF0000"/>
                </a:solidFill>
                <a:latin typeface="Traditional Arabic" panose="02020603050405020304" pitchFamily="18" charset="-78"/>
                <a:cs typeface="Traditional Arabic" panose="02020603050405020304" pitchFamily="18" charset="-78"/>
              </a:rPr>
              <a:t>1</a:t>
            </a:r>
            <a:r>
              <a:rPr lang="ar-SA" sz="2400" b="1" dirty="0">
                <a:solidFill>
                  <a:srgbClr val="FF0000"/>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القرابة،  2-والمصاهرة، 3-والرضاع.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المحرمات بالقرابة: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وهن سبع: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1-الأم، وأم الأم، وأم الأب، ويعبر عنهن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بأصول الإنسان</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فلا يجوز نكاح واحدة منهن.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2-البنت وبنت الابن وبنت البنت، ويعبر عنهن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بفروع الإنسان</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فلا يجوز نكاح واحدة منهن.</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الأخت، شقيقة كانت، أو لأب، أو لأم، ويعبر عنهن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بفروع الأبوين</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فلا يجوز نكاح واحدة منهن أبدا.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4-بنت الأخ الشقيق، وبنت الأخ لأب، أو لأم، فلا يجوز نكاحهن.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5-بنت الأخت شقيقة كانت أو لأب، أو لأم، فهن حرام لا يجوز نكاحهن أبدا.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6-</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العمة، وهي أخت الأب، ومثلها عمة الأب، وعمة الأم، ويعبر عنهن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بفروع الجدين من جهة الأب</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فلا يجوز نكاحهن بحال.</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7-الخالة، أخت الأم، ومثلها خالة الأم وخالة الأب ويعبر عنهن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بفروع الجدين من جهة الأم</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فلا يجوز نكاحهن أبدا. فإذا عقد على واحدة منهن كان العقد باطلا، فإن استحل ذلك كان كافرًا.</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40444351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08858-2F7A-9D55-C65B-6F86482DAE5E}"/>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E3743D43-8807-65EE-7CDF-D4ABADBE32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02C1CDEF-C8FB-E772-EF05-FED2150E3AF1}"/>
              </a:ext>
            </a:extLst>
          </p:cNvPr>
          <p:cNvSpPr/>
          <p:nvPr/>
        </p:nvSpPr>
        <p:spPr>
          <a:xfrm>
            <a:off x="77492" y="143301"/>
            <a:ext cx="11980189" cy="6571397"/>
          </a:xfrm>
          <a:prstGeom prst="roundRect">
            <a:avLst>
              <a:gd name="adj" fmla="val 1573"/>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ويحرم على المرأة أبوها، وأبو أبيها، وأبو أمها، وجميع أصولها. ويحرم عليها ابنها وابن ابنها وابن بنتها، وجميع فروعها. ويحرم عليها أخوها شقيقا كان أو لأب أو الأم، وكذلك يحرم عليها أبناء إخوتها، وأبناء أخواتها، كما يحرم عليها أعمامها، وأخوالها، وأعمام أبيها، وأعمام أمها، وأخوال أبيها وأخوال أمها.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المحرمات بالمصاهرة: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وهن أربع:</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1-زوجة الأب، ومثلها زوجة الجد أب الأب وزوجة الجد أب الأم، ويعبر عن ذلك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بزوجات الأصول</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فلا يجوز نكاح واحدة منهن أبدا.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2-زوجة الابن وزوجة ابن الابن وابن البنت وهكذا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زوجات الفروع،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فلا يجوز نكاحهن بحال.</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أم الزوجة، فلا يجوز نكاحها،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ومثل أمها جميع أصولها من النساء.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وهؤلاء الثلاثة يحرمن بمجرد العقد، سواء تبع ذلك دخول، أو لم يتبعه، وإذا عقد على واحدة منهن كان العقد باطلا.</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4-</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بنت الزوجة، وهي الربيبة، فهي حرام على زوج أمها، ولكن ليس بمجرد العقد، بل لا تنشأ الحرمة إلا بالدخول على أمها.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ولا يشترط الحرمة الربيبة أن تكون في حجر زوج أمها، بل هي حرام عليه، سواء كانت في حجره أو كانت تعيش بعيدة عنه.</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وإنما ذكر القيد في الآية لبيان الحالة الغالبة، فإن الغالب على الربيبة أن تكون في رعاية زوج أمها وحجره وكنفه، وكذلك يحرم على المرأة زوج أمها، وزوج بنتها وابن زوجها، وأبو زوجها.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المحرمات بالرضاع</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ويحرم بسبب الرضاع ً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سبع من النسوة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ذكر القرآن الكريم منهن اثنين وألحقت السنة بقية السبع بهما، وهؤلاء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السبع </a:t>
            </a:r>
            <a:r>
              <a:rPr lang="ar-SA" sz="2400" dirty="0">
                <a:solidFill>
                  <a:srgbClr val="FF0000"/>
                </a:solidFill>
                <a:latin typeface="Traditional Arabic" panose="02020603050405020304" pitchFamily="18" charset="-78"/>
                <a:cs typeface="Traditional Arabic" panose="02020603050405020304" pitchFamily="18" charset="-78"/>
              </a:rPr>
              <a:t>ه</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1-الأم بالرضاع، وهي المرأة التي أرضعتك، ويلحق بها أمها، وأم أمها وأم أبيها، فلا يجوز نكاح واحدة منهن.</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الأخت بالرضاع، وهي التي رضعت من أمك، أو رضعت من أمها، أو رضعت من أمها أو من امرأة واحدة. فإذا رضعت من أمك صارت حراما عليك، وعلى جميع إخوتك. ويحل لك أخواتها، لأنهن لم يرضعن من أمك. وإذا رضعت أنت من أمها صرت حرامًا عليها، وعلى جميع أخواتها، وحلت هي وأخواتها لإخوتك، لأنها لم ترضع من أمك، ولا رضع أخواتك من أمها.</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16662401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E15D1-82FC-E723-1D5B-A100D679CC8F}"/>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BE7E14FA-0C82-7B0A-0FCD-8F55855CEC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5069D347-870E-B96A-C94A-7977B6B0EF6E}"/>
              </a:ext>
            </a:extLst>
          </p:cNvPr>
          <p:cNvSpPr/>
          <p:nvPr/>
        </p:nvSpPr>
        <p:spPr>
          <a:xfrm>
            <a:off x="215653" y="308008"/>
            <a:ext cx="11834279" cy="6179419"/>
          </a:xfrm>
          <a:prstGeom prst="roundRect">
            <a:avLst>
              <a:gd name="adj" fmla="val 2246"/>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3-بنت الأخ من الرضاع.    4-بنت الأخت من الرضاع.   5- العمة من الرضاع وهي التي رضعت مع أبيك.</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٦- الخالة من الرضاع: وهي التي رضعت مع أمك.    7-البنت من الرضاع: وهي التي رضعت من زوجتك، فتكون أنت أباها من الرضاع. وكذلك يحرم على المرأة أبوها بالرضاع، وابنها من الرضاع، وأخوها وابن أخيها من الرضاع، وعمها وخالها من الرضاع.</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وكذلك يحرم بالمصاهرة من الرضاع: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1-</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أم الزوجة من الرضاع، وهي التي أرضعت زوجتك. 2- بنت الزوجة من الرضاع، وهي التي رضعت من زوجتك، لكن من لبن زوج غيرك.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3-زوجة الأب من الرضاع، وهي زوجة الأب التي رضعت من زوجته الثانية.  4-زوجة الابن من الرضاع، وهي زوجة من رضع من زوجتك.</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2-الحرمة المؤقتة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والنساء المحرمات حرمة مؤقتة: هن اللاتي حرمن على الإنسان لسبب من الأسباب، فإذا زال هذا السبب زالت الحرمة وعاد الحل، فإذا عقد على واحدة منهن قبل زوال سبب الحرمة كان العقد باطلا. وهن: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1-الجمع بين الأختين</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سواء كانتا من النسب، أو من الرضاع. وسواء عقد عليهما معا أو في وقتين. فإذا عقد عليهما معا بطل العقد فيهما، وإذا عقد عليهما واحدة بعد الأخرى بطل عقد الثانية. فإذا ماتت الأولى، أو طلقت وانقضت عدتها حل له أن يعقد على أختها.</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الجمع بين المرأة وعمتها وبين المرأة وخالتها، وبين المرأة وبنت أختها، أو بنت أخيها، أو بنت ابنها، أو بنت </a:t>
            </a:r>
            <a:r>
              <a:rPr kumimoji="0" lang="ar-SA" sz="2400" i="0" u="none" strike="noStrike" kern="1200" cap="none" spc="0" normalizeH="0" baseline="0" noProof="0" dirty="0" err="1">
                <a:ln>
                  <a:noFill/>
                </a:ln>
                <a:solidFill>
                  <a:srgbClr val="FF0000"/>
                </a:solidFill>
                <a:effectLst/>
                <a:uLnTx/>
                <a:uFillTx/>
                <a:latin typeface="Traditional Arabic" panose="02020603050405020304" pitchFamily="18" charset="-78"/>
                <a:ea typeface="+mn-ea"/>
                <a:cs typeface="Traditional Arabic" panose="02020603050405020304" pitchFamily="18" charset="-78"/>
              </a:rPr>
              <a:t>بنتها</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:وقد</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وضع الفقهاء قاعدة بضبط من يحرم الجمع بينهن، فقالوا: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يحرم الجمع بين كل امرأتين لو فرضت إحداهما ذكرًا لما جاز له أن يتزوج الأخرى).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الحكمة من هذا التحريم: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والحكمة من تحريم الجمع بين من ذكرنا ما في هذا الجمع من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إيقاع الضغائن بين الأرحام، بسبب ما يحدث بين الضرائر من الغيرة. </a:t>
            </a:r>
          </a:p>
        </p:txBody>
      </p:sp>
    </p:spTree>
    <p:extLst>
      <p:ext uri="{BB962C8B-B14F-4D97-AF65-F5344CB8AC3E}">
        <p14:creationId xmlns:p14="http://schemas.microsoft.com/office/powerpoint/2010/main" val="29830157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BE03A-3AAD-D466-5989-DFFEE15B7AB1}"/>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08D0C8B8-E6CC-669A-9C58-D65E55565D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13B7119E-E816-0592-E0E7-7119982196E6}"/>
              </a:ext>
            </a:extLst>
          </p:cNvPr>
          <p:cNvSpPr/>
          <p:nvPr/>
        </p:nvSpPr>
        <p:spPr>
          <a:xfrm>
            <a:off x="148276" y="0"/>
            <a:ext cx="11664437" cy="6571397"/>
          </a:xfrm>
          <a:prstGeom prst="roundRect">
            <a:avLst>
              <a:gd name="adj" fmla="val 5111"/>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3-الزائدة على أربع نسوة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4</a:t>
            </a:r>
            <a:r>
              <a:rPr lang="ar-SA" sz="2400" b="1" dirty="0">
                <a:solidFill>
                  <a:srgbClr val="FF0000"/>
                </a:solidFill>
                <a:latin typeface="Traditional Arabic" panose="02020603050405020304" pitchFamily="18" charset="-78"/>
                <a:cs typeface="Traditional Arabic" panose="02020603050405020304" pitchFamily="18" charset="-78"/>
              </a:rPr>
              <a:t>- المشركة الوثنية: وهي التي ليس لها كتاب سماوي.</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 </a:t>
            </a:r>
            <a:r>
              <a:rPr lang="ar-SA" sz="2400" b="1" dirty="0" err="1">
                <a:solidFill>
                  <a:srgbClr val="FF0000"/>
                </a:solidFill>
                <a:latin typeface="Traditional Arabic" panose="02020603050405020304" pitchFamily="18" charset="-78"/>
                <a:cs typeface="Traditional Arabic" panose="02020603050405020304" pitchFamily="18" charset="-78"/>
              </a:rPr>
              <a:t>تنبیهان</a:t>
            </a:r>
            <a:r>
              <a:rPr lang="ar-SA" sz="2400" b="1" dirty="0">
                <a:solidFill>
                  <a:srgbClr val="FF0000"/>
                </a:solidFill>
                <a:latin typeface="Traditional Arabic" panose="02020603050405020304" pitchFamily="18" charset="-78"/>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1-لا يجوز للمرأة المسلمة أن تتزوج برجل غير مسلم، مهما كانت ديانته، لأن للزوج ولاية على الزوجة، ولا ولاية لكافر على مسلم، ولأنها لا تأمن عنده على دينها، لأنه لا يؤمن به؟ فإذا أسلم حلت له، وإذا عقد عليها قبل إسلامه كان العقد باطلا، ووجب التفريق بينهما فورًا فإذا حصل وطء كان ذلك زنا.</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2-يجوز للمسلم أن يتزوج يهودية أو نصرانية، لأنه ربما يكون ذلك سببًا </a:t>
            </a:r>
            <a:r>
              <a:rPr lang="ar-SA" sz="2400" dirty="0" err="1">
                <a:solidFill>
                  <a:schemeClr val="tx1"/>
                </a:solidFill>
                <a:latin typeface="Traditional Arabic" panose="02020603050405020304" pitchFamily="18" charset="-78"/>
                <a:cs typeface="Traditional Arabic" panose="02020603050405020304" pitchFamily="18" charset="-78"/>
              </a:rPr>
              <a:t>الإسلامها</a:t>
            </a:r>
            <a:r>
              <a:rPr lang="ar-SA" sz="2400" dirty="0">
                <a:solidFill>
                  <a:schemeClr val="tx1"/>
                </a:solidFill>
                <a:latin typeface="Traditional Arabic" panose="02020603050405020304" pitchFamily="18" charset="-78"/>
                <a:cs typeface="Traditional Arabic" panose="02020603050405020304" pitchFamily="18" charset="-78"/>
              </a:rPr>
              <a:t>، ولا يجوز لزوجها المسلم أن يكرهها على تغيير دينها، أو يضايقها في أداء عبادتها.</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5-المرأة المتزوجة: </a:t>
            </a:r>
            <a:r>
              <a:rPr lang="ar-SA" sz="2400" dirty="0">
                <a:solidFill>
                  <a:schemeClr val="tx1"/>
                </a:solidFill>
                <a:latin typeface="Traditional Arabic" panose="02020603050405020304" pitchFamily="18" charset="-78"/>
                <a:cs typeface="Traditional Arabic" panose="02020603050405020304" pitchFamily="18" charset="-78"/>
              </a:rPr>
              <a:t>فلا يجوز لرجل أن يعقد على امرأة لها زوج، وهي لا تزال على عصمته، حتى يموت أو يطلقها وتنقضي عدتها، فإذا مات أو طلقها وانقضت عدتها حل الزواج بها.</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٦-المرأة المعتدة: </a:t>
            </a:r>
            <a:r>
              <a:rPr lang="ar-SA" sz="2400" dirty="0">
                <a:solidFill>
                  <a:schemeClr val="tx1"/>
                </a:solidFill>
                <a:latin typeface="Traditional Arabic" panose="02020603050405020304" pitchFamily="18" charset="-78"/>
                <a:cs typeface="Traditional Arabic" panose="02020603050405020304" pitchFamily="18" charset="-78"/>
              </a:rPr>
              <a:t>فلا يجوز لرجل أن ينكح امرأة ما تزال في عدتها، سواء كانت هذه العدة من طلاق أو وفاة، فإذا انتهت عدتها، جاز الزواج بها.</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7-المرأة المطلقة ثلاثا: </a:t>
            </a:r>
            <a:r>
              <a:rPr lang="ar-SA" sz="2400" dirty="0">
                <a:solidFill>
                  <a:schemeClr val="tx1"/>
                </a:solidFill>
                <a:latin typeface="Traditional Arabic" panose="02020603050405020304" pitchFamily="18" charset="-78"/>
                <a:cs typeface="Traditional Arabic" panose="02020603050405020304" pitchFamily="18" charset="-78"/>
              </a:rPr>
              <a:t>فلا يجوز لزوجها أن يعود إليها حتى تنكح زوجا غيره، ثم يطلقها الزوج الثاني وتنقضي عدتها منه، فإذا حصل ذلك جاز لزوجها الأول أن يعود إليها، ويعقد عليها عقد زواج جديد،.</a:t>
            </a:r>
            <a:endPar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28507199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AA427-20EB-AD65-32C1-AF6CCA1D776D}"/>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9B363F9F-F5DB-5679-1720-6E4AB0AB2A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846A290F-0025-41CB-E53B-B4A49DBFB02B}"/>
              </a:ext>
            </a:extLst>
          </p:cNvPr>
          <p:cNvSpPr/>
          <p:nvPr/>
        </p:nvSpPr>
        <p:spPr>
          <a:xfrm>
            <a:off x="215653" y="143301"/>
            <a:ext cx="11664437" cy="6571397"/>
          </a:xfrm>
          <a:prstGeom prst="roundRect">
            <a:avLst>
              <a:gd name="adj" fmla="val 6879"/>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مقدمات الزواج:</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1-البحث عن الصفات التي تطلب في كل من الزوجين.2- رؤية المخطوبة والنظر إليها.3- الخطبة.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1-البحث عن الصفات التي ينبغي أن تطلب في كل من الزوجين: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1-الدين الصحيح والخلق القويم</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والحكمة من تفضيل ذات الدين والخلق أن الدين يقوى على مرور الزمن، والخلق يستقيم مع توالي الأيام وتجارب الحياة. فإذا اختار كل من الزوجين الآخر لدينه وخلقه، كان ذلك أضمن لاستمرار الحب ودوام المودة.</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-النسب في كل من الزوجين: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ومعنى النسب: طيب الأصل، وكرم المنبت. كذلك يسن في الزوج أن يكون ذا حسب، وأصل طيب، لأن ذلك أعون على استدامة الحياة الزوجية، وأقرب إلى طيب العشرة، لأن صاحب الأصل الطيب لا يصدر عنه إلا العشرة الكريمة، إذا أحب أكرم، وإذا أبغض لا يظلم.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ألا يكون بين الزوجين قرابة قريبة: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rgbClr val="FF0000"/>
                </a:solidFill>
                <a:latin typeface="Traditional Arabic" panose="02020603050405020304" pitchFamily="18" charset="-78"/>
                <a:cs typeface="Traditional Arabic" panose="02020603050405020304" pitchFamily="18" charset="-78"/>
              </a:rPr>
              <a:t>4- الكفاءة: </a:t>
            </a:r>
            <a:r>
              <a:rPr lang="ar-SA" sz="2400" dirty="0">
                <a:solidFill>
                  <a:schemeClr val="tx1"/>
                </a:solidFill>
                <a:latin typeface="Traditional Arabic" panose="02020603050405020304" pitchFamily="18" charset="-78"/>
                <a:cs typeface="Traditional Arabic" panose="02020603050405020304" pitchFamily="18" charset="-78"/>
              </a:rPr>
              <a:t>ويقصد بالكفاءة مساواة حال الرجل لحال المرأة اليوم في عدة وجوه:</a:t>
            </a:r>
          </a:p>
          <a:p>
            <a:pPr marR="0" lvl="0" algn="just" defTabSz="914400" rtl="1" eaLnBrk="1" fontAlgn="auto" latinLnBrk="0" hangingPunct="1">
              <a:lnSpc>
                <a:spcPct val="100000"/>
              </a:lnSpc>
              <a:spcBef>
                <a:spcPts val="0"/>
              </a:spcBef>
              <a:spcAft>
                <a:spcPts val="0"/>
              </a:spcAft>
              <a:buClrTx/>
              <a:buSzTx/>
              <a:tabLst/>
              <a:defRPr/>
            </a:pPr>
            <a:r>
              <a:rPr lang="ar-SA" sz="2400" dirty="0">
                <a:solidFill>
                  <a:schemeClr val="tx1"/>
                </a:solidFill>
                <a:latin typeface="Traditional Arabic" panose="02020603050405020304" pitchFamily="18" charset="-78"/>
                <a:cs typeface="Traditional Arabic" panose="02020603050405020304" pitchFamily="18" charset="-78"/>
              </a:rPr>
              <a:t>أ-الدين والصلاح، فليس الفاسق كفؤا لعفيفة صالحة.  </a:t>
            </a:r>
          </a:p>
          <a:p>
            <a:pPr marR="0" lvl="0" algn="just" defTabSz="914400" rtl="1" eaLnBrk="1" fontAlgn="auto" latinLnBrk="0" hangingPunct="1">
              <a:lnSpc>
                <a:spcPct val="100000"/>
              </a:lnSpc>
              <a:spcBef>
                <a:spcPts val="0"/>
              </a:spcBef>
              <a:spcAft>
                <a:spcPts val="0"/>
              </a:spcAft>
              <a:buClrTx/>
              <a:buSzTx/>
              <a:tabLst/>
              <a:defRPr/>
            </a:pPr>
            <a:r>
              <a:rPr lang="ar-SA" sz="2400" dirty="0">
                <a:solidFill>
                  <a:schemeClr val="tx1"/>
                </a:solidFill>
                <a:latin typeface="Traditional Arabic" panose="02020603050405020304" pitchFamily="18" charset="-78"/>
                <a:cs typeface="Traditional Arabic" panose="02020603050405020304" pitchFamily="18" charset="-78"/>
              </a:rPr>
              <a:t>ب-الحرفة، فصاحب حرفه دنيئة، ككناس وحجام وراع وقيم حمام، ليس كفواً لبنت عالم وقاض وتاجر.</a:t>
            </a:r>
          </a:p>
          <a:p>
            <a:pPr marR="0" lvl="0" algn="just" defTabSz="914400" rtl="1" eaLnBrk="1" fontAlgn="auto" latinLnBrk="0" hangingPunct="1">
              <a:lnSpc>
                <a:spcPct val="100000"/>
              </a:lnSpc>
              <a:spcBef>
                <a:spcPts val="0"/>
              </a:spcBef>
              <a:spcAft>
                <a:spcPts val="0"/>
              </a:spcAft>
              <a:buClrTx/>
              <a:buSzTx/>
              <a:tabLst/>
              <a:defRPr/>
            </a:pPr>
            <a:r>
              <a:rPr lang="ar-SA" sz="2400" dirty="0">
                <a:solidFill>
                  <a:schemeClr val="tx1"/>
                </a:solidFill>
                <a:latin typeface="Traditional Arabic" panose="02020603050405020304" pitchFamily="18" charset="-78"/>
                <a:cs typeface="Traditional Arabic" panose="02020603050405020304" pitchFamily="18" charset="-78"/>
              </a:rPr>
              <a:t>ج- السلامة من العيوب المثبتة للخيار في فسخ النكاح، فمن به جنون أو برص ليس كفوا للسليمة منها.</a:t>
            </a:r>
          </a:p>
          <a:p>
            <a:pPr marR="0" lvl="0" algn="just" defTabSz="914400" rtl="1" eaLnBrk="1" fontAlgn="auto" latinLnBrk="0" hangingPunct="1">
              <a:lnSpc>
                <a:spcPct val="100000"/>
              </a:lnSpc>
              <a:spcBef>
                <a:spcPts val="0"/>
              </a:spcBef>
              <a:spcAft>
                <a:spcPts val="0"/>
              </a:spcAft>
              <a:buClrTx/>
              <a:buSzTx/>
              <a:tabLst/>
              <a:defRPr/>
            </a:pPr>
            <a:r>
              <a:rPr lang="ar-SA" sz="2400" dirty="0">
                <a:solidFill>
                  <a:srgbClr val="FF0000"/>
                </a:solidFill>
                <a:latin typeface="Traditional Arabic" panose="02020603050405020304" pitchFamily="18" charset="-78"/>
                <a:cs typeface="Traditional Arabic" panose="02020603050405020304" pitchFamily="18" charset="-78"/>
              </a:rPr>
              <a:t>5-البكارة: </a:t>
            </a:r>
            <a:r>
              <a:rPr lang="ar-SA" sz="2400" dirty="0">
                <a:solidFill>
                  <a:schemeClr val="tx1"/>
                </a:solidFill>
                <a:latin typeface="Traditional Arabic" panose="02020603050405020304" pitchFamily="18" charset="-78"/>
                <a:cs typeface="Traditional Arabic" panose="02020603050405020304" pitchFamily="18" charset="-78"/>
              </a:rPr>
              <a:t>والبكر: هي التي لم يسبق لها أن تزوجت وقد بين النبي ﷺ سبب اختيار الزوجة البكر، حين قال: عليكم </a:t>
            </a:r>
            <a:r>
              <a:rPr lang="ar-SA" sz="2400" dirty="0" err="1">
                <a:solidFill>
                  <a:schemeClr val="tx1"/>
                </a:solidFill>
                <a:latin typeface="Traditional Arabic" panose="02020603050405020304" pitchFamily="18" charset="-78"/>
                <a:cs typeface="Traditional Arabic" panose="02020603050405020304" pitchFamily="18" charset="-78"/>
              </a:rPr>
              <a:t>بالأبكار</a:t>
            </a:r>
            <a:r>
              <a:rPr lang="ar-SA" sz="2400" dirty="0">
                <a:solidFill>
                  <a:schemeClr val="tx1"/>
                </a:solidFill>
                <a:latin typeface="Traditional Arabic" panose="02020603050405020304" pitchFamily="18" charset="-78"/>
                <a:cs typeface="Traditional Arabic" panose="02020603050405020304" pitchFamily="18" charset="-78"/>
              </a:rPr>
              <a:t>، فإنهن أعْذَبُ أفواها، وأنتق أرحاما، وأرضى باليسير. وكذلك يستحب أن يكون الزوج بكرا، لم يسبق له أن تزوج، لأن النفوس جبلت على الاستئناس بأول مألوف.</a:t>
            </a:r>
          </a:p>
          <a:p>
            <a:pPr marR="0" lvl="0" algn="just" defTabSz="914400" rtl="1" eaLnBrk="1" fontAlgn="auto" latinLnBrk="0" hangingPunct="1">
              <a:lnSpc>
                <a:spcPct val="100000"/>
              </a:lnSpc>
              <a:spcBef>
                <a:spcPts val="0"/>
              </a:spcBef>
              <a:spcAft>
                <a:spcPts val="0"/>
              </a:spcAft>
              <a:buClrTx/>
              <a:buSzTx/>
              <a:tabLst/>
              <a:defRPr/>
            </a:pPr>
            <a:r>
              <a:rPr lang="ar-SA" sz="2400" dirty="0">
                <a:solidFill>
                  <a:srgbClr val="FF0000"/>
                </a:solidFill>
                <a:latin typeface="Traditional Arabic" panose="02020603050405020304" pitchFamily="18" charset="-78"/>
                <a:cs typeface="Traditional Arabic" panose="02020603050405020304" pitchFamily="18" charset="-78"/>
              </a:rPr>
              <a:t>6-الولود: </a:t>
            </a:r>
            <a:r>
              <a:rPr lang="ar-SA" sz="2400" dirty="0">
                <a:solidFill>
                  <a:schemeClr val="tx1"/>
                </a:solidFill>
                <a:latin typeface="Traditional Arabic" panose="02020603050405020304" pitchFamily="18" charset="-78"/>
                <a:cs typeface="Traditional Arabic" panose="02020603050405020304" pitchFamily="18" charset="-78"/>
              </a:rPr>
              <a:t>وتعرف البكر الولود بأقاربها، كأختها وعمتها، وخالتها، ويُعرف الرجل الولود أيضًا بأقربائه. </a:t>
            </a:r>
          </a:p>
        </p:txBody>
      </p:sp>
    </p:spTree>
    <p:extLst>
      <p:ext uri="{BB962C8B-B14F-4D97-AF65-F5344CB8AC3E}">
        <p14:creationId xmlns:p14="http://schemas.microsoft.com/office/powerpoint/2010/main" val="22715168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F2E99-4B93-7EE4-3C8F-F02C44157F87}"/>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415E2274-B8EB-1CD9-5A62-5D9A198050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EE0BC88E-AFDB-4129-8F12-B2C293C1862B}"/>
              </a:ext>
            </a:extLst>
          </p:cNvPr>
          <p:cNvSpPr/>
          <p:nvPr/>
        </p:nvSpPr>
        <p:spPr>
          <a:xfrm>
            <a:off x="215653" y="143301"/>
            <a:ext cx="12075808" cy="6989019"/>
          </a:xfrm>
          <a:prstGeom prst="roundRect">
            <a:avLst>
              <a:gd name="adj" fmla="val 12786"/>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2-</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رؤية المخطوبة والنظر إليها: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ومن الأمور المستحبة التي رغب فيها الإسلام أن ينظر الخاطب إلى المخطوبة قبل الخطبة، إذا قصد نكاحها، ورجا رجاء طاهرا أن يجاب إلى طلبه، وإن لم تأذن له، أو لم تعلم بنظره، اكتفاء بإذن الشرع له،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ولئلا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تتزين له، فيفوت غرضه.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حدود النظر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ولا يجوز للخاطب أن ينظر من المخطوبة إلا وجهها وكفيها ظهرا وبطنا، والحكمة من الاقتصار على الوجه والكفين أن الوجه يستدل به على الجمال، واليدين يستدل بهما على خصب البدن ولينه.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نظر الأجنبي إلى المرأة: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ويحرم نظر رجل بالغ عاقل مختار ولو شيخا أو عاجزا، وكذلك المراهق وهو من قارب البلوغ إلى أي جزء من جسم امرأة أجنبية كبيرة. والكبيرة هي من بلغت حداً تشتهي فيه، ولو كانت غير بالغة، ولو كان ذلك الجزء الوجه والكفين، ولو لم تكن هناك فتنة على الصحيح في المذهب.</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وكذلك يحرم على المرأة أن تنظر إلى الرجل لغير حاجة. هذا، وحيث حرم النظر فيما ذكر حرم المس، لأنه أبلغ منه في التلذذ وإثارة الشهوة.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 الخطبة.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فإذا تم الوثوق من الصفات الحسنة، وتحقق بالرؤية والنظر الرضا والرغبة، جاء دور الخطبة.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متى تحل الخطبة، ومتى تحرم:</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1-تحل الخطبة تصريحا وتعريضا، إذا كانت المخطوبة خلية من نكاح، وعدة، ومن كل مواقع النكاح التي مر ذكرها في المحرمات.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تحل الخطبة تعريضًا فقط لا تصريحا، إذ كانت المرأة معتدة من وفاة، أو طلاق بائن.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وتحرم الخطبة تعريضا وتصريحا فيما عدا ما ذكر في الفقرة الأولى والثانية. فتحرم خطبة امرأة ما تزال على عصمة زوجها، كما تحرم خطبة كل امرأة ذكرت في محرمات النكاح، سواء كانت محرمة مؤبدة أم محرمة مؤقتة. وتحرم خطبة المرأة المعتدة من طلاق رجعي، سواء كان ذلك بالتعريض أم بالتصريح لأنها زوجة، أو في معنى الزوجة، لأن لزوجها الحق في مراجعتها.</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12693455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A6E62-7BA5-9102-2540-F64B275B8A68}"/>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024AB6E2-1773-4F83-3A99-217181EF3F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0EFDF3E4-61DD-2093-C8BB-271B7F491894}"/>
              </a:ext>
            </a:extLst>
          </p:cNvPr>
          <p:cNvSpPr/>
          <p:nvPr/>
        </p:nvSpPr>
        <p:spPr>
          <a:xfrm>
            <a:off x="350408" y="286603"/>
            <a:ext cx="11664437" cy="6571397"/>
          </a:xfrm>
          <a:prstGeom prst="roundRect">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معنى التصريح والتعريض بالخطبة:</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والتصريح في الخطبة معناه: كل لفظ يقطع بالرغبة في النكاح: </a:t>
            </a:r>
            <a:r>
              <a:rPr kumimoji="0" lang="ar-SA" sz="2400" i="0" u="none" strike="noStrike" kern="1200" cap="none" spc="0" normalizeH="0" baseline="0" noProof="0" dirty="0" err="1">
                <a:ln>
                  <a:noFill/>
                </a:ln>
                <a:solidFill>
                  <a:schemeClr val="tx1"/>
                </a:solidFill>
                <a:effectLst/>
                <a:uLnTx/>
                <a:uFillTx/>
                <a:latin typeface="Traditional Arabic" panose="02020603050405020304" pitchFamily="18" charset="-78"/>
                <a:ea typeface="+mn-ea"/>
                <a:cs typeface="Traditional Arabic" panose="02020603050405020304" pitchFamily="18" charset="-78"/>
              </a:rPr>
              <a:t>كأريد</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أن أنكحك، أو إذا انقضت عدتك تزوجتك والتعريض بالخطبة معناه أن يستعمل لفظا يحتمل الرغبة في النكاح، وعدمها، كأن يقول للمعتدة: أنت جميلة، أو: رب راغب فيك، من يجد مثلك، أو نحو ذلك.</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الخطبة على الخطبة:</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وتحرم خطبة إنسان على خطبة أخيه، إذا كان قد صرح له بالإجابة إلا بإذنه، فإن لم يجب ولم يرد لم تحرم الخطبة. وهذه الحرمة حرمة توجب الإثم، ولا توجب بطلان العقد، فيما إذا خطب على خطبة أخيه، وعقد عقد الزواج.</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الاستشارة في خاطب أو مخطوبة</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من استشير في خاطب أو مخطوبة وجب عليه أن يذكر من العيوب والمساوئ ما يعرف بصدق، ليحذر، وذلك بدلًا للنصيحة، ولا يعد ذلك من الغيبة المحرمة. هذا إذا احتيج إلى ذكر العيوب، أما إذا اندفع بدون ذكر ذلك، كقوله مثلا: هذا لا يصلح لك، أو هذه لا تصلح لك، وجب الاقتصار على ذلك. </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الخلوة بالمخطوبة والاختلاط بها قبل العقد:</a:t>
            </a: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إن اختلاط الخاطب بالمخطوبة وخلوته بها قبل عقد الزواج أمر حرام لا يقره شرع الله عز وجل ولا يرضى به قال رسول الله صلى الله عليه وسلم ولا يخلون رجل بامرأة إلا ومعهما ذو محرم والخطيبة قبل العقد تعتبر امرأة أجنبية. وإن الفتاة العاقلة هي التي تمتنع عن الظهور أمام خطيبها بعد أن رآها رؤية الخطبة حتى يتم العقد، لأن من الواجب عليها أن تفكر في مستقبلها، وتحسب الحساب للعواقب. التي يمكن أن تواجهها، وتفكر بأن هذا الخاطب إذا فسخ خطبته لها فلن يتقدم شاب آخر لخطبتها، وهو يعلم علاقتها بخطيبها السابق. أما إذا تم العقد، فقد حلت الخلوة والخلطة لأنها أصبحت زوجة له، يرى منها وترى منه ما بدا لهما، من غير إثم ولا حرج.</a:t>
            </a:r>
          </a:p>
        </p:txBody>
      </p:sp>
    </p:spTree>
    <p:extLst>
      <p:ext uri="{BB962C8B-B14F-4D97-AF65-F5344CB8AC3E}">
        <p14:creationId xmlns:p14="http://schemas.microsoft.com/office/powerpoint/2010/main" val="11152695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DE6DB-D4D6-973B-80DC-6B7684C02403}"/>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403B25DA-6DFC-09B1-4A3F-F988533711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E27915D7-3031-7F36-7E0E-D6FE1F063F43}"/>
              </a:ext>
            </a:extLst>
          </p:cNvPr>
          <p:cNvSpPr/>
          <p:nvPr/>
        </p:nvSpPr>
        <p:spPr>
          <a:xfrm>
            <a:off x="263781" y="215490"/>
            <a:ext cx="11664437" cy="6642510"/>
          </a:xfrm>
          <a:prstGeom prst="roundRect">
            <a:avLst>
              <a:gd name="adj" fmla="val 3134"/>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أركان عقد النكاح:</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1-الصيغة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وهي الإيجاب من ولي الزوجة، كقوله زوجتك، أو أنكحتك ابنتي. والقبول من الزوج كقوله تزوجت أو نكحت ابنتك،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الحكمة من تشريع الصيغة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والحكمة: هي أنه لما كان عقد الزواج من العقود التي لا بد فيها من رضا العاقدين، والرضا أمر خفي لا يُطلع عليه، اعتبر الشرع الصيغة. وهي الإيجاب والقبول. دليلا ظاهرا على الرضا في نفس كل من العاقدين.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الصيغة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1-أن تكون بلفظ التزويج أو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الإنكاح</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وما يشتق منهما، كزوجتك وأنكحتك وقبلت تزويجها، أو قبلت نكاحها.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2-التصريح بلفظ الزواج، أو النكاح في الإيجاب وفي القبول:</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اتصال الإيجاب بالقبول: أن يتصل الإيجاب من الولي بالقبول من الزوج، فلو قال ولي الزوجة زوجتك ابنتي فسكت الزوج مدة طويلة، ثم قال: قبلت زواجها، لم يصح العقد، لوجود الفاصل الطويل بين الإيجاب والقبول.</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4-</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بقاء أهلية العاقدين إلى أن يتم القبول: فلو قال ولي الزوجة زوجتك ابنتي ولكن قبل أن يصدر القبول من الزوج جن الولي، أو أغمي عليه، فقبل الزوج، لم يصح النكاح.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5-</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تكون الصيغة منجزة: فلا تصح إضافة عقد الزواج إلى المستقبل، ولا تعليقه على شروط</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6-أن تكون الصيغة مطلقة: فلا يصح توقيت النكاح بمدة معلومة كشهر، أو سنة، أو مجهولة.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b="1" dirty="0">
                <a:solidFill>
                  <a:srgbClr val="FF0000"/>
                </a:solidFill>
                <a:latin typeface="Traditional Arabic" panose="02020603050405020304" pitchFamily="18" charset="-78"/>
                <a:cs typeface="Traditional Arabic" panose="02020603050405020304" pitchFamily="18" charset="-78"/>
              </a:rPr>
              <a:t>نكاح الشغار: </a:t>
            </a:r>
            <a:r>
              <a:rPr lang="ar-SA" sz="2400" dirty="0">
                <a:solidFill>
                  <a:prstClr val="black"/>
                </a:solidFill>
                <a:latin typeface="Traditional Arabic" panose="02020603050405020304" pitchFamily="18" charset="-78"/>
                <a:cs typeface="Traditional Arabic" panose="02020603050405020304" pitchFamily="18" charset="-78"/>
              </a:rPr>
              <a:t>لا يصح نكاح الشغار، وهو: أن يقول ولي الزوجة لرجل: زوجتك ابنتي على أن تزوجني ابنتك، وبضع كل واحدة منهما صداق للأخرى. فيقول الآخر: تزوجت ابنتك، وزوجتك ابنتي على ما ذكرت. وسبب بطلان هذا الزواج هو تعليق زواج كل من الزوجين على الأخرى، والتعليق مفسد للعقد. والشغار: أن يزوج الرجل ابنته على أن يزوجه ابنته، وليس بينهما صداق.</a:t>
            </a:r>
          </a:p>
        </p:txBody>
      </p:sp>
    </p:spTree>
    <p:extLst>
      <p:ext uri="{BB962C8B-B14F-4D97-AF65-F5344CB8AC3E}">
        <p14:creationId xmlns:p14="http://schemas.microsoft.com/office/powerpoint/2010/main" val="35867323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2C7A0-2205-B868-8752-727C696C456D}"/>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0FFFF324-7879-C6AA-C284-F96204A417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A513031B-36F4-52AE-7221-FCFCDA62C600}"/>
              </a:ext>
            </a:extLst>
          </p:cNvPr>
          <p:cNvSpPr/>
          <p:nvPr/>
        </p:nvSpPr>
        <p:spPr>
          <a:xfrm>
            <a:off x="263781" y="143301"/>
            <a:ext cx="11664437" cy="6858000"/>
          </a:xfrm>
          <a:prstGeom prst="roundRect">
            <a:avLst>
              <a:gd name="adj" fmla="val 2656"/>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2-الزوجة: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ويشترط في الزوجة: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1-خلوها من موانع النكاح التي مر ذكرها في محرمات النكاح والخطبة.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أن تكون الزوجة معينة، فلو قال ولي الزوجة لرجل زوجتك إحدى بناتي، لم يصح العقد، لعدم تعيين البنت التي يزوجها.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3-ألا تكون الزوجة محرمة بحج أو عمرة.</a:t>
            </a:r>
          </a:p>
          <a:p>
            <a:pPr lvl="0" algn="ju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3-الزوج: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ويشترط فيه</a:t>
            </a:r>
          </a:p>
          <a:p>
            <a:pPr lvl="0" algn="ju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1-أن يكون ممن يحل للزوجة التزوج به، وذلك بأن لا يكون من المحرمين عليها. </a:t>
            </a:r>
          </a:p>
          <a:p>
            <a:pPr lvl="0" algn="just">
              <a:defRPr/>
            </a:pPr>
            <a:r>
              <a:rPr lang="ar-SA" sz="2400" dirty="0">
                <a:solidFill>
                  <a:prstClr val="black"/>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يكون الزوج معينا، فلو قال الولي: زوجت ابنتي إلى أحدكما، لم يصح الزواج، لعدم تعيين الزوج.</a:t>
            </a:r>
          </a:p>
          <a:p>
            <a:pPr lvl="0" algn="just">
              <a:defRPr/>
            </a:pPr>
            <a:r>
              <a:rPr lang="ar-SA" sz="2400" dirty="0">
                <a:solidFill>
                  <a:prstClr val="black"/>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يكون الزوج حالا، أي ليس محرما بحج أو عمرة. </a:t>
            </a:r>
          </a:p>
          <a:p>
            <a:pPr lvl="0" algn="just">
              <a:defRPr/>
            </a:pPr>
            <a:r>
              <a:rPr lang="ar-SA" sz="2400" b="1" dirty="0">
                <a:solidFill>
                  <a:srgbClr val="FF0000"/>
                </a:solidFill>
                <a:latin typeface="Traditional Arabic" panose="02020603050405020304" pitchFamily="18" charset="-78"/>
                <a:cs typeface="Traditional Arabic" panose="02020603050405020304" pitchFamily="18" charset="-78"/>
              </a:rPr>
              <a:t>4-</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الولي:</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معنى الولاية: الولاية في اللغة: تأتي بمعنى المحبة والنصرة. والولاية في الشرع: هي تنفيذ القول على الغير، والإشراف على شؤونه. والمراد بالغير القاصر والمجنون والبالغة في ولاية الاختبار.</a:t>
            </a:r>
          </a:p>
          <a:p>
            <a:pPr lvl="0" algn="ju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وجود الولي واجب في عقد الزواج: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لابد في تزويج المرأة بالغة كانت أو صغيرة، ثيبا كانت أو بكرا، من ولي يلي عقد زواجها. فلا يجوز لامرأة تُزوّج أن تزوج نفسها، ولا أن تزوج غيرها، بإذن أو بغير إذن سواء صدر منها الإيجاب، أو القبول.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والحكمة من اشتراط الولي أنه لا يليق بمحاسن العادات دخول المرأة في مباشرة عقد الزواج، وذلك لما يجب أن تكون عليه من الحياء. </a:t>
            </a:r>
          </a:p>
          <a:p>
            <a:pPr lvl="0" algn="ju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 الزواج بغير ولي وما يترتب عليه: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فإذا زوجت المرأة نفسها من غير ولي اعتبر زواجها باطلا، ثم إن أعقب هذا الزواج دخول وجب التفريق بينهما، لبطلان العقد، ووجب للمرأة مهر المثل، سواء سمي لها في العقد مهر، أم لم يسم. ودليل ذلك : قول النبي صلى الله عليه وسلم: «أيما امرأة نكحت بغير إذن وليها فنكاحها باطل - ثلاثا - فإن دخل بها فلها المهر بما استحل من فرجها، فإن تشاجروا، فالسلطان ولي من لا ولي له». ولا يجب على الواطئ في هذا النكاح الباطل الذي تم بغير ولي حد الزنى، لشبهة اختلاف العلماء في صحة النكاح بغير ولي، والحدود تدراً بالشبهات، لكن فيه التعزيز. والتعزيز عقوبة دون الحد يقدرها القاضي بما يراه رادعا ومؤديا.</a:t>
            </a:r>
          </a:p>
        </p:txBody>
      </p:sp>
    </p:spTree>
    <p:extLst>
      <p:ext uri="{BB962C8B-B14F-4D97-AF65-F5344CB8AC3E}">
        <p14:creationId xmlns:p14="http://schemas.microsoft.com/office/powerpoint/2010/main" val="36450719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DFEDF-BA80-4A09-4718-0F57A1D1EB85}"/>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51F8167B-3B9C-AB57-51EE-5D11E899CD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0BAB1982-176E-DE99-1B66-80AC8E77F27E}"/>
              </a:ext>
            </a:extLst>
          </p:cNvPr>
          <p:cNvSpPr/>
          <p:nvPr/>
        </p:nvSpPr>
        <p:spPr>
          <a:xfrm>
            <a:off x="215653" y="1"/>
            <a:ext cx="11976347" cy="6714698"/>
          </a:xfrm>
          <a:prstGeom prst="roundRect">
            <a:avLst>
              <a:gd name="adj" fmla="val 5242"/>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الأولياء في الزواج حسب ترتيبهم: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والأولياء في الزواج هم على الترتيب الآتي: الأب. ثم الجد أبو الأب. ثم الأخ الشقيق. ثم الأخ من الأب. ثم ابن الأخ الشقيق. ثم ابن الأخ من الأب. ثم العم الشقيق. ثم العم من الأب. ثم ابن العم الشقيق. ثم ابن العم من الأب. وهكذا سائر العصبات، فإن عدمت العصبات فالقاضي، لما سبق من قوله صلى الله عليه وسلم: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«فالسلطان ولي من لا ولي له».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الولي: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ويشترط في الولي، أبا كان أو غيره، الشروط التالية: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1-الإسلام فلا يزوج الكافر المسلمة، لأنه لا ولاية لكافر على مسلم.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وَلَن يَجْعَلَ اللهُ لِلْكَافِرِينَ عَلَى الْمُؤْمِنِينَ سَبِيلًا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ولأن ولاية الزوج مبنية على التعصب في الإرث ولا توارث بين مسلم وكافر.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2-العدالة والمقصود بالعدالة: عدم ارتكاب الكبائر من الذنوب، وعدم الإصرار على الصغائر، وعدم فعل ما يخل بالمروءة كالبول في الطرقات، والمشي حافيا، وغير ذلك. فلا يزوج الفاسق مؤمنة، بل ينتقل حق تزويجها إلى الولي الذي يليه، إن كان عدلاً.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البلوغ فلا ولاية لصبي على غيره من الزواج، لأنه لا ولاية له على نفسه، فلا ولاية له على غيره من باب أولى.</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4-العقل فلا ولاية المجنون، لأنه لا ولاية له على نفسه، فأولى ألا يكون له ولاية على غيره.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5-السلامة من الآفات المخلة بالنظر : فلا ولاية المختل النظر بسبب هرم، أو خبل لعجز هؤلاء عن اختيار الأكفاء.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6-إ</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ن لا يكون محجورًا عليه بسفه: وهو الذي يبذر ماله، لأن السفيه لا ولاية له على نفسه، فأولى أن لا يكون له ولاية على غيره.</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prstClr val="black"/>
                </a:solidFill>
                <a:latin typeface="Traditional Arabic" panose="02020603050405020304" pitchFamily="18" charset="-78"/>
                <a:cs typeface="Traditional Arabic" panose="02020603050405020304" pitchFamily="18" charset="-78"/>
              </a:rPr>
              <a:t>7-</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أن يكون حلالا فلا يزوج المحرم بحج أو عمرة غيره، وهو محرم.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تنبيه</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إذا فقدت هذه الشروط التي ذكرت في ولي قريب من الأولياء، انتقل حق الولاية إلى الولي الذي يليه، ممن توفرت فيه شروط الولاية كاملة إلا المحرم، فإنه لا تنتقل الولاية عنه إلى الأبعد منه، لأن الإحرام لا يسلب الولاية، لبقاء الرشد والنظر، وإنما يمنع النكاح، ولكن ينتقل حق التزويج إلى السلطان عند إحرام الولي القريب.</a:t>
            </a:r>
          </a:p>
        </p:txBody>
      </p:sp>
    </p:spTree>
    <p:extLst>
      <p:ext uri="{BB962C8B-B14F-4D97-AF65-F5344CB8AC3E}">
        <p14:creationId xmlns:p14="http://schemas.microsoft.com/office/powerpoint/2010/main" val="19535085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8BBC-111C-07AA-101F-72CE9CC49577}"/>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9F94337D-0BA6-2A32-7187-3AF1E5EC1B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236" y="-61993"/>
            <a:ext cx="11898607" cy="6858000"/>
          </a:xfrm>
          <a:prstGeom prst="rect">
            <a:avLst/>
          </a:prstGeom>
        </p:spPr>
      </p:pic>
      <p:sp>
        <p:nvSpPr>
          <p:cNvPr id="4" name="مستطيل: زوايا مستديرة 3">
            <a:extLst>
              <a:ext uri="{FF2B5EF4-FFF2-40B4-BE49-F238E27FC236}">
                <a16:creationId xmlns:a16="http://schemas.microsoft.com/office/drawing/2014/main" id="{7068B3F7-A721-09E2-D18D-2DB7AB4F9834}"/>
              </a:ext>
            </a:extLst>
          </p:cNvPr>
          <p:cNvSpPr/>
          <p:nvPr/>
        </p:nvSpPr>
        <p:spPr>
          <a:xfrm>
            <a:off x="350407" y="286603"/>
            <a:ext cx="11664437" cy="6571397"/>
          </a:xfrm>
          <a:prstGeom prst="roundRect">
            <a:avLst>
              <a:gd name="adj" fmla="val 2752"/>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فقدان الأولياء: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إذا انعدم الأولياء انتقلت الولاية إلى القاضي، لأنه منصوب لتحقيق مصالح المسلمين. وفي تزويج من لا ولي لها مصلحة يجب تحقيقها</a:t>
            </a:r>
            <a:r>
              <a:rPr lang="ar-SA" sz="2400" dirty="0">
                <a:solidFill>
                  <a:prstClr val="black"/>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الوكالة في الزواج: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يصح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للولي المجبر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وهو الأب والجد أبو الأب في تزويج البكر، التوكيل في تزويجها بغير إذنها. ولا يشترط في صحة هذه الوكالة أن يعين الولي للوكيل الزوج، لأن الولي يملك التعيين في التوكيل، فيملك الإطلاق به، وإذا أطلق الولي الوكالة، وجب على الوكيل أن يحتاط لمصلحة الزوجة، فلا يزوجها من غير كفء، لأن التوكل عند الإطلاق يحمل على الكفء.</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أما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غير المجبر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من الأولياء - وهو غير الأب والجد أبي الأب فلا يجوز له التوكيل في التزويج إلا بإذن المرأة، لأنه لا يملك تزويجها بغير إذنها، فأولى ألا يملك أن يوكل من يزوجها بغير إذنها.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5-الشاهدان: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لا نكاح إلاّ بولي وشاهدي عدل، وما كان غير ذلك فهو باطل.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شروط الشاهدين: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1</a:t>
            </a:r>
            <a:r>
              <a:rPr lang="ar-SA" sz="2400" b="1" dirty="0">
                <a:solidFill>
                  <a:schemeClr val="tx1"/>
                </a:solidFill>
                <a:latin typeface="Traditional Arabic" panose="02020603050405020304" pitchFamily="18" charset="-78"/>
                <a:cs typeface="Traditional Arabic" panose="02020603050405020304" pitchFamily="18" charset="-78"/>
              </a:rPr>
              <a:t>-</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الإسلام: فلا يصح عقد الزواج بشهادة غير المسلمين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2-الذكورة: فلا ينعقد عقد الزواج بشهادة النساء، ولا برجل وامرأتين. قال الزهري رحمه الله: مضت السنة عن الرسول صلى الله عليه وسلم: أنه لا تجوز شهادة النساء في الحدود، والنكاح والطلاق)</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3-العقل والبلوغ: فلا ينعقد عقد الزواج بحضور المجانين والصبيان فحسب.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4-العدالة ولو ظاهرا: يجب أن يكون الشاهدان عدلين، ولو من حيث الظاهر أي بأن يكونا مستوري الحال، غير ظاهري الفسق، فلا ينعقد الزواج بشهادة الفاسقين المجاهرين بفسقهم لعدم الوثوق بشهادتهم.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5-السمع: فلا ينعقد الزواج بشهادة أصمين، أو نائمين، لأن الغرض من الشهادة لا يتحقق بأمثالها،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6-البصر: فلا ينعقد بشهادة العميان، لأن الأقوال لا تثبت إلاّ بالمعاينة والسماع.</a:t>
            </a:r>
          </a:p>
        </p:txBody>
      </p:sp>
    </p:spTree>
    <p:extLst>
      <p:ext uri="{BB962C8B-B14F-4D97-AF65-F5344CB8AC3E}">
        <p14:creationId xmlns:p14="http://schemas.microsoft.com/office/powerpoint/2010/main" val="21404202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5F75B-A9BC-5FB1-5C51-7F50CDA9F744}"/>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84A2420B-1D93-365B-4ED8-323CAE24E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0C1EC18B-1749-F01D-13AE-6A497359C58C}"/>
              </a:ext>
            </a:extLst>
          </p:cNvPr>
          <p:cNvSpPr/>
          <p:nvPr/>
        </p:nvSpPr>
        <p:spPr>
          <a:xfrm>
            <a:off x="215653" y="143301"/>
            <a:ext cx="11664437" cy="6571397"/>
          </a:xfrm>
          <a:prstGeom prst="roundRect">
            <a:avLst>
              <a:gd name="adj" fmla="val 630"/>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الإشهاد على رضا الزوجة: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يستحب الإشهاد على رضا الزوجة بعقد النكاح، وذلك بأن يسمع شاهدان الشروط المذكورة في شروط الشاهدين إذن المرأة ورضاها بأن تقول: رضيت بهذا العقد، أو أذنت فيه، وذلك احتياطاً، ليؤمن إنكارها بعد ذلك.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الصَدّاق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الصداق: هو المال الذي وجب على الزوج دفعه لزوجته بسبب عقد النكاح.</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أحكام الصداق:</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حكمه:</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واجب على الزوج بمجرد تمام عقد الزواج، سواء سمي في العقد بمقدار معين من المال، أو لم يسم، حتى لو اتفق على نفيه، أو عدم تسميته، فالاتفاق باطل، والمهر لازم. </a:t>
            </a:r>
            <a:r>
              <a:rPr lang="ar-SA" sz="2400" dirty="0">
                <a:solidFill>
                  <a:prstClr val="black"/>
                </a:solidFill>
                <a:latin typeface="Traditional Arabic" panose="02020603050405020304" pitchFamily="18" charset="-78"/>
                <a:cs typeface="Traditional Arabic" panose="02020603050405020304" pitchFamily="18" charset="-78"/>
              </a:rPr>
              <a:t>و</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دليل وجوبه: </a:t>
            </a:r>
            <a:r>
              <a:rPr kumimoji="0" lang="ar-SA" sz="2400" b="1" i="0" u="none" strike="noStrike" kern="1200" cap="none" spc="0" normalizeH="0" baseline="0" noProof="0" dirty="0" err="1">
                <a:ln>
                  <a:noFill/>
                </a:ln>
                <a:solidFill>
                  <a:srgbClr val="FF0000"/>
                </a:solidFill>
                <a:effectLst/>
                <a:uLnTx/>
                <a:uFillTx/>
                <a:latin typeface="Traditional Arabic" panose="02020603050405020304" pitchFamily="18" charset="-78"/>
                <a:ea typeface="+mn-ea"/>
                <a:cs typeface="Traditional Arabic" panose="02020603050405020304" pitchFamily="18" charset="-78"/>
              </a:rPr>
              <a:t>وءَاتُوا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النِّسَاءَ صَدُقَاتِهِنَّ نِحْلَةً فَإِن طِبْنَ لَكُمْ عَن شَيْءٍ مِنْهُ نَفْسًا </a:t>
            </a:r>
            <a:r>
              <a:rPr kumimoji="0" lang="ar-SA" sz="2400" b="1" i="0" u="none" strike="noStrike" kern="1200" cap="none" spc="0" normalizeH="0" baseline="0" noProof="0" dirty="0" err="1">
                <a:ln>
                  <a:noFill/>
                </a:ln>
                <a:solidFill>
                  <a:srgbClr val="FF0000"/>
                </a:solidFill>
                <a:effectLst/>
                <a:uLnTx/>
                <a:uFillTx/>
                <a:latin typeface="Traditional Arabic" panose="02020603050405020304" pitchFamily="18" charset="-78"/>
                <a:ea typeface="+mn-ea"/>
                <a:cs typeface="Traditional Arabic" panose="02020603050405020304" pitchFamily="18" charset="-78"/>
              </a:rPr>
              <a:t>فَكُلُوهُ</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هَنِيئًا مَّرِيئًا.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حكمة تشريع الصداق: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والحكمة من تشريع المهر إنما هي </a:t>
            </a:r>
            <a:r>
              <a:rPr kumimoji="0" lang="ar-SA" sz="24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إظهار صدق رغبة الزوج في معاشرة زوجته معاشرة شريفة، وبناءً على حياة زوجية كريمة</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كما أنه فيه تمكين للمرأة من أن تتهيأ للزواج بما تحتاجه من لباس، ونفقات. وإنما جعل الإسلام الصداق على الزوج، رغبة منه في صيانة المرأة، من أن تمتهن كرامتها في سبيل جمع المال، الذي تقدمه مهرا للرجل.</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تسمية الصداق في العقد: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يسن تسمية المهر. أي تحديد مقداره. في عقد الزواج، لأن النبي صلى الله عليه وسلم لم يخل نكاحا من تسمية المهر فيه، ولأن في تسميته دفعا للخصومة بين الزوجين، وإنما لم يحملوا فعله صلى الله عليه وسلم على الوجوب، للاجتماع على جواز إخلاء عقد الزواج من تسمية المهر، وإن كان مع الكراهة لمخالفة فعل النبي صلى الله عليه وسلم.</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ملكية المهر: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والمهر ملك الزوجة وحدها، لا حق لأحد فيه من أوليائها، وإن كان لهم حق قبضه، لكنهم يقبضونه لحسابها وملكها. قال الله تعالى: ﴿وَإِنْ أَرَدتُّمُ اسْتِبْدَالَ زَوْجٍ مَكَانَ زَوْجٍ وَاتَيْتُمْ إِحْدَاهُنَّ قِنطَارًا فَلَا تَأْخُذُوا مِنْهُ شَيْئًا أَتَأْخُذُونَهُ بُهْتَنَا وَإِثْمًا مُّبِينًا﴾</a:t>
            </a:r>
          </a:p>
        </p:txBody>
      </p:sp>
    </p:spTree>
    <p:extLst>
      <p:ext uri="{BB962C8B-B14F-4D97-AF65-F5344CB8AC3E}">
        <p14:creationId xmlns:p14="http://schemas.microsoft.com/office/powerpoint/2010/main" val="3000252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C9FFE-CA33-8C1B-AFA0-E32F47A90105}"/>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2C2B0126-A8A5-EF07-C533-A498FE25A8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704C787E-0853-3AE0-B123-08DED7D6EDD1}"/>
              </a:ext>
            </a:extLst>
          </p:cNvPr>
          <p:cNvSpPr/>
          <p:nvPr/>
        </p:nvSpPr>
        <p:spPr>
          <a:xfrm>
            <a:off x="263781" y="143301"/>
            <a:ext cx="11664437" cy="6571397"/>
          </a:xfrm>
          <a:prstGeom prst="roundRect">
            <a:avLst>
              <a:gd name="adj" fmla="val 4875"/>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تعجيل المهر وتأجيله: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لا يشترط تعجيل المهر، بل يصح تعجيله كله قبل الدخول، ويصح تأجيله كله، أو تأجيل بعضه إلى ما بعد الدخول، ولكن </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يشترط أن يكون الأجل محددًا، وذلك لأن المهر ملك الزوجة،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فلها الحق في تعجيل وتأجيل ما شاءت منه. وإذا كان المهر معجلا، كان للزوجة الحق في حبس نفسها عن زوجها حتى تقبض معجل مهرها. أما إذا كان المهر مؤجلا، فلا حق لها في حبس نفسها عن زوجها، لأنها رضيت بالتأجيل، فسقط حقها في حبس نفسها.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استقرار المهر، أو نصفه، وسقوطه: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الحالات التي يستقر بها المهر على الزوج كله، أو نصفه، والحالات التي يسقط فيها المهر: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1-استقرار كل المهر: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ويستقر المهر كله في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حالتين: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ا</a:t>
            </a: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لأولى</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فيما إذا دخل الزوج بزوجته لزمه المهر كله، لأنه استوفى المعقود عليه وهو الاستمتاع، فلزمه العوض، روى مالك في الموطأ عن عمر رضي الله عنه: (أيما رجل تزوج امرأة.... فمسها فلها صداقها كاملا). فمسها أي دخل بها ووطأها.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الثانية: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موت أحد الزوجين، سواء حصل الموت قبل الدخول، أو بعده، ودليل ذلك إجماع الصحابة رضي الله عنهم.</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استقرار نصف المهر: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ويستقر على الزوج نصف مهر زوجته في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حالة واحدة،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وهي: ما إذا طلقها بعد عقد صحيح، سمي المهر فيه تسمية صحيحة، وكان هذا الطلاق قبل أن يدخل بها، ودليل هذا الحكم قول الله عز وجل: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وَإِن طَلَّقْتُمُوهُنَّ مِن قَبْلِ أَن تَمَسُّوهُنَّ وَقَدْ فَرَضْتُمْ لَهُنَّ فَرِيضَةً فَنِصْفُ مَا فَرَضْتُمْ إِلَّا أَن يَعْفُونَ أَوْ يَعْفُوا الَّذِي بِيَدِهِ عُقْدَةُ النِّكَاح..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سقوط المهر كله: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ويسقط المهر كله عن الزوج إذا فارقت الزوجة زوجها قبل الدخول بها، وكان هذا الفراق ناشئا بسبب منها، كما إذا أسلمت، فانفسخ النكاح، أو ارتدت، أو فسخت النكاح لعيب في الزوج أو فسخ الزوج النكاح لعيب فيها، فإنه يسقط المهر في هذه الحالات كلها، لأنها هي السبب في هذه الفرقة، وهي المختارة لها، فكأنها أتلفت المعوض قبل التسليم، فسقط العوض. والمعوّض: هنا هو تمكينها زوجها من نفسها. والعوض هو المهر.</a:t>
            </a:r>
          </a:p>
        </p:txBody>
      </p:sp>
    </p:spTree>
    <p:extLst>
      <p:ext uri="{BB962C8B-B14F-4D97-AF65-F5344CB8AC3E}">
        <p14:creationId xmlns:p14="http://schemas.microsoft.com/office/powerpoint/2010/main" val="10283093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45454-C6FA-4970-7012-7F176E3EC363}"/>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152F7351-4B19-20FA-9DE6-3E13808F96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BD7FCB93-D6FF-1133-A27D-F6863A0E21D9}"/>
              </a:ext>
            </a:extLst>
          </p:cNvPr>
          <p:cNvSpPr/>
          <p:nvPr/>
        </p:nvSpPr>
        <p:spPr>
          <a:xfrm>
            <a:off x="215653" y="143301"/>
            <a:ext cx="11664437" cy="6571397"/>
          </a:xfrm>
          <a:prstGeom prst="roundRect">
            <a:avLst>
              <a:gd name="adj" fmla="val 4167"/>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المغالاة في المهور: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يجعل كثير من الناس المهر كثمن للمرأة، ويظن أن المغالاة فيه إشعار برفعة أسرتها، وعظيم منزلتها، فلذلك يشتطون في مقدار المهر، ويغالون في تكبيره وتكثيره إظهارا منهم لقيمة المخطوبة، وتعزيزا لمكانة أسرتها، ومفاخرة على أمثالها في تجهيزها، وأثاث بيتها. لقد غاب عن خاطر هؤلاء أن المهر لا يعني شيئًا من هذا أبدا. وإنما هو رمز الصدق الرغبة في الزواج، وعطية لتكريم المرأة والتودد إليها في بناء الحياة الزوجية الكريمة، كما غاب عن خاطرهم المفاسد الاجتماعية التي تنجم عن هذا الشطط الممقوت، والضرر الذي يصيب المجتمع، والرجل والمرأة نفسها، كنتيجة لهذا الغلو البشع. وغاب عن خاطرهم أيضا: أنهم يخالفون سنة النبي صلى الله عليه وسلم يسلكون غير طريق البركة التي يسببها يسر المهر وبساطته.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أما المفاسد الاجتماعية التي تنجم عن المغالاة في المهور فكثيرة نذكر بعضا منها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إن المغالاة في المهور تصرف الشباب عن الزواج، ولاسيما الفقراء منهم، وتحول بينهم وبين الزواج، مما يجعلهم يسيرون في طريق الشيطان، ويلجؤون إلى الفاحشة، ويبحثون عن الرذيلة، فيتبدل الصلاح فسادًا، والطمأنينة ثورة، فتتلوث الأعراض، وتختلط الأنساب، وتكثر الأمراض. ولو كان للشباب أزواج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يعففنهم</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لحفظوا أخلاقهم، وحصنوا دينهم، وضمنوا لمجتمعهم السلامة من الإثم والفجور.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وأما المفاسد التي تصيب المرأة نفسها كنتيجة للمغالاة فيكفي أن نذكر منها</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إن كثيرا من النساء سوف يبقين عوانس محرومات من أخص ما تتطلبه </a:t>
            </a:r>
            <a:r>
              <a:rPr kumimoji="0" lang="ar-SA" sz="240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فطرتمن</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وتحفوا نحوه نفوسهن، وسيظللن يشعرن بفراغ مؤرق يقض مضاجعهن، ويشتقن إلى البيت الذي يقضي على وساوسهن، ويُشعرهن بنعمة الهدوء والاستقرار، فلا يجدنه، ولا يظفرن به، لأن آباءهن طلبوا مهورًا أعجز الكثير من خطابهن، هذا إذا لم يخرجن إلى الطرقات يعرضن فتنتهن، ويفسدن مجتمعهن. أما إذا خرجن - كما هو الغالب على هؤلاء العوانس. فالضرر عليهن أبلغ، والكارثة أعم وأفدح.</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والخلاصة: أن المغالاة في المهور مكروهة شرعًا، وأن اليُسر في المهور مندوب، ومن أسباب البركة والخير للرجال والنساء، والمجتمع.</a:t>
            </a:r>
          </a:p>
        </p:txBody>
      </p:sp>
    </p:spTree>
    <p:extLst>
      <p:ext uri="{BB962C8B-B14F-4D97-AF65-F5344CB8AC3E}">
        <p14:creationId xmlns:p14="http://schemas.microsoft.com/office/powerpoint/2010/main" val="18983290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77D3E-7EF7-E308-AF55-00CD6B27D6D6}"/>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BE3C79B3-17F1-1099-078E-C65D91BEDA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CC382D33-604B-788C-822D-435BF844C0DC}"/>
              </a:ext>
            </a:extLst>
          </p:cNvPr>
          <p:cNvSpPr/>
          <p:nvPr/>
        </p:nvSpPr>
        <p:spPr>
          <a:xfrm>
            <a:off x="100150" y="125128"/>
            <a:ext cx="11664437" cy="6445192"/>
          </a:xfrm>
          <a:prstGeom prst="roundRect">
            <a:avLst>
              <a:gd name="adj" fmla="val 8732"/>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defTabSz="914400" rtl="1" eaLnBrk="1" fontAlgn="auto" latinLnBrk="0" hangingPunct="1">
              <a:lnSpc>
                <a:spcPct val="100000"/>
              </a:lnSpc>
              <a:spcBef>
                <a:spcPts val="0"/>
              </a:spcBef>
              <a:spcAft>
                <a:spcPts val="0"/>
              </a:spcAft>
              <a:buClrTx/>
              <a:buSzTx/>
              <a:buFontTx/>
              <a:buNone/>
              <a:tabLst/>
              <a:defRPr/>
            </a:pPr>
            <a:endPar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endParaRPr lang="ar-SA" sz="2400" b="1" dirty="0">
              <a:solidFill>
                <a:srgbClr val="FF0000"/>
              </a:solidFill>
              <a:latin typeface="Traditional Arabic" panose="02020603050405020304" pitchFamily="18" charset="-78"/>
              <a:cs typeface="Traditional Arabic" panose="02020603050405020304" pitchFamily="18" charset="-78"/>
            </a:endParaRPr>
          </a:p>
          <a:p>
            <a:pPr marL="0" marR="0" lvl="0" indent="0"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أنواع الزواج: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زواج باطل، وزواج صحيح.</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الزواج الباطل: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هو الذي فقد ركنا من أركانه، أو شرطاً من شروط صحته، وهذا الزواج لا حكم له إلاّ الحرمة، ولا يترتب عليه أي أثر من آثار الزواج، اللهم إلاّ مهر المثل في بعض صور البطلان كما إذا تزوج من غير ولي للزوجة، ودخل بها. قال رسول الله صلى الله عليه وسلم: «أَيُّمَا امْرَأَةٍ نَكَحَتْ بِغَيْرِ إِذْنِ وَلِيْهَا فَنِكَاحُهَا بَاطِلٌ، فَنِكَاحُهَا بَاطِلٌ، فَنِكَاحُهَا بَاطِلٌ، فَإِنْ دَخَلَ بِهَا فَلَهَا المُهْرُ بِمَا اسْتَحَلَّ مِنْ فَرْجِهَا».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الزواج الصحيح: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فهو الذي استوفى أركانه، وشروط صحته، وهذا الزواج هو الذي تترتب عليه آثاره الآتي ذكرها.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ما يترتب على عقد الزواج الصحيح من حقوق وواجبات:</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1-حل استمتاع كل من الزوجين بالآخر على الوجه المشروع.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2-</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وجوب متابعة المرأة لزوجها، وطاعتها له، وتمكينها له من نفسها، ومحافظتها على بيته.</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3-</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المهر، وهو حق للزوجة على زوجها.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4-</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النفقة، وقد أجمع المسلمون على أن نفقة الزوجة واجبة على زوجها، والنفقة تشمل الطعام والشراب، والكسوة والمسكن.</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5-</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القسم بين الزوجات، إن كان للزوج أكثر من زوجة واحدة.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400" dirty="0">
                <a:solidFill>
                  <a:schemeClr val="tx1"/>
                </a:solidFill>
                <a:latin typeface="Traditional Arabic" panose="02020603050405020304" pitchFamily="18" charset="-78"/>
                <a:cs typeface="Traditional Arabic" panose="02020603050405020304" pitchFamily="18" charset="-78"/>
              </a:rPr>
              <a:t>6-</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النسب، ويثبت بالزواج بعد الدخول نسب الأولاد إلى أبيهم، إذا جاءت بهم الزوجة ضمن مدة الحمل المعروفة وأقلها ستة أشهر، وأكثرها أربع سنين.</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7-التوارث بين الزوجين بشروطه المعروفة في باب الإرث.</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سنن عقد النكاح:</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1-الخطبة قبيل عقد الزواج. 2-الدعاء للزوجين. 3-إعلان عقد الزواج. 4-الدعاء عند الدخول على الزوجة. 5- الوليمة. </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33527343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2A199-6CF8-9130-84F1-B218827909BB}"/>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9D8D094D-0F3D-C1E4-0168-69BE6E0ED0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CE978E19-A1E9-5D4D-2D43-497DDB6D9180}"/>
              </a:ext>
            </a:extLst>
          </p:cNvPr>
          <p:cNvSpPr/>
          <p:nvPr/>
        </p:nvSpPr>
        <p:spPr>
          <a:xfrm>
            <a:off x="263781" y="286603"/>
            <a:ext cx="11664437" cy="6571397"/>
          </a:xfrm>
          <a:prstGeom prst="roundRect">
            <a:avLst>
              <a:gd name="adj" fmla="val 3578"/>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النشوز</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النشوز: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العصيان، ونشوز المرأة: عصيانها زوجها، وتعاليها عما أوجب الله عليها من طاعته.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حكم النشوز: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حرام، وهو كبيرة من الكبائر، قال رسول الله صلى الله عليه وسلم: إذا دعا الرجل امرأته إلى فراشه، فلم تأته، فبات غضبان عليها لعنتها الملائكة حتى تصبح.</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بم يكون النشوز: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ويكون نشوز المرأة بخروجها عن طاعة زوجها، وعصيانها له، وذلك كأن خرجت من بيته بغير عذر من غير إذنه، أو سافرت بغير إذنه ورضاه، أو لم تفتح له الباب ليدخل، أو لم تمكنه من نفسها بلا عذر: كمرض أو دعاها فاشتغلت بحاجاتها، وغير ذلك.</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معالجة النشوز: </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إذا ظهرت من المرأة علامات النشوز: كأن وجد منها زوجها إعراضا وعبوسًا، بعد لطف وطلاقة وجه، استحب له أن يعظها بكتاب الله عز وجل، ويذكرها بما أوجب الله عليها. ويحذرها غضب الله سبحانه وتعالى وعقوبته. فإن استقامت فيها ونعمت. وإن تحقق نشوزها، وأصرت على إعراضها، هجرها في المضجع، والمراد بالهجر: أن يهجر فراشها، فلا يضاجعها فيه. فإن صلحت فذاك، وإن تكرر نشوزها، وأصرت على عصيانها، كان له أن يضربها ضرب تأديب غير مبرح، ودليل هذه الأحكام التي ذكرناها قول الله عز وجل</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الرِّجَالُ قَوَّامُونَ عَلَى النِّسَاءِ بِمَا فَضَّلَ اللَّهُ بَعْضَهُمْ عَلَى بَعْضٍ وَبِمَا أَنفَقُوا مِنْ أَمْوَالِهِمْ </a:t>
            </a:r>
            <a:r>
              <a:rPr kumimoji="0" lang="ar-SA" sz="2400" i="0" u="none" strike="noStrike" kern="1200" cap="none" spc="0" normalizeH="0" baseline="0" noProof="0" dirty="0" err="1">
                <a:ln>
                  <a:noFill/>
                </a:ln>
                <a:solidFill>
                  <a:srgbClr val="FF0000"/>
                </a:solidFill>
                <a:effectLst/>
                <a:uLnTx/>
                <a:uFillTx/>
                <a:latin typeface="Traditional Arabic" panose="02020603050405020304" pitchFamily="18" charset="-78"/>
                <a:ea typeface="+mn-ea"/>
                <a:cs typeface="Traditional Arabic" panose="02020603050405020304" pitchFamily="18" charset="-78"/>
              </a:rPr>
              <a:t>فَالصَّلِحَاتُ</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قَانِتَاتٌ حَافِظَاتُ لِلْغَيْبِ بِمَا حَفِظَ اللَّهُ وَالَّتِي تَخَافُونَ نُشُوزَهُنَّ فَعِظُوهُنَّ وَاهْجُرُوهُنَّ فِي الْمَضَاجِعِ وَاضْرِبُوهُنَّ فَإِنْ أَطَعْنَكُمْ فَلَا تَبْغُوا عَلَيْهِنَّ سَبِيلًا إِنَّ اللَّهَ كَانَ عَلِيًّا كَبِيرًا.</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فإن استحكم الخلاف بينهما، وتعذرت إزالته بواسطة الزوجين، ورفع الأمر إلى الحاكم، وجب عليه أن يوسط للإصلاح بينهما حكمين مسلمين عدلين عارفين بطرق الإصلاح. ويندب أن يكون أحدهما من أهل الزوج، والآخر من أهل الزوجة، وهذان الحكمان </a:t>
            </a:r>
            <a:r>
              <a:rPr kumimoji="0" lang="ar-SA" sz="2400" i="0" u="none" strike="noStrike" kern="1200" cap="none" spc="0" normalizeH="0" baseline="0" noProof="0" dirty="0" err="1">
                <a:ln>
                  <a:noFill/>
                </a:ln>
                <a:solidFill>
                  <a:schemeClr val="tx1"/>
                </a:solidFill>
                <a:effectLst/>
                <a:uLnTx/>
                <a:uFillTx/>
                <a:latin typeface="Traditional Arabic" panose="02020603050405020304" pitchFamily="18" charset="-78"/>
                <a:ea typeface="+mn-ea"/>
                <a:cs typeface="Traditional Arabic" panose="02020603050405020304" pitchFamily="18" charset="-78"/>
              </a:rPr>
              <a:t>وکيلان</a:t>
            </a:r>
            <a:r>
              <a:rPr kumimoji="0" lang="ar-SA" sz="2400" i="0" u="none" strike="noStrike" kern="1200" cap="none" spc="0" normalizeH="0" baseline="0" noProof="0" dirty="0">
                <a:ln>
                  <a:noFill/>
                </a:ln>
                <a:solidFill>
                  <a:schemeClr val="tx1"/>
                </a:solidFill>
                <a:effectLst/>
                <a:uLnTx/>
                <a:uFillTx/>
                <a:latin typeface="Traditional Arabic" panose="02020603050405020304" pitchFamily="18" charset="-78"/>
                <a:ea typeface="+mn-ea"/>
                <a:cs typeface="Traditional Arabic" panose="02020603050405020304" pitchFamily="18" charset="-78"/>
              </a:rPr>
              <a:t> للزوجين، فيشترط رضا كل من الزوجين بوكيله فيشرع الحكمان في الصلح بين الزوجين، ويبذلان وسعهما للوصول إليه، فإن أفلحا فبها ونعمت، وإن أخفقا، وكل الزوج حكمه بطلاقها، وقبول عوض الخلع منها، ووكلت هي أيضًا حكمها ببذل العوض، إن كانت رشيدة، وقبول الطلاق به ويفرق الحكمان بينهما إن رأياه صوابا.</a:t>
            </a:r>
          </a:p>
        </p:txBody>
      </p:sp>
    </p:spTree>
    <p:extLst>
      <p:ext uri="{BB962C8B-B14F-4D97-AF65-F5344CB8AC3E}">
        <p14:creationId xmlns:p14="http://schemas.microsoft.com/office/powerpoint/2010/main" val="24327747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198D1-A791-6E48-12E4-24864A9F34A5}"/>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C7A163AA-BAD0-F272-0DA0-3741B15268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مستطيل: زوايا مستديرة 3">
            <a:extLst>
              <a:ext uri="{FF2B5EF4-FFF2-40B4-BE49-F238E27FC236}">
                <a16:creationId xmlns:a16="http://schemas.microsoft.com/office/drawing/2014/main" id="{B6EDCD00-3220-00E8-29C0-79FB66D51F98}"/>
              </a:ext>
            </a:extLst>
          </p:cNvPr>
          <p:cNvSpPr/>
          <p:nvPr/>
        </p:nvSpPr>
        <p:spPr>
          <a:xfrm>
            <a:off x="215653" y="143301"/>
            <a:ext cx="11664437" cy="6571397"/>
          </a:xfrm>
          <a:prstGeom prst="roundRect">
            <a:avLst>
              <a:gd name="adj" fmla="val 1691"/>
            </a:avLst>
          </a:prstGeom>
          <a:solidFill>
            <a:schemeClr val="accent1">
              <a:lumMod val="20000"/>
              <a:lumOff val="80000"/>
            </a:schemeClr>
          </a:solidFill>
          <a:ln w="38100"/>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وإذا اختلف الحكمان، ولم يتوصلا إلى رأي واحد، بعث القاضي حكمين غيرهما حتى يجتمعا على شيء واحد، فإن لم يرض الزوجان ببعث الحكمين، ولم يتفقا على شيء أدب القاضي الظالم منهما، واستوفى للمظلوم حقه، وعمل بشهادة الحكمين، قال الله تعالى: ﴿</a:t>
            </a:r>
            <a:r>
              <a:rPr kumimoji="0" lang="ar-SA" sz="240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وَإِنْ خِفْتُمْ شِقَاقَ بَيْنِهِمَا فَابْعَثُوا حَكَمًا مِّنْ أَهْلِهِ، وَحَكَمًا مِنْ أَهْلِهَا إِن يُرِيدَا إِصْلَاحًا يُوَفِّقِ اللَّهُ بَيْنَهُمَا إِنَّ اللَّهَ كَانَ عَلِيمًا خَبِيرًا.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نشوز الزوج: </a:t>
            </a:r>
            <a:r>
              <a:rPr kumimoji="0" lang="ar-SA" sz="24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وإذا كان الإجحاف والإعراض من قبل الزوج : وذلك كأن منعها حقها في القسم، أو النفقة، أو أغلظ عليها بالقول، أو الفعل، وعظته وذكرته بحقها عليه، وحذرته من عواقب ظلمها، فإن صلح فذاك، وإن لم يصلح رفعت أمرها إلى القاضي ليستخلص لها حقها لأنه منصوب لرد الحقوق إلى أصحابها، ولأنها لا يمكنها أن تأخذ حقها بنفسها. ويجب على القاضي أن يلزمه بالقسم لها، وأداء حقوقها، وكف الظلم عنها. فإن ساء خلقه، وآذاها بضربها، أو بسبها بغير سبب نهاه القاضي عن ذلك، فإن عاد إليه، وطلبت الزوجة من القاضي تعزيره، عزره بما يراه سبيلا إلى إصلاحه. فإن اشتد الخلاف أرسل حكمين كما سبق ليصلحا بينهما، أو يفرقا بينهما بطلقة إن عسر الإصلاح.</a:t>
            </a:r>
          </a:p>
        </p:txBody>
      </p:sp>
    </p:spTree>
    <p:extLst>
      <p:ext uri="{BB962C8B-B14F-4D97-AF65-F5344CB8AC3E}">
        <p14:creationId xmlns:p14="http://schemas.microsoft.com/office/powerpoint/2010/main" val="3345965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BE0CF44-AA00-47FC-93ED-6EF5BEB1CB8B}">
  <we:reference id="wa200005566" version="3.0.0.2" store="ar-SA"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4256</TotalTime>
  <Words>23846</Words>
  <Application>Microsoft Office PowerPoint</Application>
  <PresentationFormat>شاشة عريضة</PresentationFormat>
  <Paragraphs>1050</Paragraphs>
  <Slides>84</Slides>
  <Notes>2</Notes>
  <HiddenSlides>0</HiddenSlides>
  <MMClips>0</MMClips>
  <ScaleCrop>false</ScaleCrop>
  <HeadingPairs>
    <vt:vector size="6" baseType="variant">
      <vt:variant>
        <vt:lpstr>الخطوط المستخدمة</vt:lpstr>
      </vt:variant>
      <vt:variant>
        <vt:i4>4</vt:i4>
      </vt:variant>
      <vt:variant>
        <vt:lpstr>نسق</vt:lpstr>
      </vt:variant>
      <vt:variant>
        <vt:i4>1</vt:i4>
      </vt:variant>
      <vt:variant>
        <vt:lpstr>عناوين الشرائح</vt:lpstr>
      </vt:variant>
      <vt:variant>
        <vt:i4>84</vt:i4>
      </vt:variant>
    </vt:vector>
  </HeadingPairs>
  <TitlesOfParts>
    <vt:vector size="89" baseType="lpstr">
      <vt:lpstr>Arial</vt:lpstr>
      <vt:lpstr>Calibri</vt:lpstr>
      <vt:lpstr>Calibri Light</vt:lpstr>
      <vt:lpstr>Traditional Arabic</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Abdulazız HABLAS</dc:creator>
  <cp:lastModifiedBy>Abdulazız HABLAS</cp:lastModifiedBy>
  <cp:revision>275</cp:revision>
  <dcterms:created xsi:type="dcterms:W3CDTF">2024-02-06T16:58:58Z</dcterms:created>
  <dcterms:modified xsi:type="dcterms:W3CDTF">2026-09-28T18:14:47Z</dcterms:modified>
</cp:coreProperties>
</file>