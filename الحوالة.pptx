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6"/>
  </p:notesMasterIdLst>
  <p:sldIdLst>
    <p:sldId id="2140756596" r:id="rId2"/>
    <p:sldId id="2140756627" r:id="rId3"/>
    <p:sldId id="2140756602" r:id="rId4"/>
    <p:sldId id="2140756603" r:id="rId5"/>
    <p:sldId id="2140756604" r:id="rId6"/>
    <p:sldId id="2140756628" r:id="rId7"/>
    <p:sldId id="2140756629" r:id="rId8"/>
    <p:sldId id="2140756605" r:id="rId9"/>
    <p:sldId id="2140756625" r:id="rId10"/>
    <p:sldId id="2140756614" r:id="rId11"/>
    <p:sldId id="2140756617" r:id="rId12"/>
    <p:sldId id="2140756619" r:id="rId13"/>
    <p:sldId id="2140756599" r:id="rId14"/>
    <p:sldId id="2140756626" r:id="rId15"/>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987" autoAdjust="0"/>
    <p:restoredTop sz="94660"/>
  </p:normalViewPr>
  <p:slideViewPr>
    <p:cSldViewPr snapToGrid="0">
      <p:cViewPr varScale="1">
        <p:scale>
          <a:sx n="76" d="100"/>
          <a:sy n="76" d="100"/>
        </p:scale>
        <p:origin x="1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5D4E5BF1-CE15-4358-B9CC-3E7A15257E9C}" type="datetimeFigureOut">
              <a:rPr lang="ar-SA" smtClean="0"/>
              <a:t>16/04/48</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BF99D768-7054-41FB-9A07-E91488F6E0BF}" type="slidenum">
              <a:rPr lang="ar-SA" smtClean="0"/>
              <a:t>‹#›</a:t>
            </a:fld>
            <a:endParaRPr lang="ar-SA"/>
          </a:p>
        </p:txBody>
      </p:sp>
    </p:spTree>
    <p:extLst>
      <p:ext uri="{BB962C8B-B14F-4D97-AF65-F5344CB8AC3E}">
        <p14:creationId xmlns:p14="http://schemas.microsoft.com/office/powerpoint/2010/main" val="264666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BF99D768-7054-41FB-9A07-E91488F6E0BF}" type="slidenum">
              <a:rPr lang="ar-SA" smtClean="0"/>
              <a:t>9</a:t>
            </a:fld>
            <a:endParaRPr lang="ar-SA"/>
          </a:p>
        </p:txBody>
      </p:sp>
    </p:spTree>
    <p:extLst>
      <p:ext uri="{BB962C8B-B14F-4D97-AF65-F5344CB8AC3E}">
        <p14:creationId xmlns:p14="http://schemas.microsoft.com/office/powerpoint/2010/main" val="3156402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71B011E-7FBA-4DEF-6571-3310854B5FB7}"/>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55F766F7-453E-73FE-5A57-C5777A29D8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E2626DD4-8D30-6E85-EEC6-578443D10AD7}"/>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5" name="عنصر نائب للتذييل 4">
            <a:extLst>
              <a:ext uri="{FF2B5EF4-FFF2-40B4-BE49-F238E27FC236}">
                <a16:creationId xmlns:a16="http://schemas.microsoft.com/office/drawing/2014/main" id="{F84F7FF6-2B36-FB1A-54CA-6A9E61068093}"/>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73930E01-7487-C357-B560-F2CE0767E25D}"/>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1590102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D1C68F4-5B4E-1796-9E2F-9B643DC668E8}"/>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AC0236E0-E6E4-DC0B-023F-DF0AD87D8FCB}"/>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EA657FC2-23A0-3033-3DFF-3146F8E84D40}"/>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5" name="عنصر نائب للتذييل 4">
            <a:extLst>
              <a:ext uri="{FF2B5EF4-FFF2-40B4-BE49-F238E27FC236}">
                <a16:creationId xmlns:a16="http://schemas.microsoft.com/office/drawing/2014/main" id="{1E515677-1F5D-A01F-6D6C-5CB4F3A1ACC4}"/>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188C0DE5-39F8-FE18-82B6-CEF93F3714C5}"/>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194852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64C616B-D97C-89A8-A8E6-C4BA25FA8ABF}"/>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A6500B03-F686-568B-A158-BDB3DDF5D1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1B5B2F8F-839E-513D-C335-6810AF20FE1B}"/>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5" name="عنصر نائب للتذييل 4">
            <a:extLst>
              <a:ext uri="{FF2B5EF4-FFF2-40B4-BE49-F238E27FC236}">
                <a16:creationId xmlns:a16="http://schemas.microsoft.com/office/drawing/2014/main" id="{8A1D3962-9C3A-37F2-8343-3E6FAC2560F4}"/>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6520137E-C441-B8F0-E0E7-AC74E6120183}"/>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2003157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8E8F21A-41BB-9221-9221-513930D0AD53}"/>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F63AB031-853B-9DDE-930C-7A377911BCFC}"/>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FCB2BD2A-92D6-7A81-EA80-6AB3FBA98DFF}"/>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93836B0F-A235-4FDE-0606-643720A624B7}"/>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6" name="عنصر نائب للتذييل 5">
            <a:extLst>
              <a:ext uri="{FF2B5EF4-FFF2-40B4-BE49-F238E27FC236}">
                <a16:creationId xmlns:a16="http://schemas.microsoft.com/office/drawing/2014/main" id="{F25448D7-56CF-65FE-9D8F-7A401CA2BB65}"/>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4B043F4F-E2BB-A371-FB31-F19B92A30EAF}"/>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437207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A0A91F8-1B57-9308-690E-DED79A4B2218}"/>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CA723530-FA45-1C9E-AE1B-C291CF91F1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2D19525F-C0FE-E8BD-2C03-DC932D6BDF91}"/>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AEBD81BB-A93A-C569-11FC-820DE9C723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E373CA15-6FC4-3968-150E-7BC8CCAAC99E}"/>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93DC1406-6334-2CB5-093D-3DB12648DDFA}"/>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8" name="عنصر نائب للتذييل 7">
            <a:extLst>
              <a:ext uri="{FF2B5EF4-FFF2-40B4-BE49-F238E27FC236}">
                <a16:creationId xmlns:a16="http://schemas.microsoft.com/office/drawing/2014/main" id="{D7A0C0F7-AFFF-B2A9-AD6B-C136ED447060}"/>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9A113EB3-5474-6098-5891-A07E492D07CE}"/>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2064932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2E63007-7718-A400-A1D6-4A8D459DE95B}"/>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DD939C7F-45DB-6DA3-BAFA-34E63ECC343E}"/>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4" name="عنصر نائب للتذييل 3">
            <a:extLst>
              <a:ext uri="{FF2B5EF4-FFF2-40B4-BE49-F238E27FC236}">
                <a16:creationId xmlns:a16="http://schemas.microsoft.com/office/drawing/2014/main" id="{8B7BAC17-DEB6-FB32-D65E-CC36C0AFBAED}"/>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54D6031C-73C6-B56E-1F38-28A2F6B463B6}"/>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1598932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3A84028C-5C02-2CCA-AEB1-81B7C0A65ABA}"/>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3" name="عنصر نائب للتذييل 2">
            <a:extLst>
              <a:ext uri="{FF2B5EF4-FFF2-40B4-BE49-F238E27FC236}">
                <a16:creationId xmlns:a16="http://schemas.microsoft.com/office/drawing/2014/main" id="{617018D7-3A8F-2CBC-F77A-77DB7CE7331D}"/>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848634D1-2F5F-07E5-A9EC-E91799E05A9A}"/>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3910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F32C24C-528B-1926-000B-2974CF4C18F7}"/>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9146164E-68C6-1374-BA43-F65701EA5C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2D5F8F15-1201-E028-5038-43F97FEEB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495CEA65-A8B1-D203-5FF4-4FA63B22CDF2}"/>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6" name="عنصر نائب للتذييل 5">
            <a:extLst>
              <a:ext uri="{FF2B5EF4-FFF2-40B4-BE49-F238E27FC236}">
                <a16:creationId xmlns:a16="http://schemas.microsoft.com/office/drawing/2014/main" id="{45A6D960-63EB-30CF-CEE5-0866C217F9EE}"/>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97E621AB-0F70-35C6-4307-791ACFE3B63E}"/>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865460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67DDFE6-3542-EAE8-92F5-E1D276A115EB}"/>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4D928B41-6310-68AF-7630-5461B02D50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SA"/>
              <a:t>انقر فوق الأيقونة لإضافة صورة</a:t>
            </a:r>
          </a:p>
        </p:txBody>
      </p:sp>
      <p:sp>
        <p:nvSpPr>
          <p:cNvPr id="4" name="عنصر نائب للنص 3">
            <a:extLst>
              <a:ext uri="{FF2B5EF4-FFF2-40B4-BE49-F238E27FC236}">
                <a16:creationId xmlns:a16="http://schemas.microsoft.com/office/drawing/2014/main" id="{0AAF2516-A8B9-6121-0297-82540FADA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88EB23DC-8F13-306D-7097-6CE590AFE977}"/>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6" name="عنصر نائب للتذييل 5">
            <a:extLst>
              <a:ext uri="{FF2B5EF4-FFF2-40B4-BE49-F238E27FC236}">
                <a16:creationId xmlns:a16="http://schemas.microsoft.com/office/drawing/2014/main" id="{1749FE91-D04A-1554-AFFE-5BFE31477E0A}"/>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1FB53A95-2C06-5B22-63C4-9EAFAF989F6F}"/>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488648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F6C04C4-1E20-5517-85EA-0FB8AE883CE4}"/>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5B5D9CA6-F48E-4D46-D814-9843D44C4995}"/>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A4357AE-ECEE-D9FA-2788-62DCAADF0650}"/>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5" name="عنصر نائب للتذييل 4">
            <a:extLst>
              <a:ext uri="{FF2B5EF4-FFF2-40B4-BE49-F238E27FC236}">
                <a16:creationId xmlns:a16="http://schemas.microsoft.com/office/drawing/2014/main" id="{CFFC4DE4-FCBC-2A0F-1F10-968B40AF86D1}"/>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A206FEAA-7EF3-BEAB-719F-F316B9093386}"/>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155425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C5CA6097-25AD-1D70-A7B4-81620254A52C}"/>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DD945563-1F23-3746-55DF-ECD8B2ABE633}"/>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95D872E4-D310-8CF1-DE16-3CDE7CFCA6BD}"/>
              </a:ext>
            </a:extLst>
          </p:cNvPr>
          <p:cNvSpPr>
            <a:spLocks noGrp="1"/>
          </p:cNvSpPr>
          <p:nvPr>
            <p:ph type="dt" sz="half" idx="10"/>
          </p:nvPr>
        </p:nvSpPr>
        <p:spPr/>
        <p:txBody>
          <a:bodyPr/>
          <a:lstStyle/>
          <a:p>
            <a:fld id="{9B7F31C2-A609-44FC-995F-E58045896070}" type="datetimeFigureOut">
              <a:rPr lang="ar-SA" smtClean="0"/>
              <a:t>16/04/48</a:t>
            </a:fld>
            <a:endParaRPr lang="ar-SA"/>
          </a:p>
        </p:txBody>
      </p:sp>
      <p:sp>
        <p:nvSpPr>
          <p:cNvPr id="5" name="عنصر نائب للتذييل 4">
            <a:extLst>
              <a:ext uri="{FF2B5EF4-FFF2-40B4-BE49-F238E27FC236}">
                <a16:creationId xmlns:a16="http://schemas.microsoft.com/office/drawing/2014/main" id="{1746B731-E892-72C9-3634-DC7BFDB21E1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E559087D-DC40-418F-79DD-F977CE55B2DA}"/>
              </a:ext>
            </a:extLst>
          </p:cNvPr>
          <p:cNvSpPr>
            <a:spLocks noGrp="1"/>
          </p:cNvSpPr>
          <p:nvPr>
            <p:ph type="sldNum" sz="quarter" idx="12"/>
          </p:nvPr>
        </p:nvSpPr>
        <p:spPr/>
        <p:txBody>
          <a:bodyPr/>
          <a:lstStyle/>
          <a:p>
            <a:fld id="{76A85282-7D33-461E-BC93-E94A4C442291}" type="slidenum">
              <a:rPr lang="ar-SA" smtClean="0"/>
              <a:t>‹#›</a:t>
            </a:fld>
            <a:endParaRPr lang="ar-SA"/>
          </a:p>
        </p:txBody>
      </p:sp>
    </p:spTree>
    <p:extLst>
      <p:ext uri="{BB962C8B-B14F-4D97-AF65-F5344CB8AC3E}">
        <p14:creationId xmlns:p14="http://schemas.microsoft.com/office/powerpoint/2010/main" val="3858494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BF658E86-8099-E508-3258-6F5B7E6A3659}"/>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F70708C-1A2B-2704-E5B0-78F92C48DA46}"/>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48D0FCCD-5226-1BDA-CBD9-E83416F9C01F}"/>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9B7F31C2-A609-44FC-995F-E58045896070}" type="datetimeFigureOut">
              <a:rPr lang="ar-SA" smtClean="0"/>
              <a:t>16/04/48</a:t>
            </a:fld>
            <a:endParaRPr lang="ar-SA"/>
          </a:p>
        </p:txBody>
      </p:sp>
      <p:sp>
        <p:nvSpPr>
          <p:cNvPr id="5" name="عنصر نائب للتذييل 4">
            <a:extLst>
              <a:ext uri="{FF2B5EF4-FFF2-40B4-BE49-F238E27FC236}">
                <a16:creationId xmlns:a16="http://schemas.microsoft.com/office/drawing/2014/main" id="{02D705E1-8C23-1AC6-A349-546F29099E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2E71FCAB-CAFA-CCE5-77C3-5B104083D9E0}"/>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76A85282-7D33-461E-BC93-E94A4C442291}" type="slidenum">
              <a:rPr lang="ar-SA" smtClean="0"/>
              <a:t>‹#›</a:t>
            </a:fld>
            <a:endParaRPr lang="ar-SA"/>
          </a:p>
        </p:txBody>
      </p:sp>
    </p:spTree>
    <p:extLst>
      <p:ext uri="{BB962C8B-B14F-4D97-AF65-F5344CB8AC3E}">
        <p14:creationId xmlns:p14="http://schemas.microsoft.com/office/powerpoint/2010/main" val="2538291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449B-0E2E-A73C-8965-1614720ACB7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0C2238F-C48E-7BE4-A972-5A9263323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68151A63-E7C4-3605-B02D-8557BDB54814}"/>
              </a:ext>
            </a:extLst>
          </p:cNvPr>
          <p:cNvSpPr/>
          <p:nvPr/>
        </p:nvSpPr>
        <p:spPr>
          <a:xfrm>
            <a:off x="140677" y="1"/>
            <a:ext cx="12192000" cy="6857999"/>
          </a:xfrm>
          <a:prstGeom prst="roundRect">
            <a:avLst>
              <a:gd name="adj" fmla="val 6981"/>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ctr"/>
            <a:endParaRPr lang="ar-SA" sz="2800" b="1" dirty="0">
              <a:solidFill>
                <a:srgbClr val="FF0000"/>
              </a:solidFill>
              <a:latin typeface="Traditional Arabic" panose="02020603050405020304" pitchFamily="18" charset="-78"/>
              <a:cs typeface="Traditional Arabic" panose="02020603050405020304" pitchFamily="18" charset="-78"/>
            </a:endParaRPr>
          </a:p>
          <a:p>
            <a:pPr algn="ctr"/>
            <a:r>
              <a:rPr lang="ar-SA" sz="2800" b="1" dirty="0">
                <a:solidFill>
                  <a:srgbClr val="FF0000"/>
                </a:solidFill>
                <a:latin typeface="Traditional Arabic" panose="02020603050405020304" pitchFamily="18" charset="-78"/>
                <a:cs typeface="Traditional Arabic" panose="02020603050405020304" pitchFamily="18" charset="-78"/>
              </a:rPr>
              <a:t>الحوالة</a:t>
            </a:r>
          </a:p>
          <a:p>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الحمد لله رب العالمين، والصلاة والسلام على أشرف المرسلين، سيدنا ونبينا محمد، وعلى </a:t>
            </a:r>
            <a:r>
              <a:rPr kumimoji="0" lang="ar-SA" sz="28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آله</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وصحبه أجمعين.</a:t>
            </a:r>
          </a:p>
          <a:p>
            <a:r>
              <a:rPr lang="ar-SA" sz="2800" b="1" dirty="0">
                <a:solidFill>
                  <a:srgbClr val="FF0000"/>
                </a:solidFill>
                <a:latin typeface="Traditional Arabic" panose="02020603050405020304" pitchFamily="18" charset="-78"/>
                <a:cs typeface="Traditional Arabic" panose="02020603050405020304" pitchFamily="18" charset="-78"/>
              </a:rPr>
              <a:t>الهدف من المعيار: </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بيان أحكام الحوالة (حوالة الدين) وأنواعها وشروطها وضوابطها وما يجوز منها وما لا يجوز، وتطبيقات الحوالة في معاملات المؤسسات المالية الإسلامية </a:t>
            </a:r>
            <a:endParaRPr lang="ar-SA" sz="2800" b="1" dirty="0">
              <a:solidFill>
                <a:srgbClr val="FF0000"/>
              </a:solidFill>
              <a:latin typeface="Traditional Arabic" panose="02020603050405020304" pitchFamily="18" charset="-78"/>
              <a:cs typeface="Traditional Arabic" panose="02020603050405020304" pitchFamily="18" charset="-78"/>
            </a:endParaRPr>
          </a:p>
          <a:p>
            <a:pPr algn="just"/>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نطاق المعيار: </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يتناول هذا المعيار الحوالة التي يقصد منها تغير المدين وهي حوالة الدين.</a:t>
            </a:r>
          </a:p>
          <a:p>
            <a:pPr algn="just"/>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ولا يتناول هذا المعيار حوالة الحق ولا التحويلات المصرفية ما عدا بعض الحالات التي فيها معنى الحوالة (حوالة الدين).</a:t>
            </a:r>
          </a:p>
          <a:p>
            <a:pPr algn="just"/>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تعريف الحوالة:</a:t>
            </a:r>
          </a:p>
          <a:p>
            <a:pPr algn="just"/>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حوالة الدين هي نقل الدين من ذمة المُحِيل إلى ذمة المحال عليه؛ أي يتغير فيها المدين إلى مدين آخر، وتختلف عن حوالة الحق التي هي حلول دائن محل دائن آخر.</a:t>
            </a:r>
          </a:p>
          <a:p>
            <a:pPr algn="just"/>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مشروعية الحوالة:</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١/٣ </a:t>
            </a:r>
            <a:r>
              <a:rPr kumimoji="0" lang="ar-SA" sz="280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الحوالة</a:t>
            </a:r>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مشروعة </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وهي: عقد إرفاق قائم بذاته وليست بيعًا، وقد شرعت لتكون وسيلة لتسهيل الاستيفاء والإيفاء.</a:t>
            </a:r>
            <a:endParaRPr lang="ar-SA" sz="2800" dirty="0">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800" dirty="0">
                <a:latin typeface="Traditional Arabic" panose="02020603050405020304" pitchFamily="18" charset="-78"/>
                <a:cs typeface="Traditional Arabic" panose="02020603050405020304" pitchFamily="18" charset="-78"/>
              </a:rPr>
              <a:t>الحوالة مشروعة بالسنة والإجماع والمعقول. فقد روى الإمامان البخاري ومسلم عن أبي هريرة رضي الله عنه أن رسول الله ﷺ قال: «مطل الغني ظلم، وإذا أتبع أحدكم على مليء فَلْيَتْبَع ) فأمر النبي عليه الصلاة والسلام بالاتباع دليل على مشروعيتها وإلاّ لما كان قد أمر بها .</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800" dirty="0">
                <a:latin typeface="Traditional Arabic" panose="02020603050405020304" pitchFamily="18" charset="-78"/>
                <a:cs typeface="Traditional Arabic" panose="02020603050405020304" pitchFamily="18" charset="-78"/>
              </a:rPr>
              <a:t>كما أجمعت الأمة على مشروعية الحوالة ولم يخالف أحد منهم في جميع الأعصار والأمصار.</a:t>
            </a:r>
          </a:p>
          <a:p>
            <a:pPr algn="just"/>
            <a:endPar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2345205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F449B-0E2E-A73C-8965-1614720ACB74}"/>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A0C2238F-C48E-7BE4-A972-5A9263323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68151A63-E7C4-3605-B02D-8557BDB54814}"/>
              </a:ext>
            </a:extLst>
          </p:cNvPr>
          <p:cNvSpPr/>
          <p:nvPr/>
        </p:nvSpPr>
        <p:spPr>
          <a:xfrm>
            <a:off x="140677" y="1"/>
            <a:ext cx="12192000" cy="6857999"/>
          </a:xfrm>
          <a:prstGeom prst="roundRect">
            <a:avLst>
              <a:gd name="adj" fmla="val 6981"/>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endParaRPr lang="ar-SA" sz="2800" dirty="0">
              <a:solidFill>
                <a:prstClr val="black"/>
              </a:solidFill>
              <a:latin typeface="Traditional Arabic" panose="02020603050405020304" pitchFamily="18" charset="-78"/>
              <a:cs typeface="Traditional Arabic" panose="02020603050405020304" pitchFamily="18" charset="-78"/>
            </a:endParaRPr>
          </a:p>
          <a:p>
            <a:pPr algn="just"/>
            <a:endPar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algn="just"/>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p>
          <a:p>
            <a:pPr algn="just"/>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٢/٣الحوالة</a:t>
            </a:r>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 مستحبة </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بالنسبة للمحال إذا علم ملاءة المحال عليه وحسن قضائه والحكمة فيها انتفاع الدائن والتخفيف والتيسير على المدين. </a:t>
            </a:r>
          </a:p>
          <a:p>
            <a:pPr algn="just"/>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٣/٣ وتكون الحوالة </a:t>
            </a:r>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مباحة</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إذا لم يعلم المحال حال المحال عليه.</a:t>
            </a:r>
            <a:r>
              <a:rPr lang="ar-SA" sz="2800" dirty="0">
                <a:latin typeface="Traditional Arabic" panose="02020603050405020304" pitchFamily="18" charset="-78"/>
                <a:cs typeface="Traditional Arabic" panose="02020603050405020304" pitchFamily="18" charset="-78"/>
              </a:rPr>
              <a:t> </a:t>
            </a:r>
          </a:p>
          <a:p>
            <a:pPr algn="just"/>
            <a:r>
              <a:rPr lang="ar-SA" sz="2800" dirty="0">
                <a:latin typeface="Traditional Arabic" panose="02020603050405020304" pitchFamily="18" charset="-78"/>
                <a:cs typeface="Traditional Arabic" panose="02020603050405020304" pitchFamily="18" charset="-78"/>
              </a:rPr>
              <a:t>ومستند كونها مباحة في حقه إذا لم يعلم حال المحال عليه أن الأمر الوارد في الحديث مقيد بكون المحال عليه مليئًا فإن لم يكن مليئًا يبقى الأمر على الإباحة.</a:t>
            </a:r>
          </a:p>
          <a:p>
            <a:pPr algn="just"/>
            <a:r>
              <a:rPr lang="ar-SA" sz="2800" b="1" dirty="0">
                <a:solidFill>
                  <a:srgbClr val="FF0000"/>
                </a:solidFill>
                <a:latin typeface="Traditional Arabic" panose="02020603050405020304" pitchFamily="18" charset="-78"/>
                <a:cs typeface="Traditional Arabic" panose="02020603050405020304" pitchFamily="18" charset="-78"/>
              </a:rPr>
              <a:t> الحوالة شرعًا: </a:t>
            </a:r>
            <a:r>
              <a:rPr lang="ar-SA" sz="2800" dirty="0">
                <a:latin typeface="Traditional Arabic" panose="02020603050405020304" pitchFamily="18" charset="-78"/>
                <a:cs typeface="Traditional Arabic" panose="02020603050405020304" pitchFamily="18" charset="-78"/>
              </a:rPr>
              <a:t>هي نقل الدين من ذمة المحيل إلى ذمة المحال عليه.</a:t>
            </a:r>
          </a:p>
          <a:p>
            <a:pPr algn="just"/>
            <a:r>
              <a:rPr lang="ar-SA" sz="2800" b="1" dirty="0">
                <a:solidFill>
                  <a:srgbClr val="FF0000"/>
                </a:solidFill>
                <a:latin typeface="Traditional Arabic" panose="02020603050405020304" pitchFamily="18" charset="-78"/>
                <a:cs typeface="Traditional Arabic" panose="02020603050405020304" pitchFamily="18" charset="-78"/>
              </a:rPr>
              <a:t>المحيل: </a:t>
            </a:r>
            <a:r>
              <a:rPr lang="ar-SA" sz="2800" dirty="0">
                <a:latin typeface="Traditional Arabic" panose="02020603050405020304" pitchFamily="18" charset="-78"/>
                <a:cs typeface="Traditional Arabic" panose="02020603050405020304" pitchFamily="18" charset="-78"/>
              </a:rPr>
              <a:t>هو الشخص الذي أحال، وهو المدين الذي عليه الدين الأصلي، وقد يكون دائنا في بعض أنواع الحوالة </a:t>
            </a:r>
          </a:p>
          <a:p>
            <a:pPr algn="just"/>
            <a:r>
              <a:rPr lang="ar-SA" sz="2800" b="1" dirty="0">
                <a:solidFill>
                  <a:srgbClr val="FF0000"/>
                </a:solidFill>
                <a:latin typeface="Traditional Arabic" panose="02020603050405020304" pitchFamily="18" charset="-78"/>
                <a:cs typeface="Traditional Arabic" panose="02020603050405020304" pitchFamily="18" charset="-78"/>
              </a:rPr>
              <a:t>المحال: </a:t>
            </a:r>
            <a:r>
              <a:rPr lang="ar-SA" sz="2800" dirty="0">
                <a:latin typeface="Traditional Arabic" panose="02020603050405020304" pitchFamily="18" charset="-78"/>
                <a:cs typeface="Traditional Arabic" panose="02020603050405020304" pitchFamily="18" charset="-78"/>
              </a:rPr>
              <a:t>هو الشخص الذي أخذ الحوالة وهو الدائن، ويقال له محال له ومحتال له.</a:t>
            </a:r>
          </a:p>
          <a:p>
            <a:pPr algn="just"/>
            <a:r>
              <a:rPr lang="ar-SA" sz="2800" b="1" dirty="0">
                <a:solidFill>
                  <a:srgbClr val="FF0000"/>
                </a:solidFill>
                <a:latin typeface="Traditional Arabic" panose="02020603050405020304" pitchFamily="18" charset="-78"/>
                <a:cs typeface="Traditional Arabic" panose="02020603050405020304" pitchFamily="18" charset="-78"/>
              </a:rPr>
              <a:t>المحال عليه: </a:t>
            </a:r>
            <a:r>
              <a:rPr lang="ar-SA" sz="2800" dirty="0">
                <a:latin typeface="Traditional Arabic" panose="02020603050405020304" pitchFamily="18" charset="-78"/>
                <a:cs typeface="Traditional Arabic" panose="02020603050405020304" pitchFamily="18" charset="-78"/>
              </a:rPr>
              <a:t>هو الشخص الذي يقبل الحوالة على نفسه، وهو صاحب الذمة التي نقل إليها الدين، ويقال له محال عليه.</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800" b="1" dirty="0">
                <a:solidFill>
                  <a:srgbClr val="FF0000"/>
                </a:solidFill>
                <a:latin typeface="Traditional Arabic" panose="02020603050405020304" pitchFamily="18" charset="-78"/>
                <a:cs typeface="Traditional Arabic" panose="02020603050405020304" pitchFamily="18" charset="-78"/>
              </a:rPr>
              <a:t>حوالة الحق: </a:t>
            </a:r>
            <a:r>
              <a:rPr lang="ar-SA" sz="2800" dirty="0">
                <a:latin typeface="Traditional Arabic" panose="02020603050405020304" pitchFamily="18" charset="-78"/>
                <a:cs typeface="Traditional Arabic" panose="02020603050405020304" pitchFamily="18" charset="-78"/>
              </a:rPr>
              <a:t>نقل الحق من دائن إلى دائن آخر</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صيغة الحوالة:</a:t>
            </a:r>
          </a:p>
          <a:p>
            <a:pPr algn="just">
              <a:defRPr/>
            </a:pP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١/٤ تنعقد الحوالة بإيجاب من المحيل وقبول من المحال والمحال عليه، مفيدين للمطلوب ودالين على نقل الدين من ذمة إلى ذمة أخرى، دون اشتراط لفظ الحوالة بعينه.</a:t>
            </a:r>
          </a:p>
          <a:p>
            <a:pPr algn="just">
              <a:defRPr/>
            </a:pP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a:t>
            </a:r>
            <a:r>
              <a:rPr kumimoji="0" lang="ar-SA" sz="2800" b="0"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الحوالة لا تقبل التعليق لما فيها من معنى المعاوضة، </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إذ كل من المحال والمحال عليه يلتزم بها التزامات جديدة، كما لا يجوز فيها </a:t>
            </a:r>
            <a:r>
              <a:rPr kumimoji="0" lang="ar-SA" sz="2800" b="0" i="0" u="none" strike="noStrike" kern="1200" cap="none" spc="0" normalizeH="0" baseline="0" noProof="0" dirty="0" err="1">
                <a:ln>
                  <a:noFill/>
                </a:ln>
                <a:solidFill>
                  <a:prstClr val="black"/>
                </a:solidFill>
                <a:effectLst/>
                <a:uLnTx/>
                <a:uFillTx/>
                <a:latin typeface="Traditional Arabic" panose="02020603050405020304" pitchFamily="18" charset="-78"/>
                <a:ea typeface="+mn-ea"/>
                <a:cs typeface="Traditional Arabic" panose="02020603050405020304" pitchFamily="18" charset="-78"/>
              </a:rPr>
              <a:t>التأقيت</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 والإضافة إلى المستقبل، لأن ذلك ينافي طبيعتها؛ أي نقل الدين إلى المحال عليه.</a:t>
            </a: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800" dirty="0">
              <a:latin typeface="Traditional Arabic" panose="02020603050405020304" pitchFamily="18" charset="-78"/>
              <a:cs typeface="Traditional Arabic" panose="02020603050405020304" pitchFamily="18" charset="-78"/>
            </a:endParaRPr>
          </a:p>
          <a:p>
            <a:pPr algn="just"/>
            <a:endParaRPr lang="ar-SA" sz="2800" dirty="0">
              <a:latin typeface="Traditional Arabic" panose="02020603050405020304" pitchFamily="18" charset="-78"/>
              <a:cs typeface="Traditional Arabic" panose="02020603050405020304" pitchFamily="18" charset="-78"/>
            </a:endParaRPr>
          </a:p>
          <a:p>
            <a:pPr algn="just"/>
            <a:endPar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p:txBody>
      </p:sp>
    </p:spTree>
    <p:extLst>
      <p:ext uri="{BB962C8B-B14F-4D97-AF65-F5344CB8AC3E}">
        <p14:creationId xmlns:p14="http://schemas.microsoft.com/office/powerpoint/2010/main" val="382445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58542-526F-ABEC-5228-64C90D637201}"/>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8E6BB29C-95BB-EA1C-D04C-4451412447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4E325C8C-9CD3-AF43-B4C6-0E41E9F4BDFA}"/>
              </a:ext>
            </a:extLst>
          </p:cNvPr>
          <p:cNvSpPr/>
          <p:nvPr/>
        </p:nvSpPr>
        <p:spPr>
          <a:xfrm>
            <a:off x="0" y="174662"/>
            <a:ext cx="12192000" cy="6683338"/>
          </a:xfrm>
          <a:prstGeom prst="roundRect">
            <a:avLst>
              <a:gd name="adj" fmla="val 4438"/>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ctr"/>
            <a:endParaRPr lang="ar-SA" sz="2400" b="1" dirty="0">
              <a:latin typeface="Traditional Arabic" panose="02020603050405020304" pitchFamily="18" charset="-78"/>
              <a:cs typeface="Traditional Arabic" panose="02020603050405020304" pitchFamily="18" charset="-78"/>
            </a:endParaRPr>
          </a:p>
          <a:p>
            <a:pPr algn="just"/>
            <a:endParaRPr lang="ar-SA" sz="2800" b="1" dirty="0">
              <a:solidFill>
                <a:srgbClr val="FF0000"/>
              </a:solidFill>
              <a:latin typeface="Traditional Arabic" panose="02020603050405020304" pitchFamily="18" charset="-78"/>
              <a:cs typeface="Traditional Arabic" panose="02020603050405020304" pitchFamily="18" charset="-78"/>
            </a:endParaRPr>
          </a:p>
          <a:p>
            <a:pPr algn="just"/>
            <a:endParaRPr lang="ar-SA" sz="2800" b="1" dirty="0">
              <a:solidFill>
                <a:srgbClr val="FF0000"/>
              </a:solidFill>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800" b="1" dirty="0">
                <a:solidFill>
                  <a:srgbClr val="FF0000"/>
                </a:solidFill>
                <a:latin typeface="Traditional Arabic" panose="02020603050405020304" pitchFamily="18" charset="-78"/>
                <a:cs typeface="Traditional Arabic" panose="02020603050405020304" pitchFamily="18" charset="-78"/>
              </a:rPr>
              <a:t>لزوم الحوالة:</a:t>
            </a:r>
          </a:p>
          <a:p>
            <a:pPr marL="0" marR="0" lvl="0" indent="0" algn="just" defTabSz="914400" rtl="1" eaLnBrk="1" fontAlgn="auto" latinLnBrk="0" hangingPunct="1">
              <a:lnSpc>
                <a:spcPct val="100000"/>
              </a:lnSpc>
              <a:spcBef>
                <a:spcPts val="0"/>
              </a:spcBef>
              <a:spcAft>
                <a:spcPts val="0"/>
              </a:spcAft>
              <a:buClrTx/>
              <a:buSzTx/>
              <a:buFontTx/>
              <a:buNone/>
              <a:tabLst/>
              <a:defRPr/>
            </a:pPr>
            <a:r>
              <a:rPr lang="ar-SA" sz="2800" dirty="0">
                <a:latin typeface="Traditional Arabic" panose="02020603050405020304" pitchFamily="18" charset="-78"/>
                <a:cs typeface="Traditional Arabic" panose="02020603050405020304" pitchFamily="18" charset="-78"/>
              </a:rPr>
              <a:t>الحوالة عقد لازم إذا تحققت شروطها؛ وعليه إجماع الفقهاء.</a:t>
            </a:r>
            <a:endPar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٢/٤ الحوالة من العقود اللازمة فليس لأحد الأطراف فسخها أو إبطالها من جانب واحد.</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٣/٤ يشترط أن تكون الحوالة منجزة فورية غير معلقة، كما يشترط ألا تكون مؤقتة أو مضافة إلى المستقبل. أما تأجيل أداء دين الحوالة إلى أجل معلوم فهو جائز. </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أقسام الحوالة وأحكامها:</a:t>
            </a:r>
          </a:p>
          <a:p>
            <a:pPr marL="0" marR="0" lvl="0" indent="0" algn="just" defTabSz="914400" rtl="1" eaLnBrk="1" fontAlgn="auto" latinLnBrk="0" hangingPunct="1">
              <a:lnSpc>
                <a:spcPct val="100000"/>
              </a:lnSpc>
              <a:spcBef>
                <a:spcPts val="0"/>
              </a:spcBef>
              <a:spcAft>
                <a:spcPts val="0"/>
              </a:spcAft>
              <a:buClrTx/>
              <a:buSzTx/>
              <a:buFontTx/>
              <a:buNone/>
              <a:tabLst/>
              <a:defRPr/>
            </a:pP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١/٥ تنقسم الحوالة إلى حوالة </a:t>
            </a:r>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مطلقة </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وحوالة </a:t>
            </a:r>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مقيدة.</a:t>
            </a:r>
          </a:p>
          <a:p>
            <a:pPr algn="just">
              <a:defRPr/>
            </a:pP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١/١/٥ </a:t>
            </a:r>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الحوالة المقيدة: </a:t>
            </a:r>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هي التي يقيد فيها المحال عليه بقضاء دين الحوالة من </a:t>
            </a:r>
            <a:r>
              <a:rPr lang="ar-SA" sz="2800" dirty="0">
                <a:latin typeface="Traditional Arabic" panose="02020603050405020304" pitchFamily="18" charset="-78"/>
                <a:cs typeface="Traditional Arabic" panose="02020603050405020304" pitchFamily="18" charset="-78"/>
              </a:rPr>
              <a:t>دين أو عين للمحيل لدى المحال عليه. وهي جائزة شرعًا.</a:t>
            </a:r>
            <a:r>
              <a:rPr lang="ar-SA" sz="2800" dirty="0">
                <a:solidFill>
                  <a:schemeClr val="tx1"/>
                </a:solidFill>
                <a:latin typeface="Traditional Arabic" panose="02020603050405020304" pitchFamily="18" charset="-78"/>
                <a:cs typeface="Traditional Arabic" panose="02020603050405020304" pitchFamily="18" charset="-78"/>
              </a:rPr>
              <a:t> </a:t>
            </a:r>
          </a:p>
          <a:p>
            <a:pPr algn="just"/>
            <a:r>
              <a:rPr lang="ar-SA" sz="2800" dirty="0">
                <a:solidFill>
                  <a:schemeClr val="tx1"/>
                </a:solidFill>
                <a:latin typeface="Traditional Arabic" panose="02020603050405020304" pitchFamily="18" charset="-78"/>
                <a:cs typeface="Traditional Arabic" panose="02020603050405020304" pitchFamily="18" charset="-78"/>
              </a:rPr>
              <a:t>الحوالة المقيدة سواء كان التقييد بدين للمحيل على المحال عليه، أو بعين له لدى المحال عليه هي محل إجماع بين الفقهاء.</a:t>
            </a:r>
          </a:p>
          <a:p>
            <a:pPr algn="just"/>
            <a:r>
              <a:rPr lang="ar-SA" sz="2800" dirty="0">
                <a:solidFill>
                  <a:schemeClr val="tx1"/>
                </a:solidFill>
                <a:latin typeface="Traditional Arabic" panose="02020603050405020304" pitchFamily="18" charset="-78"/>
                <a:cs typeface="Traditional Arabic" panose="02020603050405020304" pitchFamily="18" charset="-78"/>
              </a:rPr>
              <a:t> والمستند الشرعي للحوالة المؤجلة أن المال إنما يجب للطالب على المحال عليه بحكم الحوالة، والواجب بعقد الحوالة كالواجب بعقد الكفالة في صحة اشتراط الأجل فيه. </a:t>
            </a:r>
            <a:endParaRPr lang="ar-SA" sz="2800" dirty="0">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800" dirty="0">
              <a:latin typeface="Traditional Arabic" panose="02020603050405020304" pitchFamily="18" charset="-78"/>
              <a:cs typeface="Traditional Arabic" panose="02020603050405020304" pitchFamily="18" charset="-78"/>
            </a:endParaRPr>
          </a:p>
          <a:p>
            <a:pPr marL="0" marR="0" lvl="0" indent="0" algn="just" defTabSz="914400" rtl="1" eaLnBrk="1" fontAlgn="auto" latinLnBrk="0" hangingPunct="1">
              <a:lnSpc>
                <a:spcPct val="100000"/>
              </a:lnSpc>
              <a:spcBef>
                <a:spcPts val="0"/>
              </a:spcBef>
              <a:spcAft>
                <a:spcPts val="0"/>
              </a:spcAft>
              <a:buClrTx/>
              <a:buSzTx/>
              <a:buFontTx/>
              <a:buNone/>
              <a:tabLst/>
              <a:defRPr/>
            </a:pPr>
            <a:endPar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algn="just"/>
            <a:endParaRPr lang="ar-SA" sz="28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750876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90C0F-268D-1743-349C-E7C5ACF89388}"/>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C32D4367-29EE-F4D1-858C-D21B19377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2AC54368-4608-5E7C-BCB3-4A708D892009}"/>
              </a:ext>
            </a:extLst>
          </p:cNvPr>
          <p:cNvSpPr/>
          <p:nvPr/>
        </p:nvSpPr>
        <p:spPr>
          <a:xfrm>
            <a:off x="0" y="174662"/>
            <a:ext cx="12192000" cy="6683338"/>
          </a:xfrm>
          <a:prstGeom prst="roundRect">
            <a:avLst>
              <a:gd name="adj" fmla="val 3760"/>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endParaRPr lang="ar-SA" sz="2800" dirty="0">
              <a:latin typeface="Traditional Arabic" panose="02020603050405020304" pitchFamily="18" charset="-78"/>
              <a:cs typeface="Traditional Arabic" panose="02020603050405020304" pitchFamily="18" charset="-78"/>
            </a:endParaRPr>
          </a:p>
          <a:p>
            <a:pPr algn="just"/>
            <a:endParaRPr lang="ar-SA" sz="2800" dirty="0">
              <a:latin typeface="Traditional Arabic" panose="02020603050405020304" pitchFamily="18" charset="-78"/>
              <a:cs typeface="Traditional Arabic" panose="02020603050405020304" pitchFamily="18" charset="-78"/>
            </a:endParaRPr>
          </a:p>
          <a:p>
            <a:pPr algn="just"/>
            <a:r>
              <a:rPr lang="ar-SA" sz="2800" dirty="0">
                <a:latin typeface="Traditional Arabic" panose="02020603050405020304" pitchFamily="18" charset="-78"/>
                <a:cs typeface="Traditional Arabic" panose="02020603050405020304" pitchFamily="18" charset="-78"/>
              </a:rPr>
              <a:t> ٢/١/٥</a:t>
            </a:r>
            <a:r>
              <a:rPr lang="ar-SA" sz="2800" b="1" dirty="0">
                <a:solidFill>
                  <a:srgbClr val="FF0000"/>
                </a:solidFill>
                <a:latin typeface="Traditional Arabic" panose="02020603050405020304" pitchFamily="18" charset="-78"/>
                <a:cs typeface="Traditional Arabic" panose="02020603050405020304" pitchFamily="18" charset="-78"/>
              </a:rPr>
              <a:t>الحوالة المطلقة: </a:t>
            </a:r>
            <a:r>
              <a:rPr lang="ar-SA" sz="2800" dirty="0">
                <a:latin typeface="Traditional Arabic" panose="02020603050405020304" pitchFamily="18" charset="-78"/>
                <a:cs typeface="Traditional Arabic" panose="02020603050405020304" pitchFamily="18" charset="-78"/>
              </a:rPr>
              <a:t>هي التي لا يكون فيها للمحيل دين أو عين لدى المحال عليه، حيث يلتزم بأداء دين المحيل من مال نفسه، ثم يرجع بعد ذلك بما دفعه على المحيل إذا كانت الحوالة بأمره. وهي جائزة شرعًا.</a:t>
            </a:r>
          </a:p>
          <a:p>
            <a:pPr algn="just"/>
            <a:r>
              <a:rPr lang="ar-SA" sz="2800" dirty="0">
                <a:latin typeface="Traditional Arabic" panose="02020603050405020304" pitchFamily="18" charset="-78"/>
                <a:cs typeface="Traditional Arabic" panose="02020603050405020304" pitchFamily="18" charset="-78"/>
              </a:rPr>
              <a:t>٣/١/٥ تجوز الحوالة الحالة، وهي التي يجب فيها الدين حالّاً على المحال عليه، سواء كان الدين حالّاً، فانتقل بالحوالة إلى المحال عليه كذلك حالّاً أم كان مؤجلا، فاشترط فيه الحلول.</a:t>
            </a:r>
          </a:p>
          <a:p>
            <a:pPr algn="just"/>
            <a:r>
              <a:rPr lang="ar-SA" sz="2800" dirty="0">
                <a:latin typeface="Traditional Arabic" panose="02020603050405020304" pitchFamily="18" charset="-78"/>
                <a:cs typeface="Traditional Arabic" panose="02020603050405020304" pitchFamily="18" charset="-78"/>
              </a:rPr>
              <a:t>٤/١/٥ تجوز الحوالة المؤجلة؛ وهي التي يجب فيها الدين مؤجلاً على المحال عليه، سواء كان الدين مؤجلاً فانتقل بالحوالة إلى المحال عليه مؤجلاً، أم كان حالّاً فاشترط حوالته مؤجلاً فلا يطالب المحال عليه حينئذ إلاّ في الأجل.</a:t>
            </a:r>
          </a:p>
          <a:p>
            <a:pPr algn="just"/>
            <a:r>
              <a:rPr lang="ar-SA" sz="2800" dirty="0">
                <a:solidFill>
                  <a:schemeClr val="tx1"/>
                </a:solidFill>
                <a:latin typeface="Traditional Arabic" panose="02020603050405020304" pitchFamily="18" charset="-78"/>
                <a:cs typeface="Traditional Arabic" panose="02020603050405020304" pitchFamily="18" charset="-78"/>
              </a:rPr>
              <a:t>أما الحوالة المطلقة فقد أجازها الحنفية فقط، ومستندهم في ذلك أن أمر النبي ﷺ بقبول الحوالة، وَرَدَ دون تفصيل بين أن يكون المحال عليه مديناً للمحيل أو غير مدين، فدل هذا على مشروعية الحوالة في الحالين المقيدة والمطلقة.</a:t>
            </a:r>
          </a:p>
          <a:p>
            <a:pPr algn="just"/>
            <a:r>
              <a:rPr lang="ar-SA" sz="2800" b="1" dirty="0">
                <a:solidFill>
                  <a:srgbClr val="FF0000"/>
                </a:solidFill>
                <a:latin typeface="Traditional Arabic" panose="02020603050405020304" pitchFamily="18" charset="-78"/>
                <a:cs typeface="Traditional Arabic" panose="02020603050405020304" pitchFamily="18" charset="-78"/>
              </a:rPr>
              <a:t>والمستند الشرعي لجواز حوالة الحق التي قال بها الحنفية </a:t>
            </a:r>
            <a:r>
              <a:rPr lang="ar-SA" sz="2800" dirty="0">
                <a:solidFill>
                  <a:schemeClr val="tx1"/>
                </a:solidFill>
                <a:latin typeface="Traditional Arabic" panose="02020603050405020304" pitchFamily="18" charset="-78"/>
                <a:cs typeface="Traditional Arabic" panose="02020603050405020304" pitchFamily="18" charset="-78"/>
              </a:rPr>
              <a:t>هو أنها في معنى الوكالة والوكالة جائزة باتفاق المذاهب الأربعة ولو لم تسم بهذا الاسم "). كما أنه لا تختلف غالبا عن الحوالة المقيدة؛ حيث إنه إذا نظر إلى تغير الدائن تسمى حوالة حق، وإذا نظر إلى تغير المدين تسمى حوالة مقيدة، ويظهر الفرق في صور؛ منها: هبة الدائن دينه على المحال عليه إلى شخص آخر ليس دائنا للمحيل فلا يكون هنا مدينان فتكون حوالة حق وليست حوالة مقيدة لعدم وجود مدينين؛ لأن المحيل هنا ليس دائنا للموهوب له. نظر إلى تغير المدين تسمى حوالة مقيدة، ويظهر الفرق في صور؛ منها: هبة الدائن دينه على المحال عليه إلى شخص آخر ليس دائنا للمحيل فلا يكون هنا مدينان فتكون حوالة حق وليست حوالة مقيدة لعدم وجود مدينين؛ لأن المحيل هنا ليس دائنا للموهوب له.</a:t>
            </a:r>
          </a:p>
          <a:p>
            <a:pPr algn="just"/>
            <a:endParaRPr lang="ar-SA" sz="2800" dirty="0">
              <a:latin typeface="Traditional Arabic" panose="02020603050405020304" pitchFamily="18" charset="-78"/>
              <a:cs typeface="Traditional Arabic" panose="02020603050405020304" pitchFamily="18" charset="-78"/>
            </a:endParaRPr>
          </a:p>
          <a:p>
            <a:pPr algn="just"/>
            <a:r>
              <a:rPr lang="ar-SA" sz="2800" b="1" dirty="0">
                <a:solidFill>
                  <a:srgbClr val="FF0000"/>
                </a:solidFill>
                <a:latin typeface="Traditional Arabic" panose="02020603050405020304" pitchFamily="18" charset="-78"/>
                <a:cs typeface="Traditional Arabic" panose="02020603050405020304" pitchFamily="18" charset="-78"/>
              </a:rPr>
              <a:t> </a:t>
            </a:r>
            <a:endParaRPr lang="ar-SA" sz="28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511729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B6D49-6B96-ABFD-9D69-E46DA8C4A14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5DE1396-5007-5BD8-0A9B-154506D38A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3DC25232-2E89-B6DD-B901-20A45695EEFC}"/>
              </a:ext>
            </a:extLst>
          </p:cNvPr>
          <p:cNvSpPr/>
          <p:nvPr/>
        </p:nvSpPr>
        <p:spPr>
          <a:xfrm>
            <a:off x="71920" y="87331"/>
            <a:ext cx="12192000" cy="6683338"/>
          </a:xfrm>
          <a:prstGeom prst="roundRect">
            <a:avLst>
              <a:gd name="adj" fmla="val 4405"/>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r>
              <a:rPr lang="ar-SA" sz="2800" b="1" dirty="0">
                <a:solidFill>
                  <a:srgbClr val="FF0000"/>
                </a:solidFill>
                <a:latin typeface="Traditional Arabic" panose="02020603050405020304" pitchFamily="18" charset="-78"/>
                <a:cs typeface="Traditional Arabic" panose="02020603050405020304" pitchFamily="18" charset="-78"/>
              </a:rPr>
              <a:t>شروط الحوالة :</a:t>
            </a:r>
          </a:p>
          <a:p>
            <a:pPr algn="just"/>
            <a:r>
              <a:rPr lang="ar-SA" sz="2800" dirty="0">
                <a:latin typeface="Traditional Arabic" panose="02020603050405020304" pitchFamily="18" charset="-78"/>
                <a:cs typeface="Traditional Arabic" panose="02020603050405020304" pitchFamily="18" charset="-78"/>
              </a:rPr>
              <a:t>١/٦ يشترط لصحة الحوالة رضا الأطراف الثلاثة المحيل، والمحال، والمحال عليه.</a:t>
            </a:r>
          </a:p>
          <a:p>
            <a:pPr algn="just"/>
            <a:r>
              <a:rPr lang="ar-SA" sz="2800" dirty="0">
                <a:solidFill>
                  <a:schemeClr val="tx1"/>
                </a:solidFill>
                <a:latin typeface="Traditional Arabic" panose="02020603050405020304" pitchFamily="18" charset="-78"/>
                <a:cs typeface="Traditional Arabic" panose="02020603050405020304" pitchFamily="18" charset="-78"/>
              </a:rPr>
              <a:t>المستند الشرعي لاشتراط رضا الأطراف الثلاثة المحيل، والمحال، والمحال عليه لصحة الحوالة أنه بالنسبة للطرف الأول المحيل قد يأنف بتحمل غيره ما عليه من الدين فلا بد من رضاه، والطرف الثاني المحال لا بد من رضاه أيضًا لأن الحوالة فيها انتقال حقه إلى ذمة أخرى والذمم متفاوتة، وأما المستند الشرعي لرضا الطرف الثالث المحال عليه في الحوالة المطلقة فهو أن الحوالة تلزمه بالدين ولا لزوم بلا التزام. </a:t>
            </a:r>
            <a:endParaRPr lang="ar-SA" sz="2800" dirty="0">
              <a:latin typeface="Traditional Arabic" panose="02020603050405020304" pitchFamily="18" charset="-78"/>
              <a:cs typeface="Traditional Arabic" panose="02020603050405020304" pitchFamily="18" charset="-78"/>
            </a:endParaRPr>
          </a:p>
          <a:p>
            <a:pPr algn="just"/>
            <a:r>
              <a:rPr lang="ar-SA" sz="2800" dirty="0">
                <a:latin typeface="Traditional Arabic" panose="02020603050405020304" pitchFamily="18" charset="-78"/>
                <a:cs typeface="Traditional Arabic" panose="02020603050405020304" pitchFamily="18" charset="-78"/>
              </a:rPr>
              <a:t>٢/٦ يشترط لصحة الحوالة أن يكون المحيل مديناً للمحال، فحوالة من لا دين عليه هي وكالة بالقبض وليست حوالة.</a:t>
            </a:r>
          </a:p>
          <a:p>
            <a:pPr algn="just"/>
            <a:r>
              <a:rPr lang="ar-SA" sz="2800" dirty="0">
                <a:latin typeface="Traditional Arabic" panose="02020603050405020304" pitchFamily="18" charset="-78"/>
                <a:cs typeface="Traditional Arabic" panose="02020603050405020304" pitchFamily="18" charset="-78"/>
              </a:rPr>
              <a:t>٣/٦ لا يشترط أن يكون المحال عليه مدينا للمحيل، فإن لم يكن مديناً له فهي حوالة مطلقة.</a:t>
            </a:r>
          </a:p>
          <a:p>
            <a:pPr algn="just"/>
            <a:r>
              <a:rPr lang="ar-SA" sz="2800" dirty="0">
                <a:latin typeface="Traditional Arabic" panose="02020603050405020304" pitchFamily="18" charset="-78"/>
                <a:cs typeface="Traditional Arabic" panose="02020603050405020304" pitchFamily="18" charset="-78"/>
              </a:rPr>
              <a:t>٤/٦ يشترط في كل من المحيل والمحال </a:t>
            </a:r>
            <a:r>
              <a:rPr lang="ar-SA" sz="2800" dirty="0" err="1">
                <a:latin typeface="Traditional Arabic" panose="02020603050405020304" pitchFamily="18" charset="-78"/>
                <a:cs typeface="Traditional Arabic" panose="02020603050405020304" pitchFamily="18" charset="-78"/>
              </a:rPr>
              <a:t>والمحال</a:t>
            </a:r>
            <a:r>
              <a:rPr lang="ar-SA" sz="2800" dirty="0">
                <a:latin typeface="Traditional Arabic" panose="02020603050405020304" pitchFamily="18" charset="-78"/>
                <a:cs typeface="Traditional Arabic" panose="02020603050405020304" pitchFamily="18" charset="-78"/>
              </a:rPr>
              <a:t> عليه أن يكون أهلاً للتصرف.</a:t>
            </a:r>
          </a:p>
          <a:p>
            <a:pPr algn="just"/>
            <a:r>
              <a:rPr lang="ar-SA" sz="2800" dirty="0">
                <a:latin typeface="Traditional Arabic" panose="02020603050405020304" pitchFamily="18" charset="-78"/>
                <a:cs typeface="Traditional Arabic" panose="02020603050405020304" pitchFamily="18" charset="-78"/>
              </a:rPr>
              <a:t>٥/٦ يشترط أن يكون كل من الدين المحال به والدين المحال عليه معلومًا صحيحًا، قابلا للنقل.</a:t>
            </a:r>
          </a:p>
          <a:p>
            <a:r>
              <a:rPr lang="ar-SA" sz="2800" dirty="0">
                <a:latin typeface="Traditional Arabic" panose="02020603050405020304" pitchFamily="18" charset="-78"/>
                <a:cs typeface="Traditional Arabic" panose="02020603050405020304" pitchFamily="18" charset="-78"/>
              </a:rPr>
              <a:t>٦/٦ يشترط في الحوالة المقيدة أن يكون الدين المحال أو القدر المحال منه متساويا مع الدين المحال عليه جنسا ونوعاً وصفة و قدرًا، </a:t>
            </a:r>
            <a:r>
              <a:rPr lang="ar-SA" sz="2800" b="1" dirty="0">
                <a:latin typeface="Traditional Arabic" panose="02020603050405020304" pitchFamily="18" charset="-78"/>
                <a:cs typeface="Traditional Arabic" panose="02020603050405020304" pitchFamily="18" charset="-78"/>
              </a:rPr>
              <a:t>على أنه تصح الإحالة بالدين الأقل على الدين الأكثر على ألا يستحق المحال إلا ما يماثل الدين المحال به.</a:t>
            </a:r>
            <a:r>
              <a:rPr lang="ar-SA" sz="2800" dirty="0">
                <a:latin typeface="Traditional Arabic" panose="02020603050405020304" pitchFamily="18" charset="-78"/>
                <a:cs typeface="Traditional Arabic" panose="02020603050405020304" pitchFamily="18" charset="-78"/>
              </a:rPr>
              <a:t> </a:t>
            </a:r>
          </a:p>
          <a:p>
            <a:r>
              <a:rPr lang="ar-SA" sz="2800" dirty="0">
                <a:latin typeface="Traditional Arabic" panose="02020603050405020304" pitchFamily="18" charset="-78"/>
                <a:cs typeface="Traditional Arabic" panose="02020603050405020304" pitchFamily="18" charset="-78"/>
              </a:rPr>
              <a:t>ومستند اشتراط الفقهاء أن يكون الدين المحال أو القدر المحال منه متساويا مع الدين المحال عليه جنسًا ونوعاً وصفة وقدرا هو تجنب الربا، ولكن لا يراد بهذا الشرط أن يكون ما على المحيل مثل ما على المحال عليه قدرًا ، فتجوز الحوالة مع التفاوت في قدر الدينين بشرط أن تتم الحوالة على نفس القدر بمعنى أنه يجوز أن يحيل بعشرة عليه على عشرة من عشرين على غريمه، وأن يحيل بخمسة من عشرة عليه على خمسة على غريمه، فالشرط هو ألا يستحق المحال إلا ما يماثل الدين المحال، منعا للربا. </a:t>
            </a:r>
            <a:endParaRPr lang="ar-SA" sz="2800" dirty="0">
              <a:solidFill>
                <a:schemeClr val="tx1"/>
              </a:solidFill>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781037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B6D49-6B96-ABFD-9D69-E46DA8C4A14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5DE1396-5007-5BD8-0A9B-154506D38A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3DC25232-2E89-B6DD-B901-20A45695EEFC}"/>
              </a:ext>
            </a:extLst>
          </p:cNvPr>
          <p:cNvSpPr/>
          <p:nvPr/>
        </p:nvSpPr>
        <p:spPr>
          <a:xfrm>
            <a:off x="71920" y="174662"/>
            <a:ext cx="12192000" cy="6683338"/>
          </a:xfrm>
          <a:prstGeom prst="roundRect">
            <a:avLst>
              <a:gd name="adj" fmla="val 4405"/>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endParaRPr lang="ar-SA" sz="2400" dirty="0">
              <a:latin typeface="Traditional Arabic" panose="02020603050405020304" pitchFamily="18" charset="-78"/>
              <a:cs typeface="Traditional Arabic" panose="02020603050405020304" pitchFamily="18" charset="-78"/>
            </a:endParaRPr>
          </a:p>
          <a:p>
            <a:pPr algn="just"/>
            <a:r>
              <a:rPr lang="ar-SA" sz="2800" b="1" dirty="0">
                <a:solidFill>
                  <a:srgbClr val="FF0000"/>
                </a:solidFill>
                <a:latin typeface="Traditional Arabic" panose="02020603050405020304" pitchFamily="18" charset="-78"/>
                <a:cs typeface="Traditional Arabic" panose="02020603050405020304" pitchFamily="18" charset="-78"/>
              </a:rPr>
              <a:t>أثر الحوالة في العلاقة بين المحيل والمحال:</a:t>
            </a:r>
          </a:p>
          <a:p>
            <a:pPr algn="just"/>
            <a:r>
              <a:rPr lang="ar-SA" sz="2800" dirty="0">
                <a:latin typeface="Traditional Arabic" panose="02020603050405020304" pitchFamily="18" charset="-78"/>
                <a:cs typeface="Traditional Arabic" panose="02020603050405020304" pitchFamily="18" charset="-78"/>
              </a:rPr>
              <a:t>١/٧ يبرأ المحيل من الدين والمطالبة معا إذا انعقدت الحوالة صحيحة، وليس للمحال الرجوع على المحيل إلا إذا اشترط ملاءة المحال عليه فتبين أنه لم يكن ملينا، فيكون له الرجوع.</a:t>
            </a:r>
          </a:p>
          <a:p>
            <a:pPr algn="just"/>
            <a:r>
              <a:rPr lang="ar-SA" sz="2800" dirty="0">
                <a:latin typeface="Traditional Arabic" panose="02020603050405020304" pitchFamily="18" charset="-78"/>
                <a:cs typeface="Traditional Arabic" panose="02020603050405020304" pitchFamily="18" charset="-78"/>
              </a:rPr>
              <a:t> و مستند ما ذهب إليه جمهور الفقهاء من حق المحال في الرجوع على المحيل إذا اشترط ملاءة المحال عليه، هو قول النبي :: المسلمون على شروطهم ) ولأنه شرط ما فيه مصلحة العقد فيثبت الفسخ بفواته </a:t>
            </a:r>
          </a:p>
          <a:p>
            <a:pPr algn="just"/>
            <a:r>
              <a:rPr lang="en-AE" sz="2800" dirty="0">
                <a:latin typeface="Traditional Arabic" panose="02020603050405020304" pitchFamily="18" charset="-78"/>
                <a:cs typeface="Traditional Arabic" panose="02020603050405020304" pitchFamily="18" charset="-78"/>
              </a:rPr>
              <a:t> ٢/٧ </a:t>
            </a:r>
            <a:r>
              <a:rPr lang="ar-SA" sz="2800" dirty="0">
                <a:latin typeface="Traditional Arabic" panose="02020603050405020304" pitchFamily="18" charset="-78"/>
                <a:cs typeface="Traditional Arabic" panose="02020603050405020304" pitchFamily="18" charset="-78"/>
              </a:rPr>
              <a:t>يحق للمحال الرجوع على المحيل إذا تَوِي الدين - ولو لم يشترط الرجوع - والتوى هو أن يموت المحال عليه مفلسا أو تتم تصفية المؤسسة مفلسة قبل أداء الدين، أو يجحد المحال عليه الحوالة ويحلف على نفيها ولم تكن ثمة بينة بها، أو يحكم عليه بالإفلاس حال حياته، أو يصدر حكم بإفلاس المؤسسة.</a:t>
            </a:r>
          </a:p>
          <a:p>
            <a:pPr algn="just"/>
            <a:r>
              <a:rPr lang="ar-SA" sz="2800" dirty="0">
                <a:latin typeface="Traditional Arabic" panose="02020603050405020304" pitchFamily="18" charset="-78"/>
                <a:cs typeface="Traditional Arabic" panose="02020603050405020304" pitchFamily="18" charset="-78"/>
              </a:rPr>
              <a:t> وأما حق المحال في الرجوع على المحيل عند الحنفية دون اشتراط عند توى الدين فمستنده ما رُوِيَ عَنْ عُثْمَانَ أَنَّهُ سُئِلَ عَنْ رَجُلٍ أُحِيلَ بِحَقِّهِ فَمَاتَ الْمُحَالُ عَلَيْهِ مُفْلِسًا ، فَقَالَ: (يَرْجِعُ بِحَقِّهِ، لا تَوَى عَلَى مَالِ امْرِئٍ مُسْلِمٍ ) .. فهذا الخبر يدل على رجوع الدين على الأصيل مرة أخرى إذا أعسر به المحال عليه أو مات.</a:t>
            </a:r>
          </a:p>
          <a:p>
            <a:pPr algn="just"/>
            <a:r>
              <a:rPr lang="ar-SA" sz="2800" dirty="0">
                <a:latin typeface="Traditional Arabic" panose="02020603050405020304" pitchFamily="18" charset="-78"/>
                <a:cs typeface="Traditional Arabic" panose="02020603050405020304" pitchFamily="18" charset="-78"/>
              </a:rPr>
              <a:t>مستند فراغ ذمة المحيل مما كان عليه لدائنه الذي قبل الحوالة أنه المقتضى الشرعي للحوالة، ذلك أن الحوالة كالقبض و وهي مشتقة من التحويل أي نقل الحق فكان معنى الانتقال لازما فيها، والشيء إذا انتقل إلى موضع لا يبقى في المحل الأول، وبذلك لا يحق للمحال مطالبة المحيل الذي تبرأ ذمته ويصبح المحال عليه هو الملزم بالدين </a:t>
            </a:r>
          </a:p>
          <a:p>
            <a:r>
              <a:rPr lang="ar-SA" sz="2800" b="1" dirty="0">
                <a:solidFill>
                  <a:srgbClr val="FF0000"/>
                </a:solidFill>
                <a:latin typeface="Traditional Arabic" panose="02020603050405020304" pitchFamily="18" charset="-78"/>
                <a:cs typeface="Traditional Arabic" panose="02020603050405020304" pitchFamily="18" charset="-78"/>
              </a:rPr>
              <a:t> </a:t>
            </a:r>
            <a:endParaRPr lang="ar-SA" sz="24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569482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B6D49-6B96-ABFD-9D69-E46DA8C4A14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F5DE1396-5007-5BD8-0A9B-154506D38A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3DC25232-2E89-B6DD-B901-20A45695EEFC}"/>
              </a:ext>
            </a:extLst>
          </p:cNvPr>
          <p:cNvSpPr/>
          <p:nvPr/>
        </p:nvSpPr>
        <p:spPr>
          <a:xfrm>
            <a:off x="71920" y="174662"/>
            <a:ext cx="12192000" cy="6683338"/>
          </a:xfrm>
          <a:prstGeom prst="roundRect">
            <a:avLst>
              <a:gd name="adj" fmla="val 4405"/>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endParaRPr lang="ar-SA" sz="2800" b="1" dirty="0">
              <a:solidFill>
                <a:srgbClr val="FF0000"/>
              </a:solidFill>
              <a:latin typeface="Traditional Arabic" panose="02020603050405020304" pitchFamily="18" charset="-78"/>
              <a:cs typeface="Traditional Arabic" panose="02020603050405020304" pitchFamily="18" charset="-78"/>
            </a:endParaRPr>
          </a:p>
          <a:p>
            <a:endParaRPr lang="ar-SA" sz="2800" b="1" dirty="0">
              <a:solidFill>
                <a:srgbClr val="FF0000"/>
              </a:solidFill>
              <a:latin typeface="Traditional Arabic" panose="02020603050405020304" pitchFamily="18" charset="-78"/>
              <a:cs typeface="Traditional Arabic" panose="02020603050405020304" pitchFamily="18" charset="-78"/>
            </a:endParaRPr>
          </a:p>
          <a:p>
            <a:r>
              <a:rPr lang="ar-SA" sz="2800" b="1" dirty="0">
                <a:solidFill>
                  <a:srgbClr val="FF0000"/>
                </a:solidFill>
                <a:latin typeface="Traditional Arabic" panose="02020603050405020304" pitchFamily="18" charset="-78"/>
                <a:cs typeface="Traditional Arabic" panose="02020603050405020304" pitchFamily="18" charset="-78"/>
              </a:rPr>
              <a:t>أثر الحوالة في العلاقة بين المحيل والمحال عليه :</a:t>
            </a:r>
            <a:endParaRPr lang="ar-SA" sz="2800" dirty="0">
              <a:latin typeface="Traditional Arabic" panose="02020603050405020304" pitchFamily="18" charset="-78"/>
              <a:cs typeface="Traditional Arabic" panose="02020603050405020304" pitchFamily="18" charset="-78"/>
            </a:endParaRPr>
          </a:p>
          <a:p>
            <a:r>
              <a:rPr lang="ar-SA" sz="2800" dirty="0">
                <a:latin typeface="Traditional Arabic" panose="02020603050405020304" pitchFamily="18" charset="-78"/>
                <a:cs typeface="Traditional Arabic" panose="02020603050405020304" pitchFamily="18" charset="-78"/>
              </a:rPr>
              <a:t>لا يحق للمحيل بعد إبرام الحوالة المقيدة مطالبة المحال عليه بقدر الدين المحال الذي كان على المحال عليه قبل الحوالة؛ لتعلق حق المحال به. المستند الشرعي لانقطاع حق المحيل في المطالبة بما له عند المحال عليه من دين قيدت به الحوالة أن الدين تعلق به حق المحال إلا عند التوى.</a:t>
            </a:r>
          </a:p>
          <a:p>
            <a:r>
              <a:rPr lang="ar-SA" sz="2800" b="1" dirty="0">
                <a:solidFill>
                  <a:srgbClr val="FF0000"/>
                </a:solidFill>
                <a:latin typeface="Traditional Arabic" panose="02020603050405020304" pitchFamily="18" charset="-78"/>
                <a:cs typeface="Traditional Arabic" panose="02020603050405020304" pitchFamily="18" charset="-78"/>
              </a:rPr>
              <a:t> أثر الحوالة في العلاقة بين المحال والمحال عليه:</a:t>
            </a:r>
            <a:endParaRPr lang="ar-SA" sz="2800" dirty="0">
              <a:latin typeface="Traditional Arabic" panose="02020603050405020304" pitchFamily="18" charset="-78"/>
              <a:cs typeface="Traditional Arabic" panose="02020603050405020304" pitchFamily="18" charset="-78"/>
            </a:endParaRPr>
          </a:p>
          <a:p>
            <a:r>
              <a:rPr lang="ar-SA" sz="2800" dirty="0">
                <a:latin typeface="Traditional Arabic" panose="02020603050405020304" pitchFamily="18" charset="-78"/>
                <a:cs typeface="Traditional Arabic" panose="02020603050405020304" pitchFamily="18" charset="-78"/>
              </a:rPr>
              <a:t>١/٩ يثبت للمحال حق مطالبة المحال عليه بدين الحوالة حسب شروط عقد الحوالة ويلزم المحال عليه بالأداء إلى المحال، وليس له الامتناع عن الدفع.</a:t>
            </a:r>
          </a:p>
          <a:p>
            <a:pPr algn="just"/>
            <a:r>
              <a:rPr lang="ar-SA" sz="2800" dirty="0">
                <a:latin typeface="Traditional Arabic" panose="02020603050405020304" pitchFamily="18" charset="-78"/>
                <a:cs typeface="Traditional Arabic" panose="02020603050405020304" pitchFamily="18" charset="-78"/>
              </a:rPr>
              <a:t>٢/٩ المحال عليه يحل محل المحيل في جميع الحقوق والدفوع والالتزامات، والمحال في الحوالة المقيدة يحل محل المحيل في جميع الحقوق والدفوع والالتزامات تجاه المحال عليه</a:t>
            </a:r>
          </a:p>
          <a:p>
            <a:pPr algn="just"/>
            <a:r>
              <a:rPr lang="ar-SA" sz="2800" dirty="0">
                <a:latin typeface="Traditional Arabic" panose="02020603050405020304" pitchFamily="18" charset="-78"/>
                <a:cs typeface="Traditional Arabic" panose="02020603050405020304" pitchFamily="18" charset="-78"/>
              </a:rPr>
              <a:t>والمستند الشرعي لبراءة ذمة المحيل أن الحوالة أوجبت نقل الدين إلى ذمة المحال عليه.</a:t>
            </a:r>
          </a:p>
          <a:p>
            <a:pPr algn="just"/>
            <a:r>
              <a:rPr lang="ar-SA" sz="2800" dirty="0">
                <a:latin typeface="Traditional Arabic" panose="02020603050405020304" pitchFamily="18" charset="-78"/>
                <a:cs typeface="Traditional Arabic" panose="02020603050405020304" pitchFamily="18" charset="-78"/>
              </a:rPr>
              <a:t>أما حق المحال عليه في التمسك قبل المحال بجميع الضمانات التي كان يتمسك بها المدين المحيل فمستنده أن هذه الضمانات مرتبطة بمديونية المحيل التي هي أساس الحوالة، وهي من الحقوق المشتركة التي تنتقل مع دين الحوالة في محله الجديد، فيكون للمحال عليه التمسك</a:t>
            </a:r>
          </a:p>
          <a:p>
            <a:pPr algn="just"/>
            <a:endParaRPr lang="ar-SA" sz="2800" dirty="0">
              <a:latin typeface="Traditional Arabic" panose="02020603050405020304" pitchFamily="18" charset="-78"/>
              <a:cs typeface="Traditional Arabic" panose="02020603050405020304" pitchFamily="18" charset="-78"/>
            </a:endParaRPr>
          </a:p>
          <a:p>
            <a:endParaRPr lang="ar-SA" sz="24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20081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24BE9-025D-32F0-C9AB-44A3241B9099}"/>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C329A4E2-01F5-D68D-67B2-ADFE396593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2A0FE084-1BBB-106E-0758-AB6B6492EE4F}"/>
              </a:ext>
            </a:extLst>
          </p:cNvPr>
          <p:cNvSpPr/>
          <p:nvPr/>
        </p:nvSpPr>
        <p:spPr>
          <a:xfrm>
            <a:off x="115213" y="0"/>
            <a:ext cx="12192000" cy="6858000"/>
          </a:xfrm>
          <a:prstGeom prst="roundRect">
            <a:avLst>
              <a:gd name="adj" fmla="val 6857"/>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r>
              <a:rPr lang="ar-SA" sz="2800" b="1" dirty="0">
                <a:solidFill>
                  <a:srgbClr val="FF0000"/>
                </a:solidFill>
                <a:latin typeface="Traditional Arabic" panose="02020603050405020304" pitchFamily="18" charset="-78"/>
                <a:cs typeface="Traditional Arabic" panose="02020603050405020304" pitchFamily="18" charset="-78"/>
              </a:rPr>
              <a:t>أثر الموت والإفلاس على الحوالة:</a:t>
            </a:r>
            <a:endParaRPr lang="ar-SA" sz="2800" dirty="0">
              <a:latin typeface="Traditional Arabic" panose="02020603050405020304" pitchFamily="18" charset="-78"/>
              <a:cs typeface="Traditional Arabic" panose="02020603050405020304" pitchFamily="18" charset="-78"/>
            </a:endParaRPr>
          </a:p>
          <a:p>
            <a:r>
              <a:rPr lang="ar-SA" sz="2800" dirty="0">
                <a:latin typeface="Traditional Arabic" panose="02020603050405020304" pitchFamily="18" charset="-78"/>
                <a:cs typeface="Traditional Arabic" panose="02020603050405020304" pitchFamily="18" charset="-78"/>
              </a:rPr>
              <a:t>١/١٠ لا تبطل الحوالة بموت المحيل ولا بتصفية المؤسسة المحيلة، فيختص المحال بالدين الذي بذمة المحال عليه، ولا يدخل دين الحوالة في قسمة غرماء المحيل.</a:t>
            </a:r>
          </a:p>
          <a:p>
            <a:r>
              <a:rPr lang="ar-SA" sz="2800" dirty="0">
                <a:latin typeface="Traditional Arabic" panose="02020603050405020304" pitchFamily="18" charset="-78"/>
                <a:cs typeface="Traditional Arabic" panose="02020603050405020304" pitchFamily="18" charset="-78"/>
              </a:rPr>
              <a:t>٢/١٠ لا تبطل الحوالة بموت الشخص المحال عليه ولا بتصفية المؤسسة المحال عليها، ويرجع المحال على تركة المحال عليه إن ترك وفاء لدينه أو على كفيل المحال عليه إن وجد أو على موجودات تصفية المؤسسة، أما إذا مات الشخص المحال عليه مفلسا أو صفيت المؤسسة المحال عليها مفلسة فللمحال حينئذ أن يرجع على المحيل. </a:t>
            </a:r>
          </a:p>
          <a:p>
            <a:r>
              <a:rPr lang="ar-SA" sz="2800" dirty="0">
                <a:latin typeface="Traditional Arabic" panose="02020603050405020304" pitchFamily="18" charset="-78"/>
                <a:cs typeface="Traditional Arabic" panose="02020603050405020304" pitchFamily="18" charset="-78"/>
              </a:rPr>
              <a:t>٣/١٠ لا تبطل الحوالة بموت المحال، ويحل ورثته محله، كما لا تبطل بتصفية المؤسسة المحالة، ويحل المصفي محل المؤسسة.</a:t>
            </a:r>
          </a:p>
          <a:p>
            <a:r>
              <a:rPr lang="ar-SA" sz="2800" dirty="0">
                <a:latin typeface="Traditional Arabic" panose="02020603050405020304" pitchFamily="18" charset="-78"/>
                <a:cs typeface="Traditional Arabic" panose="02020603050405020304" pitchFamily="18" charset="-78"/>
              </a:rPr>
              <a:t>المستند في أن موت المحيل قبل استيفاء المحال دين الحوالة لا يبطلها؛ لأن المحيل صار أجنبيا من هذا المال، ومستند عدم بطلان الحوالة في حالة موت المحال عليه فمستنده أن الورثة أو الكفيل إن وجد يقوم مقامه،</a:t>
            </a:r>
          </a:p>
          <a:p>
            <a:r>
              <a:rPr lang="ar-SA" sz="2800" dirty="0">
                <a:latin typeface="Traditional Arabic" panose="02020603050405020304" pitchFamily="18" charset="-78"/>
                <a:cs typeface="Traditional Arabic" panose="02020603050405020304" pitchFamily="18" charset="-78"/>
              </a:rPr>
              <a:t> ومستند عدم بطلان الحوالة في حالة موت المحال وحلول ورثته محله أنه بموته تنتقل إلى الورثة حقوقه على الغير، ومنها حقه على المحال عليه.</a:t>
            </a:r>
          </a:p>
          <a:p>
            <a:r>
              <a:rPr lang="ar-SA" sz="2800" dirty="0">
                <a:latin typeface="Traditional Arabic" panose="02020603050405020304" pitchFamily="18" charset="-78"/>
                <a:cs typeface="Traditional Arabic" panose="02020603050405020304" pitchFamily="18" charset="-78"/>
              </a:rPr>
              <a:t>۱۱ . </a:t>
            </a:r>
            <a:r>
              <a:rPr lang="ar-SA" sz="2800" b="1" dirty="0">
                <a:solidFill>
                  <a:srgbClr val="FF0000"/>
                </a:solidFill>
                <a:latin typeface="Traditional Arabic" panose="02020603050405020304" pitchFamily="18" charset="-78"/>
                <a:cs typeface="Traditional Arabic" panose="02020603050405020304" pitchFamily="18" charset="-78"/>
              </a:rPr>
              <a:t>انتهاء الحوالة</a:t>
            </a:r>
            <a:r>
              <a:rPr lang="ar-SA" sz="2800" dirty="0">
                <a:latin typeface="Traditional Arabic" panose="02020603050405020304" pitchFamily="18" charset="-78"/>
                <a:cs typeface="Traditional Arabic" panose="02020603050405020304" pitchFamily="18" charset="-78"/>
              </a:rPr>
              <a:t>:</a:t>
            </a:r>
          </a:p>
          <a:p>
            <a:r>
              <a:rPr lang="ar-SA" sz="2800" dirty="0">
                <a:latin typeface="Traditional Arabic" panose="02020603050405020304" pitchFamily="18" charset="-78"/>
                <a:cs typeface="Traditional Arabic" panose="02020603050405020304" pitchFamily="18" charset="-78"/>
              </a:rPr>
              <a:t>تنتهي الحوالة بأداء الدين إلى المحال، أو بفسخها باتفاق المحيل والمحال، أو بإبراء المحال للمحال عليه.</a:t>
            </a:r>
          </a:p>
          <a:p>
            <a:pPr algn="just"/>
            <a:endParaRPr lang="ar-SA" sz="2400" b="1" dirty="0">
              <a:solidFill>
                <a:srgbClr val="FF0000"/>
              </a:solidFill>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768015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D388C-5DDD-4A9A-3939-DBD8C2B1C77C}"/>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5319848F-DA06-A23F-1FFF-75E670AF12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B13D1EED-0E71-AE22-F1BC-89E500446FBB}"/>
              </a:ext>
            </a:extLst>
          </p:cNvPr>
          <p:cNvSpPr/>
          <p:nvPr/>
        </p:nvSpPr>
        <p:spPr>
          <a:xfrm>
            <a:off x="0" y="-70338"/>
            <a:ext cx="12192000" cy="6928338"/>
          </a:xfrm>
          <a:prstGeom prst="roundRect">
            <a:avLst>
              <a:gd name="adj" fmla="val 3812"/>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endParaRPr lang="ar-SA" sz="2600" dirty="0">
              <a:solidFill>
                <a:schemeClr val="tx1"/>
              </a:solidFill>
              <a:latin typeface="Traditional Arabic" panose="02020603050405020304" pitchFamily="18" charset="-78"/>
              <a:cs typeface="Traditional Arabic" panose="02020603050405020304" pitchFamily="18" charset="-78"/>
            </a:endParaRPr>
          </a:p>
          <a:p>
            <a:pPr algn="just"/>
            <a:r>
              <a:rPr lang="ar-SA" sz="2600" dirty="0">
                <a:solidFill>
                  <a:schemeClr val="tx1"/>
                </a:solidFill>
                <a:latin typeface="Traditional Arabic" panose="02020603050405020304" pitchFamily="18" charset="-78"/>
                <a:cs typeface="Traditional Arabic" panose="02020603050405020304" pitchFamily="18" charset="-78"/>
              </a:rPr>
              <a:t>12</a:t>
            </a:r>
            <a:r>
              <a:rPr lang="ar-SA" sz="2800" dirty="0">
                <a:solidFill>
                  <a:schemeClr val="tx1"/>
                </a:solidFill>
                <a:latin typeface="Traditional Arabic" panose="02020603050405020304" pitchFamily="18" charset="-78"/>
                <a:cs typeface="Traditional Arabic" panose="02020603050405020304" pitchFamily="18" charset="-78"/>
              </a:rPr>
              <a:t>. </a:t>
            </a:r>
            <a:r>
              <a:rPr lang="ar-SA" sz="2800" b="1" dirty="0">
                <a:solidFill>
                  <a:srgbClr val="FF0000"/>
                </a:solidFill>
                <a:latin typeface="Traditional Arabic" panose="02020603050405020304" pitchFamily="18" charset="-78"/>
                <a:cs typeface="Traditional Arabic" panose="02020603050405020304" pitchFamily="18" charset="-78"/>
              </a:rPr>
              <a:t>التطبيقات المعاصرة للحوالة:</a:t>
            </a:r>
          </a:p>
          <a:p>
            <a:pPr algn="just"/>
            <a:r>
              <a:rPr lang="ar-SA" sz="2800" dirty="0">
                <a:solidFill>
                  <a:schemeClr val="tx1"/>
                </a:solidFill>
                <a:latin typeface="Traditional Arabic" panose="02020603050405020304" pitchFamily="18" charset="-78"/>
                <a:cs typeface="Traditional Arabic" panose="02020603050405020304" pitchFamily="18" charset="-78"/>
              </a:rPr>
              <a:t>١/١٢</a:t>
            </a:r>
            <a:r>
              <a:rPr lang="ar-SA" sz="2800" b="1" dirty="0">
                <a:solidFill>
                  <a:srgbClr val="FF0000"/>
                </a:solidFill>
                <a:latin typeface="Traditional Arabic" panose="02020603050405020304" pitchFamily="18" charset="-78"/>
                <a:cs typeface="Traditional Arabic" panose="02020603050405020304" pitchFamily="18" charset="-78"/>
              </a:rPr>
              <a:t> السحب على الحساب الجاري: </a:t>
            </a:r>
            <a:r>
              <a:rPr lang="ar-SA" sz="2800" dirty="0">
                <a:latin typeface="Traditional Arabic" panose="02020603050405020304" pitchFamily="18" charset="-78"/>
                <a:cs typeface="Traditional Arabic" panose="02020603050405020304" pitchFamily="18" charset="-78"/>
              </a:rPr>
              <a:t>يعتبر إصدار الشيك على الحساب الجاري حوالة إذا كان المستفيد دائنا بمبلغ الشيك للمصدر الساحب أو المحرر). فيكون الساحب هو المحيل، والبنك المسحوب عليه هو المحال عليه، والمستفيد هو المحال. وإذا لم يكن مصدر الشيك مدينا للمستفيد؛ فليس ذلك بحوالة؛ إذ لا يتصور حوالة دين لا وجود له ولكن يعتبر وكالة بالقبض، وهي جائزة شرعا.</a:t>
            </a:r>
          </a:p>
          <a:p>
            <a:pPr algn="just"/>
            <a:r>
              <a:rPr lang="ar-SA" sz="2800" dirty="0">
                <a:solidFill>
                  <a:schemeClr val="tx1"/>
                </a:solidFill>
                <a:latin typeface="Traditional Arabic" panose="02020603050405020304" pitchFamily="18" charset="-78"/>
                <a:cs typeface="Traditional Arabic" panose="02020603050405020304" pitchFamily="18" charset="-78"/>
              </a:rPr>
              <a:t>٢/١٢</a:t>
            </a:r>
            <a:r>
              <a:rPr lang="ar-SA" sz="2800" b="1" dirty="0">
                <a:solidFill>
                  <a:srgbClr val="FF0000"/>
                </a:solidFill>
                <a:latin typeface="Traditional Arabic" panose="02020603050405020304" pitchFamily="18" charset="-78"/>
                <a:cs typeface="Traditional Arabic" panose="02020603050405020304" pitchFamily="18" charset="-78"/>
              </a:rPr>
              <a:t> السحب على المكشوف: </a:t>
            </a:r>
            <a:r>
              <a:rPr lang="ar-SA" sz="2800" dirty="0">
                <a:latin typeface="Traditional Arabic" panose="02020603050405020304" pitchFamily="18" charset="-78"/>
                <a:cs typeface="Traditional Arabic" panose="02020603050405020304" pitchFamily="18" charset="-78"/>
              </a:rPr>
              <a:t>إذا كان المستفيد دائنا بمبلغ الشيك للمصدر فتحرير الشيكات على حساب للمصدر دون أن يكون له رصيد يعتبر حوالة مطلقة إذا قبل المصرف. أما إذا لم يقبل المصرف فلیست حوالة، ويحق لحامل الشيك الرجوع على مصدره.</a:t>
            </a:r>
          </a:p>
          <a:p>
            <a:pPr algn="just"/>
            <a:r>
              <a:rPr lang="ar-SA" sz="2800" dirty="0">
                <a:solidFill>
                  <a:schemeClr val="tx1"/>
                </a:solidFill>
                <a:latin typeface="Traditional Arabic" panose="02020603050405020304" pitchFamily="18" charset="-78"/>
                <a:cs typeface="Traditional Arabic" panose="02020603050405020304" pitchFamily="18" charset="-78"/>
              </a:rPr>
              <a:t>٣/١٢</a:t>
            </a:r>
            <a:r>
              <a:rPr lang="ar-SA" sz="2800" b="1" dirty="0">
                <a:solidFill>
                  <a:srgbClr val="FF0000"/>
                </a:solidFill>
                <a:latin typeface="Traditional Arabic" panose="02020603050405020304" pitchFamily="18" charset="-78"/>
                <a:cs typeface="Traditional Arabic" panose="02020603050405020304" pitchFamily="18" charset="-78"/>
              </a:rPr>
              <a:t> الشيكات السياحية: </a:t>
            </a:r>
            <a:r>
              <a:rPr lang="ar-SA" sz="2800" dirty="0">
                <a:latin typeface="Traditional Arabic" panose="02020603050405020304" pitchFamily="18" charset="-78"/>
                <a:cs typeface="Traditional Arabic" panose="02020603050405020304" pitchFamily="18" charset="-78"/>
              </a:rPr>
              <a:t>إن حامل الشيكات السياحية الذي وفى بقيمتها للمؤسسة المصدرة يعتبر دائنا لتلك المؤسسة، فإذا ظهرها حاملها لدائنه كان هذا التظهير حوالة للغير على هذه المؤسسة المصدرة المدينة، وهي حوالة مقيدة بما أداه حامل الشيكات السياحية من قيمتها للمؤسسة.</a:t>
            </a:r>
          </a:p>
          <a:p>
            <a:pPr algn="just"/>
            <a:r>
              <a:rPr lang="ar-SA" sz="2800" dirty="0">
                <a:latin typeface="Traditional Arabic" panose="02020603050405020304" pitchFamily="18" charset="-78"/>
                <a:cs typeface="Traditional Arabic" panose="02020603050405020304" pitchFamily="18" charset="-78"/>
              </a:rPr>
              <a:t> </a:t>
            </a:r>
            <a:r>
              <a:rPr lang="ar-SA" sz="2800" b="1" dirty="0">
                <a:latin typeface="Traditional Arabic" panose="02020603050405020304" pitchFamily="18" charset="-78"/>
                <a:cs typeface="Traditional Arabic" panose="02020603050405020304" pitchFamily="18" charset="-78"/>
              </a:rPr>
              <a:t>٤/١٢ </a:t>
            </a:r>
            <a:r>
              <a:rPr lang="ar-SA" sz="2800" b="1" dirty="0">
                <a:solidFill>
                  <a:srgbClr val="FF0000"/>
                </a:solidFill>
                <a:latin typeface="Traditional Arabic" panose="02020603050405020304" pitchFamily="18" charset="-78"/>
                <a:cs typeface="Traditional Arabic" panose="02020603050405020304" pitchFamily="18" charset="-78"/>
              </a:rPr>
              <a:t>الكمبيالة:</a:t>
            </a:r>
          </a:p>
          <a:p>
            <a:pPr algn="just"/>
            <a:r>
              <a:rPr lang="ar-SA" sz="2800" dirty="0">
                <a:latin typeface="Traditional Arabic" panose="02020603050405020304" pitchFamily="18" charset="-78"/>
                <a:cs typeface="Traditional Arabic" panose="02020603050405020304" pitchFamily="18" charset="-78"/>
              </a:rPr>
              <a:t>١/٤/١٢ تعتبر الكمبيالة من قبيل الحوالة إذا كان الشخص المستفيد الذي سحبت لأمره دائنا للساحب، ويكون الساحب هو المحيل الذي يصدر أمرًا للمسحوب عليه بدفع مبلغ معين من النقود في تاريخ معين للمستفيد المحدد. أما الجهة الملتزمة بدفع المبلغ المعين (المسحوب عليه) فهي المحال عليه، والمستفيد حامل الكمبيالة هو المحال، فإن لم يكن المستفيد دائنا للساحب كان إصدار الكمبيالة توكيلا من الساحب للشخص في قبض واستيفاء مبلغ الكمبيالة.</a:t>
            </a:r>
          </a:p>
          <a:p>
            <a:pPr algn="just"/>
            <a:r>
              <a:rPr lang="ar-SA" sz="2800" dirty="0">
                <a:latin typeface="Traditional Arabic" panose="02020603050405020304" pitchFamily="18" charset="-78"/>
                <a:cs typeface="Traditional Arabic" panose="02020603050405020304" pitchFamily="18" charset="-78"/>
              </a:rPr>
              <a:t>٢/٤/١٢ تعتبر الكمبيالة في حال عدم وجود مديونية بين الساحب والمسحوب عليه من قبيل الحوالة المطلقة.</a:t>
            </a:r>
          </a:p>
          <a:p>
            <a:pPr algn="just"/>
            <a:endParaRPr lang="ar-SA" sz="26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520337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FDE8-EAA5-29DB-A23F-0D321CD13602}"/>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1E95C208-7673-314A-BFC2-90953F8CAB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B1D779E1-8486-01A2-FE2A-CE0C8D3AEE9C}"/>
              </a:ext>
            </a:extLst>
          </p:cNvPr>
          <p:cNvSpPr/>
          <p:nvPr/>
        </p:nvSpPr>
        <p:spPr>
          <a:xfrm>
            <a:off x="0" y="174662"/>
            <a:ext cx="12192000" cy="6683338"/>
          </a:xfrm>
          <a:prstGeom prst="roundRect">
            <a:avLst>
              <a:gd name="adj" fmla="val 7586"/>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endParaRPr lang="ar-SA" sz="2600" dirty="0">
              <a:latin typeface="Traditional Arabic" panose="02020603050405020304" pitchFamily="18" charset="-78"/>
              <a:cs typeface="Traditional Arabic" panose="02020603050405020304" pitchFamily="18" charset="-78"/>
            </a:endParaRPr>
          </a:p>
          <a:p>
            <a:pPr algn="just"/>
            <a:r>
              <a:rPr lang="ar-SA" sz="2600" dirty="0">
                <a:latin typeface="Traditional Arabic" panose="02020603050405020304" pitchFamily="18" charset="-78"/>
                <a:cs typeface="Traditional Arabic" panose="02020603050405020304" pitchFamily="18" charset="-78"/>
              </a:rPr>
              <a:t>٥/١٢</a:t>
            </a:r>
            <a:r>
              <a:rPr lang="ar-SA" sz="2800" dirty="0">
                <a:latin typeface="Traditional Arabic" panose="02020603050405020304" pitchFamily="18" charset="-78"/>
                <a:cs typeface="Traditional Arabic" panose="02020603050405020304" pitchFamily="18" charset="-78"/>
              </a:rPr>
              <a:t> </a:t>
            </a:r>
            <a:r>
              <a:rPr lang="ar-SA" sz="2800" b="1" dirty="0">
                <a:solidFill>
                  <a:srgbClr val="FF0000"/>
                </a:solidFill>
                <a:latin typeface="Traditional Arabic" panose="02020603050405020304" pitchFamily="18" charset="-78"/>
                <a:cs typeface="Traditional Arabic" panose="02020603050405020304" pitchFamily="18" charset="-78"/>
              </a:rPr>
              <a:t>تظهير الأوراق التجارية</a:t>
            </a:r>
            <a:endParaRPr lang="ar-SA" sz="2800" dirty="0">
              <a:latin typeface="Traditional Arabic" panose="02020603050405020304" pitchFamily="18" charset="-78"/>
              <a:cs typeface="Traditional Arabic" panose="02020603050405020304" pitchFamily="18" charset="-78"/>
            </a:endParaRPr>
          </a:p>
          <a:p>
            <a:pPr algn="just"/>
            <a:r>
              <a:rPr lang="ar-SA" sz="2800" dirty="0">
                <a:latin typeface="Traditional Arabic" panose="02020603050405020304" pitchFamily="18" charset="-78"/>
                <a:cs typeface="Traditional Arabic" panose="02020603050405020304" pitchFamily="18" charset="-78"/>
              </a:rPr>
              <a:t>١/٥/١٢ يعتبر تظهير الأوراق التجارية تظهيرا تمليكيّا بنقل ملكية قيمتها من المظهر إلى المظهر إليه من قبيل الحوالة إذا كان المظهر إليه دائنا للمظهر. فإن لم يكن دائنا فالتظهير توكيل بالقبض.</a:t>
            </a:r>
          </a:p>
          <a:p>
            <a:pPr algn="just"/>
            <a:r>
              <a:rPr lang="ar-SA" sz="2800" dirty="0">
                <a:latin typeface="Traditional Arabic" panose="02020603050405020304" pitchFamily="18" charset="-78"/>
                <a:cs typeface="Traditional Arabic" panose="02020603050405020304" pitchFamily="18" charset="-78"/>
              </a:rPr>
              <a:t>٢/٥/١٢ لا يعتبر من قبيل الحوالة التظهير التوكيلي الذي يطلب العميل بموجبه من المؤسسة تحصيل قيمة الورقة التجارية لحسابه، بل هي وكالة جائزة شرعا سواء أكانت بأجر أم بغير أجر.</a:t>
            </a:r>
          </a:p>
          <a:p>
            <a:pPr algn="just"/>
            <a:r>
              <a:rPr lang="ar-SA" sz="2800" dirty="0">
                <a:latin typeface="Traditional Arabic" panose="02020603050405020304" pitchFamily="18" charset="-78"/>
                <a:cs typeface="Traditional Arabic" panose="02020603050405020304" pitchFamily="18" charset="-78"/>
              </a:rPr>
              <a:t>٣/٥/١٢ مع مراعاة ما ورد في البند (١٢ / ١/٥) يجوز قيام المستفيد الأول بتظهير الورقة التجارية لأي شخص آخر، وكذا تظهيرها من قبل المستفيد الجديد لغيره وهكذا، ويعد توالي التظهيرات من قبيل تتابع الحوالات ولا مانع منه شرعا.</a:t>
            </a:r>
          </a:p>
          <a:p>
            <a:pPr algn="just"/>
            <a:r>
              <a:rPr lang="ar-SA" sz="2800" dirty="0">
                <a:latin typeface="Traditional Arabic" panose="02020603050405020304" pitchFamily="18" charset="-78"/>
                <a:cs typeface="Traditional Arabic" panose="02020603050405020304" pitchFamily="18" charset="-78"/>
              </a:rPr>
              <a:t>٤/٥/١٢ لا يجوز حسم (خصم) الأوراق التجارية بقيام حاملها بنقل ملكية الحق الثابت فيها عن طريق التظهير إلى المؤسسة أو غيرها قبل تاريخ الاستحقاق مقابل حصول المظهر على قيمتها مخصوصا منها مبلغ معين؛ ويعتبر من صور الريا.</a:t>
            </a:r>
          </a:p>
          <a:p>
            <a:pPr algn="just"/>
            <a:r>
              <a:rPr kumimoji="0" lang="en-AE"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٦/١٢ </a:t>
            </a:r>
            <a:r>
              <a:rPr kumimoji="0" lang="ar-SA" sz="2800" b="1" i="0" u="none" strike="noStrike" kern="1200" cap="none" spc="0" normalizeH="0" baseline="0" noProof="0" dirty="0">
                <a:ln>
                  <a:noFill/>
                </a:ln>
                <a:solidFill>
                  <a:srgbClr val="FF0000"/>
                </a:solidFill>
                <a:effectLst/>
                <a:uLnTx/>
                <a:uFillTx/>
                <a:latin typeface="Traditional Arabic" panose="02020603050405020304" pitchFamily="18" charset="-78"/>
                <a:ea typeface="+mn-ea"/>
                <a:cs typeface="Traditional Arabic" panose="02020603050405020304" pitchFamily="18" charset="-78"/>
              </a:rPr>
              <a:t>التحويلات المصرفية</a:t>
            </a:r>
            <a:endPar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endParaRPr>
          </a:p>
          <a:p>
            <a:pPr algn="just"/>
            <a:r>
              <a:rPr kumimoji="0" lang="ar-SA" sz="2800" b="0" i="0" u="none" strike="noStrike" kern="1200" cap="none" spc="0" normalizeH="0" baseline="0" noProof="0" dirty="0">
                <a:ln>
                  <a:noFill/>
                </a:ln>
                <a:solidFill>
                  <a:prstClr val="black"/>
                </a:solidFill>
                <a:effectLst/>
                <a:uLnTx/>
                <a:uFillTx/>
                <a:latin typeface="Traditional Arabic" panose="02020603050405020304" pitchFamily="18" charset="-78"/>
                <a:ea typeface="+mn-ea"/>
                <a:cs typeface="Traditional Arabic" panose="02020603050405020304" pitchFamily="18" charset="-78"/>
              </a:rPr>
              <a:t>إن طلب العميل من المؤسسة المصرف الأمر) تحويل مبلغ معين من حسابه الجاري لديها لتحوله بنفس العملة إلى مستفيد معين هو (حوالة) إذا كان العميل مدينا للمستفيد، والأجر الذي تأخذه المؤسسة في هذه الحالة هو مقابل إيصال المبلغ إلى المحال، وليس زيادة في الدين المحال، فإن لم يكن بنفس العملة فقد اجتمع الصرف والحوالة وهو جائز . ينظر البند (۱۱/۲) من المعيار الشرعي رقم (1) بشأن المتاجرة في العملات.</a:t>
            </a:r>
          </a:p>
          <a:p>
            <a:pPr algn="just"/>
            <a:endParaRPr lang="ar-SA" sz="28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908874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B610F-E00D-6DE6-D62E-DF9721AD724C}"/>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8469AE0B-5773-52AC-43D5-842DB36A53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547FBC14-2B9D-FD40-6DF1-C4C4BB26160D}"/>
              </a:ext>
            </a:extLst>
          </p:cNvPr>
          <p:cNvSpPr/>
          <p:nvPr/>
        </p:nvSpPr>
        <p:spPr>
          <a:xfrm>
            <a:off x="0" y="174662"/>
            <a:ext cx="12192000" cy="6683338"/>
          </a:xfrm>
          <a:prstGeom prst="roundRect">
            <a:avLst>
              <a:gd name="adj" fmla="val 1653"/>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marL="0" marR="0" lvl="0" indent="0" algn="just" defTabSz="914400" rtl="1" eaLnBrk="1" fontAlgn="auto" latinLnBrk="0" hangingPunct="1">
              <a:lnSpc>
                <a:spcPct val="100000"/>
              </a:lnSpc>
              <a:spcBef>
                <a:spcPts val="0"/>
              </a:spcBef>
              <a:spcAft>
                <a:spcPts val="0"/>
              </a:spcAft>
              <a:buClrTx/>
              <a:buSzTx/>
              <a:buFontTx/>
              <a:buNone/>
              <a:tabLst/>
              <a:defRPr/>
            </a:pPr>
            <a:endParaRPr lang="ar-SA" sz="24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2957334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1C28B-1B76-4A24-78B0-4513BE974643}"/>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472D5005-31BD-8F18-3E6A-4619BE066E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3587262C-4338-B506-C814-BE2E53A5B59D}"/>
              </a:ext>
            </a:extLst>
          </p:cNvPr>
          <p:cNvSpPr/>
          <p:nvPr/>
        </p:nvSpPr>
        <p:spPr>
          <a:xfrm>
            <a:off x="0" y="0"/>
            <a:ext cx="12192000" cy="6858000"/>
          </a:xfrm>
          <a:prstGeom prst="roundRect">
            <a:avLst>
              <a:gd name="adj" fmla="val 1430"/>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endParaRPr lang="ar-SA" sz="2600" dirty="0">
              <a:solidFill>
                <a:schemeClr val="tx1"/>
              </a:solidFill>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3286202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529C1-6AE0-59D6-E18E-3E03A5184322}"/>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6C514D3F-E7F3-DF06-498D-B894FC491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B4848DFF-D351-BA6E-EDDB-585FB5A7313A}"/>
              </a:ext>
            </a:extLst>
          </p:cNvPr>
          <p:cNvSpPr/>
          <p:nvPr/>
        </p:nvSpPr>
        <p:spPr>
          <a:xfrm>
            <a:off x="0" y="0"/>
            <a:ext cx="12192000" cy="6858000"/>
          </a:xfrm>
          <a:prstGeom prst="roundRect">
            <a:avLst>
              <a:gd name="adj" fmla="val 3982"/>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endParaRPr lang="ar-SA" sz="2600"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321375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D1955-8F5C-A0F5-BBA0-6119B3A1074B}"/>
            </a:ext>
          </a:extLst>
        </p:cNvPr>
        <p:cNvGrpSpPr/>
        <p:nvPr/>
      </p:nvGrpSpPr>
      <p:grpSpPr>
        <a:xfrm>
          <a:off x="0" y="0"/>
          <a:ext cx="0" cy="0"/>
          <a:chOff x="0" y="0"/>
          <a:chExt cx="0" cy="0"/>
        </a:xfrm>
      </p:grpSpPr>
      <p:pic>
        <p:nvPicPr>
          <p:cNvPr id="5" name="Picture 4" descr="A white surface with scratches&#10;&#10;Description automatically generated">
            <a:extLst>
              <a:ext uri="{FF2B5EF4-FFF2-40B4-BE49-F238E27FC236}">
                <a16:creationId xmlns:a16="http://schemas.microsoft.com/office/drawing/2014/main" id="{1C4DFD0F-08F0-9CB6-91BD-EE5C16B2A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مستطيل: زوايا مستديرة 1">
            <a:extLst>
              <a:ext uri="{FF2B5EF4-FFF2-40B4-BE49-F238E27FC236}">
                <a16:creationId xmlns:a16="http://schemas.microsoft.com/office/drawing/2014/main" id="{C41AD2D1-54C3-6CD3-3FE7-597B5D19D9B2}"/>
              </a:ext>
            </a:extLst>
          </p:cNvPr>
          <p:cNvSpPr/>
          <p:nvPr/>
        </p:nvSpPr>
        <p:spPr>
          <a:xfrm>
            <a:off x="0" y="0"/>
            <a:ext cx="12192000" cy="6858000"/>
          </a:xfrm>
          <a:prstGeom prst="roundRect">
            <a:avLst>
              <a:gd name="adj" fmla="val 4051"/>
            </a:avLst>
          </a:prstGeom>
          <a:solidFill>
            <a:schemeClr val="tx2">
              <a:lumMod val="10000"/>
              <a:lumOff val="90000"/>
            </a:schemeClr>
          </a:solidFill>
          <a:ln w="38100">
            <a:solidFill>
              <a:schemeClr val="accent4"/>
            </a:solidFill>
          </a:ln>
        </p:spPr>
        <p:style>
          <a:lnRef idx="2">
            <a:schemeClr val="accent5"/>
          </a:lnRef>
          <a:fillRef idx="1">
            <a:schemeClr val="lt1"/>
          </a:fillRef>
          <a:effectRef idx="0">
            <a:schemeClr val="accent5"/>
          </a:effectRef>
          <a:fontRef idx="minor">
            <a:schemeClr val="dk1"/>
          </a:fontRef>
        </p:style>
        <p:txBody>
          <a:bodyPr rtlCol="1" anchor="ctr"/>
          <a:lstStyle/>
          <a:p>
            <a:pPr algn="just"/>
            <a:endParaRPr lang="ar-SA" sz="2600" b="1" dirty="0">
              <a:latin typeface="Traditional Arabic" panose="02020603050405020304" pitchFamily="18" charset="-78"/>
              <a:cs typeface="Traditional Arabic" panose="02020603050405020304" pitchFamily="18" charset="-78"/>
            </a:endParaRPr>
          </a:p>
        </p:txBody>
      </p:sp>
    </p:spTree>
    <p:extLst>
      <p:ext uri="{BB962C8B-B14F-4D97-AF65-F5344CB8AC3E}">
        <p14:creationId xmlns:p14="http://schemas.microsoft.com/office/powerpoint/2010/main" val="155934007"/>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الميثاق</Template>
  <TotalTime>341</TotalTime>
  <Words>2342</Words>
  <Application>Microsoft Office PowerPoint</Application>
  <PresentationFormat>شاشة عريضة</PresentationFormat>
  <Paragraphs>100</Paragraphs>
  <Slides>14</Slides>
  <Notes>1</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14</vt:i4>
      </vt:variant>
    </vt:vector>
  </HeadingPairs>
  <TitlesOfParts>
    <vt:vector size="20" baseType="lpstr">
      <vt:lpstr>Aptos</vt:lpstr>
      <vt:lpstr>Aptos Display</vt:lpstr>
      <vt:lpstr>Arial</vt:lpstr>
      <vt:lpstr>Calibri</vt:lpstr>
      <vt:lpstr>Traditional Arabic</vt:lpstr>
      <vt:lpstr>نسق Office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Abdulazız HABLAS</dc:creator>
  <cp:lastModifiedBy>Abdulazız HABLAS</cp:lastModifiedBy>
  <cp:revision>9</cp:revision>
  <dcterms:created xsi:type="dcterms:W3CDTF">2026-09-27T18:25:21Z</dcterms:created>
  <dcterms:modified xsi:type="dcterms:W3CDTF">2026-09-28T18:02:45Z</dcterms:modified>
</cp:coreProperties>
</file>